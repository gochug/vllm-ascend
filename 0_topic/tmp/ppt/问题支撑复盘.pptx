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6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7.xml" ContentType="application/vnd.openxmlformats-officedocument.theme+xml"/>
  <Override PartName="/ppt/tags/tag1.xml" ContentType="application/vnd.openxmlformats-officedocument.presentationml.tags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8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9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0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11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12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13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14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15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16.xml" ContentType="application/vnd.openxmlformats-officedocument.theme+xml"/>
  <Override PartName="/ppt/tags/tag2.xml" ContentType="application/vnd.openxmlformats-officedocument.presentationml.tags+xml"/>
  <Override PartName="/ppt/slideLayouts/slideLayout57.xml" ContentType="application/vnd.openxmlformats-officedocument.presentationml.slideLayout+xml"/>
  <Override PartName="/ppt/theme/theme17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2"/>
    <p:sldMasterId id="2147483654" r:id="rId3"/>
    <p:sldMasterId id="2147483658" r:id="rId4"/>
    <p:sldMasterId id="2147483660" r:id="rId5"/>
    <p:sldMasterId id="2147483661" r:id="rId6"/>
    <p:sldMasterId id="2147483666" r:id="rId7"/>
    <p:sldMasterId id="2147483672" r:id="rId8"/>
    <p:sldMasterId id="2147483677" r:id="rId9"/>
    <p:sldMasterId id="2147483682" r:id="rId10"/>
    <p:sldMasterId id="2147483686" r:id="rId11"/>
    <p:sldMasterId id="2147483693" r:id="rId12"/>
    <p:sldMasterId id="2147483698" r:id="rId13"/>
    <p:sldMasterId id="2147483708" r:id="rId14"/>
    <p:sldMasterId id="2147483711" r:id="rId15"/>
    <p:sldMasterId id="2147483717" r:id="rId16"/>
    <p:sldMasterId id="2147483724" r:id="rId17"/>
    <p:sldMasterId id="2147483733" r:id="rId18"/>
  </p:sldMasterIdLst>
  <p:notesMasterIdLst>
    <p:notesMasterId r:id="rId23"/>
  </p:notesMasterIdLst>
  <p:handoutMasterIdLst>
    <p:handoutMasterId r:id="rId24"/>
  </p:handoutMasterIdLst>
  <p:sldIdLst>
    <p:sldId id="260" r:id="rId19"/>
    <p:sldId id="16777151" r:id="rId20"/>
    <p:sldId id="256" r:id="rId21"/>
    <p:sldId id="257" r:id="rId22"/>
  </p:sldIdLst>
  <p:sldSz cx="12196763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260"/>
            <p14:sldId id="16777151"/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9002F"/>
    <a:srgbClr val="0000FF"/>
    <a:srgbClr val="ED6D00"/>
    <a:srgbClr val="FFC000"/>
    <a:srgbClr val="00B0F0"/>
    <a:srgbClr val="6EB7FF"/>
    <a:srgbClr val="CC78FF"/>
    <a:srgbClr val="000000"/>
    <a:srgbClr val="59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03" autoAdjust="0"/>
    <p:restoredTop sz="92399" autoAdjust="0"/>
  </p:normalViewPr>
  <p:slideViewPr>
    <p:cSldViewPr snapToGrid="0" snapToObjects="1">
      <p:cViewPr varScale="1">
        <p:scale>
          <a:sx n="75" d="100"/>
          <a:sy n="75" d="100"/>
        </p:scale>
        <p:origin x="178" y="4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3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4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赵亮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551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080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8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8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8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5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5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>
            <a:fillRect/>
          </a:stretch>
        </p:blipFill>
        <p:spPr>
          <a:xfrm>
            <a:off x="0" y="0"/>
            <a:ext cx="12206140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>
            <a:fillRect/>
          </a:stretch>
        </p:blipFill>
        <p:spPr>
          <a:xfrm>
            <a:off x="0" y="375"/>
            <a:ext cx="12197432" cy="5599236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412816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L 形 17"/>
          <p:cNvSpPr/>
          <p:nvPr userDrawn="1"/>
        </p:nvSpPr>
        <p:spPr>
          <a:xfrm rot="5400000">
            <a:off x="5369529" y="2370740"/>
            <a:ext cx="744262" cy="762208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创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>
            <a:fillRect/>
          </a:stretch>
        </p:blipFill>
        <p:spPr>
          <a:xfrm>
            <a:off x="0" y="374"/>
            <a:ext cx="12197432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>
            <a:fillRect/>
          </a:stretch>
        </p:blipFill>
        <p:spPr>
          <a:xfrm>
            <a:off x="0" y="-74021"/>
            <a:ext cx="12197432" cy="56687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3518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>
            <a:fillRect/>
          </a:stretch>
        </p:blipFill>
        <p:spPr>
          <a:xfrm>
            <a:off x="0" y="0"/>
            <a:ext cx="12206140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>
            <a:fillRect/>
          </a:stretch>
        </p:blipFill>
        <p:spPr>
          <a:xfrm>
            <a:off x="0" y="375"/>
            <a:ext cx="12197432" cy="5599236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412816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L 形 17"/>
          <p:cNvSpPr/>
          <p:nvPr userDrawn="1"/>
        </p:nvSpPr>
        <p:spPr>
          <a:xfrm rot="5400000">
            <a:off x="5369529" y="2370740"/>
            <a:ext cx="744262" cy="762208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创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>
            <a:fillRect/>
          </a:stretch>
        </p:blipFill>
        <p:spPr>
          <a:xfrm>
            <a:off x="0" y="374"/>
            <a:ext cx="12197432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>
            <a:fillRect/>
          </a:stretch>
        </p:blipFill>
        <p:spPr>
          <a:xfrm>
            <a:off x="0" y="-74021"/>
            <a:ext cx="12197432" cy="56687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章节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6"/>
          <p:cNvGrpSpPr>
            <a:grpSpLocks noChangeAspect="1"/>
          </p:cNvGrpSpPr>
          <p:nvPr userDrawn="1"/>
        </p:nvGrpSpPr>
        <p:grpSpPr>
          <a:xfrm>
            <a:off x="12295786" y="2625399"/>
            <a:ext cx="1963324" cy="4233515"/>
            <a:chOff x="5343883" y="-48857"/>
            <a:chExt cx="3263588" cy="7037279"/>
          </a:xfrm>
        </p:grpSpPr>
        <p:sp>
          <p:nvSpPr>
            <p:cNvPr id="7" name="矩形 13"/>
            <p:cNvSpPr/>
            <p:nvPr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8" name="文本框 15"/>
            <p:cNvSpPr txBox="1"/>
            <p:nvPr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marL="0" marR="0" lvl="0" indent="0" algn="l" defTabSz="9124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Arial" panose="020B0604020202020204" pitchFamily="34" charset="0"/>
                </a:rPr>
                <a:t>公司辅助色</a:t>
              </a:r>
              <a:endPara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B1B18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9" name="矩形 13"/>
            <p:cNvSpPr/>
            <p:nvPr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10" name="矩形 13"/>
            <p:cNvSpPr/>
            <p:nvPr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11" name="矩形 13"/>
            <p:cNvSpPr/>
            <p:nvPr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12" name="矩形 13"/>
            <p:cNvSpPr/>
            <p:nvPr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13" name="矩形 13"/>
            <p:cNvSpPr/>
            <p:nvPr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15" name="文本框 15"/>
            <p:cNvSpPr txBox="1"/>
            <p:nvPr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marL="0" marR="0" lvl="0" indent="0" algn="l" defTabSz="9124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Arial" panose="020B0604020202020204" pitchFamily="34" charset="0"/>
                </a:rPr>
                <a:t>公司色</a:t>
              </a:r>
              <a:endPara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B1B18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6" name="矩形 13"/>
            <p:cNvSpPr/>
            <p:nvPr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17" name="矩形 13"/>
            <p:cNvSpPr/>
            <p:nvPr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8" name="矩形 13"/>
            <p:cNvSpPr/>
            <p:nvPr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9" name="矩形 13"/>
            <p:cNvSpPr/>
            <p:nvPr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20" name="矩形 13"/>
            <p:cNvSpPr/>
            <p:nvPr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21" name="矩形 13"/>
            <p:cNvSpPr/>
            <p:nvPr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22" name="矩形 13"/>
            <p:cNvSpPr/>
            <p:nvPr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23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24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25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26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27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28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29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30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31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32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33" name="矩形 13"/>
            <p:cNvSpPr/>
            <p:nvPr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34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35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36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37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38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190/23/238</a:t>
              </a:r>
            </a:p>
          </p:txBody>
        </p:sp>
        <p:sp>
          <p:nvSpPr>
            <p:cNvPr id="39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40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41" name="矩形 13"/>
            <p:cNvSpPr/>
            <p:nvPr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35/24/21</a:t>
              </a:r>
            </a:p>
          </p:txBody>
        </p:sp>
        <p:sp>
          <p:nvSpPr>
            <p:cNvPr id="42" name="矩形 13"/>
            <p:cNvSpPr/>
            <p:nvPr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43" name="矩形 13"/>
            <p:cNvSpPr/>
            <p:nvPr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44" name="矩形 13"/>
            <p:cNvSpPr/>
            <p:nvPr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45" name="矩形 13"/>
            <p:cNvSpPr/>
            <p:nvPr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46" name="矩形 13"/>
            <p:cNvSpPr/>
            <p:nvPr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6815" indent="0" algn="ctr">
              <a:buNone/>
              <a:defRPr sz="2335"/>
            </a:lvl3pPr>
            <a:lvl4pPr marL="1780540" indent="0" algn="ctr">
              <a:buNone/>
              <a:defRPr sz="2075"/>
            </a:lvl4pPr>
            <a:lvl5pPr marL="2373630" indent="0" algn="ctr">
              <a:buNone/>
              <a:defRPr sz="2075"/>
            </a:lvl5pPr>
            <a:lvl6pPr marL="2967355" indent="0" algn="ctr">
              <a:buNone/>
              <a:defRPr sz="2075"/>
            </a:lvl6pPr>
            <a:lvl7pPr marL="3560445" indent="0" algn="ctr">
              <a:buNone/>
              <a:defRPr sz="2075"/>
            </a:lvl7pPr>
            <a:lvl8pPr marL="4154170" indent="0" algn="ctr">
              <a:buNone/>
              <a:defRPr sz="2075"/>
            </a:lvl8pPr>
            <a:lvl9pPr marL="4747260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6023" y="151287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070" marR="0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930" marR="0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500" algn="ctr"/>
              </a:tabLst>
              <a:defRPr sz="16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7915" marR="0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6500" algn="ctr"/>
              </a:tabLst>
              <a:defRPr sz="1295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145" indent="-170815">
              <a:buFont typeface="Arial" panose="020B0604020202020204" pitchFamily="34" charset="0"/>
              <a:buChar char="•"/>
              <a:tabLst>
                <a:tab pos="1207135" algn="ctr"/>
              </a:tabLst>
              <a:defRPr sz="1295" baseline="0"/>
            </a:lvl4pPr>
            <a:lvl5pPr marL="525145" indent="-170815">
              <a:buFont typeface="Arial" panose="020B0604020202020204" pitchFamily="34" charset="0"/>
              <a:buChar char="•"/>
              <a:tabLst>
                <a:tab pos="1207135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915" marR="0" lvl="2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915" marR="0" lvl="2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>
            <a:fillRect/>
          </a:stretch>
        </p:blipFill>
        <p:spPr>
          <a:xfrm>
            <a:off x="0" y="0"/>
            <a:ext cx="12206140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>
            <a:fillRect/>
          </a:stretch>
        </p:blipFill>
        <p:spPr>
          <a:xfrm>
            <a:off x="0" y="375"/>
            <a:ext cx="12197432" cy="5599236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412816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L 形 17"/>
          <p:cNvSpPr/>
          <p:nvPr userDrawn="1"/>
        </p:nvSpPr>
        <p:spPr>
          <a:xfrm rot="5400000">
            <a:off x="5369529" y="2370740"/>
            <a:ext cx="744262" cy="762208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创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>
            <a:fillRect/>
          </a:stretch>
        </p:blipFill>
        <p:spPr>
          <a:xfrm>
            <a:off x="0" y="374"/>
            <a:ext cx="12197432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>
            <a:fillRect/>
          </a:stretch>
        </p:blipFill>
        <p:spPr>
          <a:xfrm>
            <a:off x="0" y="-74021"/>
            <a:ext cx="12197432" cy="56687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5488E-9244-48A2-AD96-A03286D465D6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A3BDB-77D7-4840-89A0-6CCE739BC6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33621" y="1843095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1480" indent="-396875">
              <a:lnSpc>
                <a:spcPct val="70000"/>
              </a:lnSpc>
              <a:buFont typeface="+mj-lt"/>
              <a:buAutoNum type="arabicPeriod"/>
              <a:defRPr sz="219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11480" indent="-396875">
              <a:buFont typeface="+mj-lt"/>
              <a:buAutoNum type="arabicPeriod"/>
              <a:defRPr/>
            </a:lvl2pPr>
            <a:lvl3pPr marL="13970" indent="0">
              <a:buFont typeface="+mj-lt"/>
              <a:buNone/>
              <a:defRPr sz="219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970" indent="0">
              <a:buFont typeface="+mj-lt"/>
              <a:buNone/>
              <a:defRPr sz="219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970" indent="0">
              <a:buFont typeface="+mj-lt"/>
              <a:buNone/>
              <a:defRPr sz="219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/>
          <p:cNvCxnSpPr/>
          <p:nvPr userDrawn="1"/>
        </p:nvCxnSpPr>
        <p:spPr>
          <a:xfrm flipH="1">
            <a:off x="1029919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/>
          <p:cNvSpPr txBox="1"/>
          <p:nvPr userDrawn="1"/>
        </p:nvSpPr>
        <p:spPr>
          <a:xfrm>
            <a:off x="918919" y="630376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1225" fontAlgn="auto"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kumimoji="1" lang="zh-CN" altLang="en-US" sz="3585" b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1154" y="211577"/>
            <a:ext cx="10977404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07927" y="325441"/>
            <a:ext cx="10180910" cy="871537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07927" y="1628780"/>
            <a:ext cx="10180910" cy="4194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" y="0"/>
            <a:ext cx="12194168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hinese text p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0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635" y="0"/>
            <a:ext cx="12196445" cy="685736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>
                <a:solidFill>
                  <a:schemeClr val="tx1"/>
                </a:solidFill>
              </a:rPr>
              <a:t>Thank you.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7450" indent="0" algn="ctr">
              <a:buNone/>
              <a:defRPr sz="2335"/>
            </a:lvl3pPr>
            <a:lvl4pPr marL="1781175" indent="0" algn="ctr">
              <a:buNone/>
              <a:defRPr sz="2080"/>
            </a:lvl4pPr>
            <a:lvl5pPr marL="2374900" indent="0" algn="ctr">
              <a:buNone/>
              <a:defRPr sz="2080"/>
            </a:lvl5pPr>
            <a:lvl6pPr marL="2968625" indent="0" algn="ctr">
              <a:buNone/>
              <a:defRPr sz="2080"/>
            </a:lvl6pPr>
            <a:lvl7pPr marL="3561715" indent="0" algn="ctr">
              <a:buNone/>
              <a:defRPr sz="2080"/>
            </a:lvl7pPr>
            <a:lvl8pPr marL="4155440" indent="0" algn="ctr">
              <a:buNone/>
              <a:defRPr sz="2080"/>
            </a:lvl8pPr>
            <a:lvl9pPr marL="4749165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6022" y="1512877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070" marR="0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930" marR="0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135" algn="ctr"/>
              </a:tabLst>
              <a:defRPr sz="16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7915" marR="0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135" algn="ctr"/>
              </a:tabLst>
              <a:defRPr sz="13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780" indent="-170815">
              <a:buFont typeface="Arial" panose="020B0604020202020204" pitchFamily="34" charset="0"/>
              <a:buChar char="•"/>
              <a:tabLst>
                <a:tab pos="1207770" algn="ctr"/>
              </a:tabLst>
              <a:defRPr sz="1300" baseline="0"/>
            </a:lvl4pPr>
            <a:lvl5pPr marL="525780" indent="-170815">
              <a:buFont typeface="Arial" panose="020B0604020202020204" pitchFamily="34" charset="0"/>
              <a:buChar char="•"/>
              <a:tabLst>
                <a:tab pos="1207770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915" marR="0" lvl="2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915" marR="0" lvl="2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6815" indent="0" algn="ctr">
              <a:buNone/>
              <a:defRPr sz="2340"/>
            </a:lvl3pPr>
            <a:lvl4pPr marL="1780540" indent="0" algn="ctr">
              <a:buNone/>
              <a:defRPr sz="2080"/>
            </a:lvl4pPr>
            <a:lvl5pPr marL="2374265" indent="0" algn="ctr">
              <a:buNone/>
              <a:defRPr sz="2080"/>
            </a:lvl5pPr>
            <a:lvl6pPr marL="2966720" indent="0" algn="ctr">
              <a:buNone/>
              <a:defRPr sz="2080"/>
            </a:lvl6pPr>
            <a:lvl7pPr marL="3561080" indent="0" algn="ctr">
              <a:buNone/>
              <a:defRPr sz="2080"/>
            </a:lvl7pPr>
            <a:lvl8pPr marL="4153535" indent="0" algn="ctr">
              <a:buNone/>
              <a:defRPr sz="2080"/>
            </a:lvl8pPr>
            <a:lvl9pPr marL="474726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10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713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713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713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713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713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D29F4-75FA-4227-9058-2B302F2FC1CA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F581A-2308-4935-9EE6-4777780C92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2100" y="360000"/>
            <a:ext cx="11831495" cy="360000"/>
          </a:xfrm>
        </p:spPr>
        <p:txBody>
          <a:bodyPr lIns="0" tIns="0" rIns="0" bIns="0" anchor="ctr"/>
          <a:lstStyle>
            <a:lvl1pPr algn="l">
              <a:lnSpc>
                <a:spcPct val="100000"/>
              </a:lnSpc>
              <a:defRPr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07487" y="1402066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探索">
    <p:bg>
      <p:bgPr>
        <a:blipFill dpi="0" rotWithShape="1">
          <a:blip r:embed="rId2" cstate="screen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7" y="907094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2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1" descr="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" y="785631"/>
            <a:ext cx="12195175" cy="3809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870063" y="6208862"/>
            <a:ext cx="2232305" cy="263405"/>
          </a:xfrm>
          <a:prstGeom prst="rect">
            <a:avLst/>
          </a:prstGeom>
          <a:noFill/>
          <a:ln>
            <a:noFill/>
          </a:ln>
        </p:spPr>
        <p:txBody>
          <a:bodyPr wrap="none" lIns="78020" tIns="39010" rIns="78020" bIns="39010">
            <a:spAutoFit/>
          </a:bodyPr>
          <a:lstStyle>
            <a:lvl1pPr defTabSz="7810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defTabSz="7810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defTabSz="7810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defTabSz="7810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defTabSz="7810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276475" indent="1905" defTabSz="781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733675" indent="1905" defTabSz="781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190875" indent="1905" defTabSz="781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648075" indent="1905" defTabSz="781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en-US" altLang="zh-CN" sz="1200">
                <a:latin typeface="FrutigerNext LT Bold" panose="020B0803040504020204" pitchFamily="34" charset="0"/>
                <a:ea typeface="MS PGothic" panose="020B0600070205080204" pitchFamily="34" charset="-128"/>
              </a:rPr>
              <a:t>HUAWEI TECHNOLOGIES Co., Ltd.</a:t>
            </a:r>
            <a:endParaRPr lang="en-US" altLang="zh-CN" sz="2200">
              <a:ea typeface="MS PGothic" panose="020B0600070205080204" pitchFamily="34" charset="-128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9327777" y="4055125"/>
            <a:ext cx="2533980" cy="326949"/>
          </a:xfrm>
          <a:prstGeom prst="rect">
            <a:avLst/>
          </a:prstGeom>
          <a:noFill/>
          <a:ln>
            <a:noFill/>
          </a:ln>
        </p:spPr>
        <p:txBody>
          <a:bodyPr lIns="91070" tIns="45535" rIns="91070" bIns="45535"/>
          <a:lstStyle>
            <a:lvl1pPr defTabSz="81788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defTabSz="81788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defTabSz="81788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defTabSz="81788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defTabSz="81788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276475" indent="1905" defTabSz="8178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733675" indent="1905" defTabSz="8178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190875" indent="1905" defTabSz="8178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648075" indent="1905" defTabSz="8178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600"/>
              <a:t>www.huawei.com</a:t>
            </a:r>
          </a:p>
        </p:txBody>
      </p:sp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5604605" y="6208862"/>
            <a:ext cx="1510219" cy="263405"/>
          </a:xfrm>
          <a:prstGeom prst="rect">
            <a:avLst/>
          </a:prstGeom>
          <a:noFill/>
          <a:ln>
            <a:noFill/>
          </a:ln>
        </p:spPr>
        <p:txBody>
          <a:bodyPr wrap="none" lIns="78020" tIns="39010" rIns="78020" bIns="39010">
            <a:spAutoFit/>
          </a:bodyPr>
          <a:lstStyle>
            <a:lvl1pPr defTabSz="7810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defTabSz="7810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defTabSz="7810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defTabSz="7810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defTabSz="7810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276475" indent="1905" defTabSz="781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733675" indent="1905" defTabSz="781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190875" indent="1905" defTabSz="781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648075" indent="1905" defTabSz="781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en-US" altLang="zh-CN" sz="1200">
                <a:latin typeface="FrutigerNext LT Bold" panose="020B0803040504020204" pitchFamily="34" charset="0"/>
                <a:ea typeface="MS PGothic" panose="020B0600070205080204" pitchFamily="34" charset="-128"/>
              </a:rPr>
              <a:t>HUAWEI Confidential </a:t>
            </a:r>
          </a:p>
        </p:txBody>
      </p:sp>
      <p:sp>
        <p:nvSpPr>
          <p:cNvPr id="7" name="Rectangle 15"/>
          <p:cNvSpPr>
            <a:spLocks noChangeArrowheads="1"/>
          </p:cNvSpPr>
          <p:nvPr/>
        </p:nvSpPr>
        <p:spPr bwMode="auto">
          <a:xfrm>
            <a:off x="8562503" y="328537"/>
            <a:ext cx="3111905" cy="309490"/>
          </a:xfrm>
          <a:prstGeom prst="rect">
            <a:avLst/>
          </a:prstGeom>
          <a:noFill/>
          <a:ln>
            <a:noFill/>
          </a:ln>
        </p:spPr>
        <p:txBody>
          <a:bodyPr lIns="78020" tIns="39010" rIns="78020" bIns="39010">
            <a:spAutoFit/>
          </a:bodyPr>
          <a:lstStyle>
            <a:lvl1pPr defTabSz="7810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defTabSz="7810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defTabSz="7810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defTabSz="7810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defTabSz="7810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276475" indent="1905" defTabSz="781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733675" indent="1905" defTabSz="781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190875" indent="1905" defTabSz="781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648075" indent="1905" defTabSz="781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en-US" altLang="zh-CN" sz="1500">
                <a:solidFill>
                  <a:srgbClr val="666666"/>
                </a:solidFill>
                <a:latin typeface="FrutigerNext LT Regular" panose="020B0503040504020204" pitchFamily="34" charset="0"/>
                <a:ea typeface="MS PGothic" panose="020B0600070205080204" pitchFamily="34" charset="-128"/>
              </a:rPr>
              <a:t>Security Level: </a:t>
            </a:r>
          </a:p>
        </p:txBody>
      </p:sp>
      <p:pic>
        <p:nvPicPr>
          <p:cNvPr id="8" name="图片 1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5638" y="5418470"/>
            <a:ext cx="1052650" cy="1053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40" name="Rectangle 8"/>
          <p:cNvSpPr>
            <a:spLocks noGrp="1" noChangeArrowheads="1"/>
          </p:cNvSpPr>
          <p:nvPr>
            <p:ph type="ctrTitle" sz="quarter"/>
          </p:nvPr>
        </p:nvSpPr>
        <p:spPr>
          <a:xfrm>
            <a:off x="914764" y="2195520"/>
            <a:ext cx="7322292" cy="1158875"/>
          </a:xfrm>
          <a:prstGeom prst="rect">
            <a:avLst/>
          </a:prstGeom>
        </p:spPr>
        <p:txBody>
          <a:bodyPr lIns="78086" tIns="39042" rIns="78086" bIns="39042"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1856" y="44440"/>
            <a:ext cx="10756714" cy="782457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7119" y="1052269"/>
            <a:ext cx="10756714" cy="452491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4658332" y="6256477"/>
            <a:ext cx="1628987" cy="60152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zh-CN"/>
          </a:p>
          <a:p>
            <a:pPr>
              <a:defRPr/>
            </a:pPr>
            <a:r>
              <a:rPr lang="de-DE" altLang="zh-CN"/>
              <a:t>Page </a:t>
            </a:r>
            <a:fld id="{0B0105D5-78A0-497E-9252-4C05897F765A}" type="slidenum">
              <a:rPr lang="de-DE" altLang="zh-CN"/>
              <a:t>‹#›</a:t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0058" y="44452"/>
            <a:ext cx="10756868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0063" y="1600205"/>
            <a:ext cx="5276794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310136" y="1600220"/>
            <a:ext cx="5276794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310136" y="3938604"/>
            <a:ext cx="5276794" cy="218757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4658332" y="6256477"/>
            <a:ext cx="1628987" cy="60152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zh-CN"/>
          </a:p>
          <a:p>
            <a:pPr>
              <a:defRPr/>
            </a:pPr>
            <a:r>
              <a:rPr lang="de-DE" altLang="zh-CN"/>
              <a:t>Page </a:t>
            </a:r>
            <a:fld id="{C0676BAF-3C83-456B-9ACD-B426E2357A66}" type="slidenum">
              <a:rPr lang="de-DE" altLang="zh-CN"/>
              <a:t>‹#›</a:t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0058" y="44452"/>
            <a:ext cx="10756868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0063" y="1600205"/>
            <a:ext cx="5276794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10136" y="1600205"/>
            <a:ext cx="5276794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4658332" y="6256477"/>
            <a:ext cx="1628987" cy="60152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zh-CN"/>
          </a:p>
          <a:p>
            <a:pPr>
              <a:defRPr/>
            </a:pPr>
            <a:r>
              <a:rPr lang="de-DE" altLang="zh-CN"/>
              <a:t>Page </a:t>
            </a:r>
            <a:fld id="{7C1E5151-0DA1-4AE2-A101-6F69CCA9B364}" type="slidenum">
              <a:rPr lang="de-DE" altLang="zh-CN"/>
              <a:t>‹#›</a:t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0058" y="44459"/>
            <a:ext cx="10756868" cy="608171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4658332" y="6256477"/>
            <a:ext cx="1628987" cy="60152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zh-CN"/>
          </a:p>
          <a:p>
            <a:pPr>
              <a:defRPr/>
            </a:pPr>
            <a:r>
              <a:rPr lang="de-DE" altLang="zh-CN"/>
              <a:t>Page </a:t>
            </a:r>
            <a:fld id="{8D304AA0-FEF7-4C85-ADD3-9D0DABCFA334}" type="slidenum">
              <a:rPr lang="de-DE" altLang="zh-CN"/>
              <a:t>‹#›</a:t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0058" y="44452"/>
            <a:ext cx="10756868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830058" y="1600205"/>
            <a:ext cx="10756868" cy="4525963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4658332" y="6256477"/>
            <a:ext cx="1628987" cy="60152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zh-CN"/>
          </a:p>
          <a:p>
            <a:pPr>
              <a:defRPr/>
            </a:pPr>
            <a:r>
              <a:rPr lang="de-DE" altLang="zh-CN"/>
              <a:t>Page </a:t>
            </a:r>
            <a:fld id="{5074951E-6D3B-4718-94FF-1A4C83938AAB}" type="slidenum">
              <a:rPr lang="de-DE" altLang="zh-CN"/>
              <a:t>‹#›</a:t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6180" indent="0" algn="ctr">
              <a:buNone/>
              <a:defRPr sz="2335"/>
            </a:lvl3pPr>
            <a:lvl4pPr marL="1779905" indent="0" algn="ctr">
              <a:buNone/>
              <a:defRPr sz="2075"/>
            </a:lvl4pPr>
            <a:lvl5pPr marL="2372995" indent="0" algn="ctr">
              <a:buNone/>
              <a:defRPr sz="2075"/>
            </a:lvl5pPr>
            <a:lvl6pPr marL="2966720" indent="0" algn="ctr">
              <a:buNone/>
              <a:defRPr sz="2075"/>
            </a:lvl6pPr>
            <a:lvl7pPr marL="3559175" indent="0" algn="ctr">
              <a:buNone/>
              <a:defRPr sz="2075"/>
            </a:lvl7pPr>
            <a:lvl8pPr marL="4152900" indent="0" algn="ctr">
              <a:buNone/>
              <a:defRPr sz="2075"/>
            </a:lvl8pPr>
            <a:lvl9pPr marL="4745990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18938" y="246226"/>
            <a:ext cx="10740640" cy="629716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800" b="1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6021" y="1304925"/>
            <a:ext cx="10733557" cy="4898409"/>
          </a:xfrm>
          <a:prstGeom prst="rect">
            <a:avLst/>
          </a:prstGeom>
        </p:spPr>
        <p:txBody>
          <a:bodyPr lIns="0" tIns="0" rIns="0" bIns="0"/>
          <a:lstStyle>
            <a:lvl1pPr marL="179705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 sz="20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93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770" algn="ctr"/>
              </a:tabLst>
              <a:defRPr sz="18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855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770" algn="ctr"/>
              </a:tabLst>
              <a:defRPr sz="16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460" y="456137"/>
            <a:ext cx="10744836" cy="40060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800" b="0" baseline="0">
                <a:solidFill>
                  <a:srgbClr val="A72126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2985" indent="0" algn="ctr">
              <a:buNone/>
              <a:defRPr sz="2080"/>
            </a:lvl7pPr>
            <a:lvl8pPr marL="4156710" indent="0" algn="ctr">
              <a:buNone/>
              <a:defRPr sz="2080"/>
            </a:lvl8pPr>
            <a:lvl9pPr marL="4750435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8431" y="259056"/>
            <a:ext cx="11768332" cy="648994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400" b="1" baseline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7450" indent="0" algn="ctr">
              <a:buNone/>
              <a:defRPr sz="2340"/>
            </a:lvl3pPr>
            <a:lvl4pPr marL="1781175" indent="0" algn="ctr">
              <a:buNone/>
              <a:defRPr sz="2080"/>
            </a:lvl4pPr>
            <a:lvl5pPr marL="2374900" indent="0" algn="ctr">
              <a:buNone/>
              <a:defRPr sz="2080"/>
            </a:lvl5pPr>
            <a:lvl6pPr marL="2967990" indent="0" algn="ctr">
              <a:buNone/>
              <a:defRPr sz="2080"/>
            </a:lvl6pPr>
            <a:lvl7pPr marL="3562350" indent="0" algn="ctr">
              <a:buNone/>
              <a:defRPr sz="2080"/>
            </a:lvl7pPr>
            <a:lvl8pPr marL="4155440" indent="0" algn="ctr">
              <a:buNone/>
              <a:defRPr sz="2080"/>
            </a:lvl8pPr>
            <a:lvl9pPr marL="4749165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>
            <a:fillRect/>
          </a:stretch>
        </p:blipFill>
        <p:spPr>
          <a:xfrm>
            <a:off x="0" y="0"/>
            <a:ext cx="12206140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>
            <a:fillRect/>
          </a:stretch>
        </p:blipFill>
        <p:spPr>
          <a:xfrm>
            <a:off x="0" y="375"/>
            <a:ext cx="12197432" cy="5599236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412816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4" name="L 形 17"/>
          <p:cNvSpPr/>
          <p:nvPr userDrawn="1"/>
        </p:nvSpPr>
        <p:spPr>
          <a:xfrm rot="5400000">
            <a:off x="5369529" y="2370740"/>
            <a:ext cx="744262" cy="762208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创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>
            <a:fillRect/>
          </a:stretch>
        </p:blipFill>
        <p:spPr>
          <a:xfrm>
            <a:off x="0" y="374"/>
            <a:ext cx="12197432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>
            <a:fillRect/>
          </a:stretch>
        </p:blipFill>
        <p:spPr>
          <a:xfrm>
            <a:off x="0" y="-74021"/>
            <a:ext cx="12197432" cy="56687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章节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6"/>
          <p:cNvGrpSpPr>
            <a:grpSpLocks noChangeAspect="1"/>
          </p:cNvGrpSpPr>
          <p:nvPr userDrawn="1"/>
        </p:nvGrpSpPr>
        <p:grpSpPr>
          <a:xfrm>
            <a:off x="12295786" y="2625399"/>
            <a:ext cx="1963324" cy="4233515"/>
            <a:chOff x="5343883" y="-48857"/>
            <a:chExt cx="3263588" cy="7037279"/>
          </a:xfrm>
        </p:grpSpPr>
        <p:sp>
          <p:nvSpPr>
            <p:cNvPr id="7" name="矩形 13"/>
            <p:cNvSpPr/>
            <p:nvPr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8" name="文本框 15"/>
            <p:cNvSpPr txBox="1"/>
            <p:nvPr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marL="0" marR="0" lvl="0" indent="0" algn="l" defTabSz="9124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Arial" panose="020B0604020202020204" pitchFamily="34" charset="0"/>
                </a:rPr>
                <a:t>公司辅助色</a:t>
              </a:r>
              <a:endPara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B1B18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9" name="矩形 13"/>
            <p:cNvSpPr/>
            <p:nvPr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10" name="矩形 13"/>
            <p:cNvSpPr/>
            <p:nvPr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11" name="矩形 13"/>
            <p:cNvSpPr/>
            <p:nvPr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12" name="矩形 13"/>
            <p:cNvSpPr/>
            <p:nvPr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13" name="矩形 13"/>
            <p:cNvSpPr/>
            <p:nvPr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15" name="文本框 15"/>
            <p:cNvSpPr txBox="1"/>
            <p:nvPr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marL="0" marR="0" lvl="0" indent="0" algn="l" defTabSz="9124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Arial" panose="020B0604020202020204" pitchFamily="34" charset="0"/>
                </a:rPr>
                <a:t>公司色</a:t>
              </a:r>
              <a:endPara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B1B18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6" name="矩形 13"/>
            <p:cNvSpPr/>
            <p:nvPr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17" name="矩形 13"/>
            <p:cNvSpPr/>
            <p:nvPr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8" name="矩形 13"/>
            <p:cNvSpPr/>
            <p:nvPr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9" name="矩形 13"/>
            <p:cNvSpPr/>
            <p:nvPr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20" name="矩形 13"/>
            <p:cNvSpPr/>
            <p:nvPr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21" name="矩形 13"/>
            <p:cNvSpPr/>
            <p:nvPr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22" name="矩形 13"/>
            <p:cNvSpPr/>
            <p:nvPr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23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24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25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26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27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28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29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30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31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32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33" name="矩形 13"/>
            <p:cNvSpPr/>
            <p:nvPr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34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35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36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37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38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190/23/238</a:t>
              </a:r>
            </a:p>
          </p:txBody>
        </p:sp>
        <p:sp>
          <p:nvSpPr>
            <p:cNvPr id="39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40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41" name="矩形 13"/>
            <p:cNvSpPr/>
            <p:nvPr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35/24/21</a:t>
              </a:r>
            </a:p>
          </p:txBody>
        </p:sp>
        <p:sp>
          <p:nvSpPr>
            <p:cNvPr id="42" name="矩形 13"/>
            <p:cNvSpPr/>
            <p:nvPr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43" name="矩形 13"/>
            <p:cNvSpPr/>
            <p:nvPr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44" name="矩形 13"/>
            <p:cNvSpPr/>
            <p:nvPr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45" name="矩形 13"/>
            <p:cNvSpPr/>
            <p:nvPr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46" name="矩形 13"/>
            <p:cNvSpPr/>
            <p:nvPr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6815" indent="0" algn="ctr">
              <a:buNone/>
              <a:defRPr sz="2335"/>
            </a:lvl3pPr>
            <a:lvl4pPr marL="1780540" indent="0" algn="ctr">
              <a:buNone/>
              <a:defRPr sz="2075"/>
            </a:lvl4pPr>
            <a:lvl5pPr marL="2373630" indent="0" algn="ctr">
              <a:buNone/>
              <a:defRPr sz="2075"/>
            </a:lvl5pPr>
            <a:lvl6pPr marL="2967355" indent="0" algn="ctr">
              <a:buNone/>
              <a:defRPr sz="2075"/>
            </a:lvl6pPr>
            <a:lvl7pPr marL="3560445" indent="0" algn="ctr">
              <a:buNone/>
              <a:defRPr sz="2075"/>
            </a:lvl7pPr>
            <a:lvl8pPr marL="4154170" indent="0" algn="ctr">
              <a:buNone/>
              <a:defRPr sz="2075"/>
            </a:lvl8pPr>
            <a:lvl9pPr marL="4747260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6023" y="151287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070" marR="0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930" marR="0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500" algn="ctr"/>
              </a:tabLst>
              <a:defRPr sz="16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7915" marR="0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6500" algn="ctr"/>
              </a:tabLst>
              <a:defRPr sz="1295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145" indent="-170815">
              <a:buFont typeface="Arial" panose="020B0604020202020204" pitchFamily="34" charset="0"/>
              <a:buChar char="•"/>
              <a:tabLst>
                <a:tab pos="1207135" algn="ctr"/>
              </a:tabLst>
              <a:defRPr sz="1295" baseline="0"/>
            </a:lvl4pPr>
            <a:lvl5pPr marL="525145" indent="-170815">
              <a:buFont typeface="Arial" panose="020B0604020202020204" pitchFamily="34" charset="0"/>
              <a:buChar char="•"/>
              <a:tabLst>
                <a:tab pos="1207135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915" marR="0" lvl="2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915" marR="0" lvl="2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F4AF78-1C44-FEB6-4D53-4941977655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596" y="1122363"/>
            <a:ext cx="9147572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D887F3E-B92B-3552-1622-85AACB3810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596" y="3602038"/>
            <a:ext cx="914757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45070C-15D4-77AD-C855-6348EE86C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3EFC-6FA7-4686-A5DD-05EE9B2B832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3A5B4A-03BF-776F-6076-392230ED1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09F394-5061-4E5C-8FBC-27F6B692E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D26A-47AD-4AF4-8F7D-66122B0EF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941308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EB6348-3A59-0BA1-4E8E-8F8B45AA9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B87EC8-EA8D-9D03-2002-543F685A8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61DBBF-592D-FB74-B0D4-514E06FB0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3EFC-6FA7-4686-A5DD-05EE9B2B832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96D9A1-AC54-EBA7-6D5A-266855F68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93023E-92B8-B753-4A84-E1FEA4E89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D26A-47AD-4AF4-8F7D-66122B0EF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932382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89EB39-7379-5A88-2475-A16EAEE23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75" y="1709739"/>
            <a:ext cx="10519708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9506B1-84A1-2A27-39A4-AEB23AB8AF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2175" y="4589464"/>
            <a:ext cx="10519708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E80F76-BCF3-8481-905E-EE0400499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3EFC-6FA7-4686-A5DD-05EE9B2B832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29685E-E2BC-8C17-9960-F6AD51A93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327A0D-FF4E-4C8A-C5D2-03E3186AD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D26A-47AD-4AF4-8F7D-66122B0EF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099083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DB2D98-7A9A-C809-7BBC-6D4BAC3BC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467ADE-C8A6-CC8E-04B7-3CFAF46DB2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528" y="1825625"/>
            <a:ext cx="5183624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22E224-20DF-DDE8-339F-EC13CE0F73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4611" y="1825625"/>
            <a:ext cx="5183624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5BF3BD-47DB-FD86-2D29-B04594341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3EFC-6FA7-4686-A5DD-05EE9B2B832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0CF4F3F-5AF6-41BF-D874-7759AC7ED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54A2286-0F65-502C-65FF-45A429D95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D26A-47AD-4AF4-8F7D-66122B0EF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548367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192427-DB10-7E32-5796-2E36A415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116" y="365126"/>
            <a:ext cx="10519708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5827AA-576C-9C2E-919D-DEBB058F2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117" y="1681163"/>
            <a:ext cx="51598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060F8C-4170-82F8-0F49-C9B957D41B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117" y="2505075"/>
            <a:ext cx="5159802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6F738C8-C0FB-FEF9-905A-24102A2DD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4611" y="1681163"/>
            <a:ext cx="518521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DA0F197-E673-0439-3592-570541C0B2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4611" y="2505075"/>
            <a:ext cx="5185213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4D39719-967D-63D8-8211-70FDE162C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3EFC-6FA7-4686-A5DD-05EE9B2B832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AFC75EA-9185-ACB7-3D3A-306C0221C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86F419B-0341-2CB4-DB0F-D0C8ED238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D26A-47AD-4AF4-8F7D-66122B0EF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298037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68DD57-2775-D593-63E3-3034A766F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6CD8D8B-9CF9-E9D9-B512-A8FD3C8FA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3EFC-6FA7-4686-A5DD-05EE9B2B832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1EB9DD5-4E95-ED45-38AB-CCDB2FC05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F49DEC0-715C-3EED-8BE1-484291871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D26A-47AD-4AF4-8F7D-66122B0EF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770914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1C61332-21D1-BD6C-C89D-256EC80C3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3EFC-6FA7-4686-A5DD-05EE9B2B832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111F8C0-3FD8-BD07-038B-6D6C11423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EE1FD0-6C88-07E9-3FBC-B8692B823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D26A-47AD-4AF4-8F7D-66122B0EF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436149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3AE490-0032-9A6B-0DDC-68C27FA9B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117" y="457200"/>
            <a:ext cx="393377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1582B2-7598-A067-60BE-9ECA63D9B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5213" y="987426"/>
            <a:ext cx="617461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9E4A483-6A59-319E-1883-29BC2E74A3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117" y="2057400"/>
            <a:ext cx="393377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B8E396-4233-4B85-DF5B-637BA5E9A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3EFC-6FA7-4686-A5DD-05EE9B2B832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6DFC83-951A-4937-2609-93769149A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0365DAE-EA92-F72E-9947-B70DC7EC1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D26A-47AD-4AF4-8F7D-66122B0EF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703553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88DFEA-ABA7-8EC0-CFB3-E34765B8F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117" y="457200"/>
            <a:ext cx="393377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E7AA500-E313-6AE7-D5AB-6BFE4B8579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5213" y="987426"/>
            <a:ext cx="617461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F04FBFB-A3B3-433B-A642-BBE7E541FD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117" y="2057400"/>
            <a:ext cx="393377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677906-84E7-A44A-BE1F-6606677B1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3EFC-6FA7-4686-A5DD-05EE9B2B832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76D6E8-A248-EA06-EFC9-742A471A3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552C9E-ED45-493E-DE40-946F339AF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D26A-47AD-4AF4-8F7D-66122B0EF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94242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099958-C764-9637-C08F-B7453F7D4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707D299-F30E-C207-11C5-7ADD714F44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6BBC48-C26A-CAD7-5ED7-10AD27BF6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3EFC-6FA7-4686-A5DD-05EE9B2B832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E809E4-9067-080A-17BF-7C5E5A88B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B96E01-0AD6-768E-4DB2-90B8EF12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D26A-47AD-4AF4-8F7D-66122B0EF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427045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ECF3830-CA5D-FE46-C8D1-86658C0407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8309" y="365125"/>
            <a:ext cx="2629927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EBB0651-A990-8C6B-A02A-3F8287EB64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527" y="365125"/>
            <a:ext cx="7737322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0E189C-3C14-4AFB-3E83-DC6FBB581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3EFC-6FA7-4686-A5DD-05EE9B2B832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926DC8-357A-511E-6484-FE8939C57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666ABF-9E1B-634C-5865-5984FD8A0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D26A-47AD-4AF4-8F7D-66122B0EF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5793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tif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tiff"/></Relationships>
</file>

<file path=ppt/slideMasters/_rels/slideMaster5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tiff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10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slideLayout" Target="../slideLayouts/slideLayout1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tags" Target="../tags/tag1.xml"/><Relationship Id="rId5" Type="http://schemas.openxmlformats.org/officeDocument/2006/relationships/theme" Target="../theme/theme7.xml"/><Relationship Id="rId4" Type="http://schemas.openxmlformats.org/officeDocument/2006/relationships/slideLayout" Target="../slideLayouts/slideLayout14.xml"/><Relationship Id="rId9" Type="http://schemas.openxmlformats.org/officeDocument/2006/relationships/image" Target="../media/image9.tiff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.tiff"/><Relationship Id="rId5" Type="http://schemas.openxmlformats.org/officeDocument/2006/relationships/theme" Target="../theme/theme8.xml"/><Relationship Id="rId4" Type="http://schemas.openxmlformats.org/officeDocument/2006/relationships/slideLayout" Target="../slideLayouts/slideLayout1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9.tiff"/><Relationship Id="rId5" Type="http://schemas.openxmlformats.org/officeDocument/2006/relationships/theme" Target="../theme/theme9.xml"/><Relationship Id="rId4" Type="http://schemas.openxmlformats.org/officeDocument/2006/relationships/slideLayout" Target="../slideLayouts/slideLayout22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6.tiff"/><Relationship Id="rId4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slideLayout" Target="../slideLayouts/slideLayout28.xml"/><Relationship Id="rId7" Type="http://schemas.openxmlformats.org/officeDocument/2006/relationships/theme" Target="../theme/theme11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6.tiff"/><Relationship Id="rId5" Type="http://schemas.openxmlformats.org/officeDocument/2006/relationships/theme" Target="../theme/theme12.xml"/><Relationship Id="rId4" Type="http://schemas.openxmlformats.org/officeDocument/2006/relationships/slideLayout" Target="../slideLayouts/slideLayout35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image" Target="../media/image13.png"/><Relationship Id="rId5" Type="http://schemas.openxmlformats.org/officeDocument/2006/relationships/slideLayout" Target="../slideLayouts/slideLayout40.xml"/><Relationship Id="rId10" Type="http://schemas.openxmlformats.org/officeDocument/2006/relationships/theme" Target="../theme/theme13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theme" Target="../theme/theme14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4" Type="http://schemas.openxmlformats.org/officeDocument/2006/relationships/image" Target="../media/image6.tiff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9.xml"/><Relationship Id="rId7" Type="http://schemas.openxmlformats.org/officeDocument/2006/relationships/image" Target="../media/image1.tiff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0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slideLayout" Target="../slideLayouts/slideLayout54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theme" Target="../theme/theme16.xml"/><Relationship Id="rId5" Type="http://schemas.openxmlformats.org/officeDocument/2006/relationships/slideLayout" Target="../slideLayouts/slideLayout56.xml"/><Relationship Id="rId10" Type="http://schemas.openxmlformats.org/officeDocument/2006/relationships/image" Target="../media/image9.tiff"/><Relationship Id="rId4" Type="http://schemas.openxmlformats.org/officeDocument/2006/relationships/slideLayout" Target="../slideLayouts/slideLayout55.xml"/><Relationship Id="rId9" Type="http://schemas.openxmlformats.org/officeDocument/2006/relationships/image" Target="../media/image8.emf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57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theme" Target="../theme/theme18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8751" y="5970991"/>
            <a:ext cx="2260800" cy="48927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0" y="2625389"/>
            <a:ext cx="1967973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969" y="1467870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/>
          <p:cNvSpPr txBox="1"/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80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/>
          <p:cNvSpPr txBox="1"/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每个组织，构建万物互联的智能世界。</a:t>
            </a:r>
          </a:p>
        </p:txBody>
      </p:sp>
      <p:sp>
        <p:nvSpPr>
          <p:cNvPr id="7" name="Subtitle 6"/>
          <p:cNvSpPr txBox="1"/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676" y="5237566"/>
            <a:ext cx="1875600" cy="40591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732" r:id="rId2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None/>
        <a:defRPr sz="1820" kern="1200">
          <a:solidFill>
            <a:srgbClr val="FFFFFF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9372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8751" y="5970991"/>
            <a:ext cx="2260800" cy="48927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/>
          <p:cNvGraphicFramePr>
            <a:graphicFrameLocks noChangeAspect="1"/>
          </p:cNvGraphicFramePr>
          <p:nvPr userDrawn="1">
            <p:custDataLst>
              <p:tags r:id="rId6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7" imgW="0" imgH="0" progId="TCLayout.ActiveDocument.1">
                  <p:embed/>
                </p:oleObj>
              </mc:Choice>
              <mc:Fallback>
                <p:oleObj name="think-cell 幻灯片" r:id="rId7" imgW="0" imgH="0" progId="TCLayout.ActiveDocument.1">
                  <p:embed/>
                  <p:pic>
                    <p:nvPicPr>
                      <p:cNvPr id="0" name="think-cell data - do not delete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0" y="2625393"/>
            <a:ext cx="1967973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765"/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765"/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sp>
        <p:nvSpPr>
          <p:cNvPr id="46" name="TextBox 2"/>
          <p:cNvSpPr txBox="1"/>
          <p:nvPr userDrawn="1"/>
        </p:nvSpPr>
        <p:spPr>
          <a:xfrm>
            <a:off x="1095467" y="6356939"/>
            <a:ext cx="28543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765"/>
            <a:r>
              <a:rPr lang="en-US" sz="900" dirty="0">
                <a:solidFill>
                  <a:srgbClr val="1D1D1B"/>
                </a:solidFill>
                <a:cs typeface="Arial" panose="020B0604020202020204" pitchFamily="34" charset="0"/>
              </a:rPr>
              <a:t>Huawei Proprietary – Restricted Distribution</a:t>
            </a:r>
          </a:p>
        </p:txBody>
      </p:sp>
      <p:sp>
        <p:nvSpPr>
          <p:cNvPr id="47" name="TextBox 3"/>
          <p:cNvSpPr txBox="1"/>
          <p:nvPr userDrawn="1"/>
        </p:nvSpPr>
        <p:spPr>
          <a:xfrm>
            <a:off x="734133" y="6402810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270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cs typeface="Arial" panose="020B0604020202020204" pitchFamily="34" charset="0"/>
            </a:endParaRPr>
          </a:p>
        </p:txBody>
      </p:sp>
      <p:pic>
        <p:nvPicPr>
          <p:cNvPr id="49" name="Picture 46"/>
          <p:cNvPicPr>
            <a:picLocks noChangeAspect="1"/>
          </p:cNvPicPr>
          <p:nvPr userDrawn="1"/>
        </p:nvPicPr>
        <p:blipFill>
          <a:blip r:embed="rId9" cstate="screen"/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71" r:id="rId4"/>
  </p:sldLayoutIdLst>
  <p:hf hdr="0" ftr="0" dt="0"/>
  <p:txStyles>
    <p:titleStyle>
      <a:lvl1pPr algn="l" defTabSz="1186815" rtl="0" eaLnBrk="1" latinLnBrk="0" hangingPunct="1">
        <a:lnSpc>
          <a:spcPct val="90000"/>
        </a:lnSpc>
        <a:spcBef>
          <a:spcPct val="0"/>
        </a:spcBef>
        <a:buNone/>
        <a:defRPr sz="57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6815" rtl="0" eaLnBrk="1" latinLnBrk="0" hangingPunct="1">
        <a:lnSpc>
          <a:spcPct val="90000"/>
        </a:lnSpc>
        <a:spcBef>
          <a:spcPts val="1295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36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08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017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390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699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071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380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681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054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363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735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044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417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726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8751" y="5970991"/>
            <a:ext cx="2260800" cy="48927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0" y="2625393"/>
            <a:ext cx="1967973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765"/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765"/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sp>
        <p:nvSpPr>
          <p:cNvPr id="46" name="TextBox 2"/>
          <p:cNvSpPr txBox="1"/>
          <p:nvPr userDrawn="1"/>
        </p:nvSpPr>
        <p:spPr>
          <a:xfrm>
            <a:off x="1095467" y="6356939"/>
            <a:ext cx="28543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765"/>
            <a:r>
              <a:rPr lang="en-US" sz="900" dirty="0">
                <a:solidFill>
                  <a:srgbClr val="1D1D1B"/>
                </a:solidFill>
                <a:cs typeface="Arial" panose="020B0604020202020204" pitchFamily="34" charset="0"/>
              </a:rPr>
              <a:t>Huawei Proprietary – Restricted Distribution</a:t>
            </a:r>
          </a:p>
        </p:txBody>
      </p:sp>
      <p:sp>
        <p:nvSpPr>
          <p:cNvPr id="47" name="TextBox 3"/>
          <p:cNvSpPr txBox="1"/>
          <p:nvPr userDrawn="1"/>
        </p:nvSpPr>
        <p:spPr>
          <a:xfrm>
            <a:off x="734133" y="6402810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270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cs typeface="Arial" panose="020B0604020202020204" pitchFamily="34" charset="0"/>
            </a:endParaRPr>
          </a:p>
        </p:txBody>
      </p:sp>
      <p:pic>
        <p:nvPicPr>
          <p:cNvPr id="49" name="Picture 46"/>
          <p:cNvPicPr>
            <a:picLocks noChangeAspect="1"/>
          </p:cNvPicPr>
          <p:nvPr userDrawn="1"/>
        </p:nvPicPr>
        <p:blipFill>
          <a:blip r:embed="rId6" cstate="screen"/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</p:sldLayoutIdLst>
  <p:hf hdr="0" ftr="0" dt="0"/>
  <p:txStyles>
    <p:titleStyle>
      <a:lvl1pPr algn="l" defTabSz="1186815" rtl="0" eaLnBrk="1" latinLnBrk="0" hangingPunct="1">
        <a:lnSpc>
          <a:spcPct val="90000"/>
        </a:lnSpc>
        <a:spcBef>
          <a:spcPct val="0"/>
        </a:spcBef>
        <a:buNone/>
        <a:defRPr sz="57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6815" rtl="0" eaLnBrk="1" latinLnBrk="0" hangingPunct="1">
        <a:lnSpc>
          <a:spcPct val="90000"/>
        </a:lnSpc>
        <a:spcBef>
          <a:spcPts val="1295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36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08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017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390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699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071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380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681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054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363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735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044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417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726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9" y="6356939"/>
            <a:ext cx="14634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1225" fontAlgn="auto"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US" sz="895" b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4" y="6402813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87730" fontAlgn="auto"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C3837181-38C6-AD4F-B8BA-B444770388BB}" type="slidenum">
              <a:rPr lang="en-US" sz="895" b="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895" b="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4" y="2625396"/>
            <a:ext cx="1963323" cy="4233515"/>
            <a:chOff x="5343885" y="-48857"/>
            <a:chExt cx="326358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1225" fontAlgn="auto"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zh-CN" altLang="en-US" sz="800" b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1225" fontAlgn="auto"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zh-CN" altLang="en-US" sz="800" b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35/24/21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7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</p:sldLayoutIdLst>
  <p:hf hdr="0" ftr="0" dt="0"/>
  <p:txStyles>
    <p:titleStyle>
      <a:lvl1pPr algn="l" defTabSz="1183005" rtl="0" eaLnBrk="1" latinLnBrk="0" hangingPunct="1">
        <a:lnSpc>
          <a:spcPct val="90000"/>
        </a:lnSpc>
        <a:spcBef>
          <a:spcPct val="0"/>
        </a:spcBef>
        <a:buNone/>
        <a:defRPr sz="56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5910" indent="-295910" algn="l" defTabSz="1183005" rtl="0" eaLnBrk="1" latinLnBrk="0" hangingPunct="1">
        <a:lnSpc>
          <a:spcPct val="90000"/>
        </a:lnSpc>
        <a:spcBef>
          <a:spcPts val="1295"/>
        </a:spcBef>
        <a:buFont typeface="Arial" panose="020B0604020202020204" pitchFamily="34" charset="0"/>
        <a:buChar char="•"/>
        <a:defRPr sz="3625" kern="1200">
          <a:solidFill>
            <a:schemeClr val="tx1"/>
          </a:solidFill>
          <a:latin typeface="+mn-lt"/>
          <a:ea typeface="+mn-ea"/>
          <a:cs typeface="+mn-cs"/>
        </a:defRPr>
      </a:lvl1pPr>
      <a:lvl2pPr marL="887730" indent="-295910" algn="l" defTabSz="118300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05" kern="1200">
          <a:solidFill>
            <a:schemeClr val="tx1"/>
          </a:solidFill>
          <a:latin typeface="+mn-lt"/>
          <a:ea typeface="+mn-ea"/>
          <a:cs typeface="+mn-cs"/>
        </a:defRPr>
      </a:lvl2pPr>
      <a:lvl3pPr marL="1478915" indent="-295910" algn="l" defTabSz="118300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0" kern="1200">
          <a:solidFill>
            <a:schemeClr val="tx1"/>
          </a:solidFill>
          <a:latin typeface="+mn-lt"/>
          <a:ea typeface="+mn-ea"/>
          <a:cs typeface="+mn-cs"/>
        </a:defRPr>
      </a:lvl3pPr>
      <a:lvl4pPr marL="2070735" indent="-295910" algn="l" defTabSz="118300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4pPr>
      <a:lvl5pPr marL="2662555" indent="-295910" algn="l" defTabSz="118300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5pPr>
      <a:lvl6pPr marL="3253740" indent="-295910" algn="l" defTabSz="118300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6pPr>
      <a:lvl7pPr marL="3845560" indent="-295910" algn="l" defTabSz="118300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7pPr>
      <a:lvl8pPr marL="4437380" indent="-295910" algn="l" defTabSz="118300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8pPr>
      <a:lvl9pPr marL="5029200" indent="-295910" algn="l" defTabSz="118300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3005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1pPr>
      <a:lvl2pPr marL="591820" algn="l" defTabSz="1183005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2pPr>
      <a:lvl3pPr marL="1183005" algn="l" defTabSz="1183005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3pPr>
      <a:lvl4pPr marL="1774825" algn="l" defTabSz="1183005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4pPr>
      <a:lvl5pPr marL="2366645" algn="l" defTabSz="1183005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5pPr>
      <a:lvl6pPr marL="2958465" algn="l" defTabSz="1183005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6pPr>
      <a:lvl7pPr marL="3549650" algn="l" defTabSz="1183005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7pPr>
      <a:lvl8pPr marL="4141470" algn="l" defTabSz="1183005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8pPr>
      <a:lvl9pPr marL="4733290" algn="l" defTabSz="1183005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8" y="6356941"/>
            <a:ext cx="14634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2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270"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75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8" y="6315134"/>
            <a:ext cx="1273690" cy="27855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</p:sldLayoutIdLst>
  <p:hf hdr="0" ftr="0" dt="0"/>
  <p:txStyles>
    <p:titleStyle>
      <a:lvl1pPr algn="l" defTabSz="1187450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7450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9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7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14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51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88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26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63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745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117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490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86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171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544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916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8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2" y="6402808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2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0" y="2625391"/>
            <a:ext cx="1967973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</p:sldLayoutIdLst>
  <p:hf hdr="0" ftr="0" dt="0"/>
  <p:txStyles>
    <p:titleStyle>
      <a:lvl1pPr algn="l" defTabSz="1187450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7450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3995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7720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1445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5170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58895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2620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6345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7450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175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4900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7990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2350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5440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49165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2"/>
          <p:cNvSpPr txBox="1"/>
          <p:nvPr userDrawn="1"/>
        </p:nvSpPr>
        <p:spPr>
          <a:xfrm>
            <a:off x="1095470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765"/>
            <a:r>
              <a:rPr lang="en-US" sz="975" dirty="0">
                <a:solidFill>
                  <a:srgbClr val="1D1D1B"/>
                </a:solidFill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12" name="TextBox 3"/>
          <p:cNvSpPr txBox="1"/>
          <p:nvPr userDrawn="1"/>
        </p:nvSpPr>
        <p:spPr>
          <a:xfrm>
            <a:off x="734133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270"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cs typeface="Arial" panose="020B0604020202020204" pitchFamily="34" charset="0"/>
              </a:rPr>
              <a:t>‹#›</a:t>
            </a:fld>
            <a:endParaRPr lang="en-US" sz="975" dirty="0">
              <a:solidFill>
                <a:srgbClr val="1D1D1B"/>
              </a:solidFill>
              <a:cs typeface="Arial" panose="020B060402020202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11" cstate="screen"/>
          <a:stretch>
            <a:fillRect/>
          </a:stretch>
        </p:blipFill>
        <p:spPr>
          <a:xfrm>
            <a:off x="10196002" y="6319876"/>
            <a:ext cx="1269074" cy="2711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</p:sldLayoutIdLst>
  <p:hf sldNum="0" hdr="0" ftr="0"/>
  <p:txStyles>
    <p:titleStyle>
      <a:lvl1pPr algn="l" defTabSz="775970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990000"/>
          </a:solidFill>
          <a:latin typeface="+mj-lt"/>
          <a:ea typeface="+mj-ea"/>
          <a:cs typeface="+mj-cs"/>
        </a:defRPr>
      </a:lvl1pPr>
      <a:lvl2pPr algn="l" defTabSz="775970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990000"/>
          </a:solidFill>
          <a:latin typeface="Arial" panose="020B0604020202020204" pitchFamily="34" charset="0"/>
          <a:ea typeface="宋体" pitchFamily="2" charset="-122"/>
        </a:defRPr>
      </a:lvl2pPr>
      <a:lvl3pPr algn="l" defTabSz="775970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990000"/>
          </a:solidFill>
          <a:latin typeface="Arial" panose="020B0604020202020204" pitchFamily="34" charset="0"/>
          <a:ea typeface="宋体" pitchFamily="2" charset="-122"/>
        </a:defRPr>
      </a:lvl3pPr>
      <a:lvl4pPr algn="l" defTabSz="775970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990000"/>
          </a:solidFill>
          <a:latin typeface="Arial" panose="020B0604020202020204" pitchFamily="34" charset="0"/>
          <a:ea typeface="宋体" pitchFamily="2" charset="-122"/>
        </a:defRPr>
      </a:lvl4pPr>
      <a:lvl5pPr algn="l" defTabSz="775970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990000"/>
          </a:solidFill>
          <a:latin typeface="Arial" panose="020B0604020202020204" pitchFamily="34" charset="0"/>
          <a:ea typeface="宋体" pitchFamily="2" charset="-122"/>
        </a:defRPr>
      </a:lvl5pPr>
      <a:lvl6pPr marL="455930" algn="l" defTabSz="782320" rtl="0" fontAlgn="base">
        <a:spcBef>
          <a:spcPct val="0"/>
        </a:spcBef>
        <a:spcAft>
          <a:spcPct val="0"/>
        </a:spcAft>
        <a:defRPr sz="3000" b="1">
          <a:solidFill>
            <a:srgbClr val="990000"/>
          </a:solidFill>
          <a:latin typeface="Arial" panose="020B0604020202020204" pitchFamily="34" charset="0"/>
          <a:ea typeface="宋体" pitchFamily="2" charset="-122"/>
        </a:defRPr>
      </a:lvl6pPr>
      <a:lvl7pPr marL="912495" algn="l" defTabSz="782320" rtl="0" fontAlgn="base">
        <a:spcBef>
          <a:spcPct val="0"/>
        </a:spcBef>
        <a:spcAft>
          <a:spcPct val="0"/>
        </a:spcAft>
        <a:defRPr sz="3000" b="1">
          <a:solidFill>
            <a:srgbClr val="990000"/>
          </a:solidFill>
          <a:latin typeface="Arial" panose="020B0604020202020204" pitchFamily="34" charset="0"/>
          <a:ea typeface="宋体" pitchFamily="2" charset="-122"/>
        </a:defRPr>
      </a:lvl7pPr>
      <a:lvl8pPr marL="1368425" algn="l" defTabSz="782320" rtl="0" fontAlgn="base">
        <a:spcBef>
          <a:spcPct val="0"/>
        </a:spcBef>
        <a:spcAft>
          <a:spcPct val="0"/>
        </a:spcAft>
        <a:defRPr sz="3000" b="1">
          <a:solidFill>
            <a:srgbClr val="990000"/>
          </a:solidFill>
          <a:latin typeface="Arial" panose="020B0604020202020204" pitchFamily="34" charset="0"/>
          <a:ea typeface="宋体" pitchFamily="2" charset="-122"/>
        </a:defRPr>
      </a:lvl8pPr>
      <a:lvl9pPr marL="1824355" algn="l" defTabSz="782320" rtl="0" fontAlgn="base">
        <a:spcBef>
          <a:spcPct val="0"/>
        </a:spcBef>
        <a:spcAft>
          <a:spcPct val="0"/>
        </a:spcAft>
        <a:defRPr sz="3000" b="1">
          <a:solidFill>
            <a:srgbClr val="990000"/>
          </a:solidFill>
          <a:latin typeface="Arial" panose="020B0604020202020204" pitchFamily="34" charset="0"/>
          <a:ea typeface="宋体" pitchFamily="2" charset="-122"/>
        </a:defRPr>
      </a:lvl9pPr>
    </p:titleStyle>
    <p:bodyStyle>
      <a:lvl1pPr marL="273050" indent="-273050" algn="l" defTabSz="739775" rtl="0" eaLnBrk="0" fontAlgn="base" hangingPunct="0">
        <a:lnSpc>
          <a:spcPct val="140000"/>
        </a:lnSpc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+mn-lt"/>
          <a:ea typeface="+mn-ea"/>
          <a:cs typeface="+mn-cs"/>
        </a:defRPr>
      </a:lvl1pPr>
      <a:lvl2pPr marL="600075" indent="-225425" algn="l" defTabSz="739775" rtl="0" eaLnBrk="0" fontAlgn="base" hangingPunct="0">
        <a:lnSpc>
          <a:spcPct val="140000"/>
        </a:lnSpc>
        <a:spcBef>
          <a:spcPct val="0"/>
        </a:spcBef>
        <a:spcAft>
          <a:spcPct val="0"/>
        </a:spcAft>
        <a:defRPr sz="1900">
          <a:solidFill>
            <a:schemeClr val="tx1"/>
          </a:solidFill>
          <a:latin typeface="+mn-lt"/>
          <a:ea typeface="+mn-ea"/>
        </a:defRPr>
      </a:lvl2pPr>
      <a:lvl3pPr marL="928370" indent="-180975" algn="l" defTabSz="739775" rtl="0" eaLnBrk="0" fontAlgn="base" hangingPunct="0">
        <a:lnSpc>
          <a:spcPct val="140000"/>
        </a:lnSpc>
        <a:spcBef>
          <a:spcPct val="0"/>
        </a:spcBef>
        <a:spcAft>
          <a:spcPct val="0"/>
        </a:spcAft>
        <a:defRPr sz="1900">
          <a:solidFill>
            <a:schemeClr val="tx1"/>
          </a:solidFill>
          <a:latin typeface="+mn-lt"/>
          <a:ea typeface="+mn-ea"/>
        </a:defRPr>
      </a:lvl3pPr>
      <a:lvl4pPr marL="1303020" indent="-182245" algn="l" defTabSz="739775" rtl="0" eaLnBrk="0" fontAlgn="base" hangingPunct="0">
        <a:lnSpc>
          <a:spcPct val="140000"/>
        </a:lnSpc>
        <a:spcBef>
          <a:spcPct val="0"/>
        </a:spcBef>
        <a:spcAft>
          <a:spcPct val="0"/>
        </a:spcAft>
        <a:defRPr sz="1900">
          <a:solidFill>
            <a:schemeClr val="tx1"/>
          </a:solidFill>
          <a:latin typeface="+mn-lt"/>
          <a:ea typeface="+mn-ea"/>
        </a:defRPr>
      </a:lvl4pPr>
      <a:lvl5pPr marL="1672590" indent="-182245" algn="l" defTabSz="739775" rtl="0" eaLnBrk="0" fontAlgn="base" hangingPunct="0">
        <a:lnSpc>
          <a:spcPct val="140000"/>
        </a:lnSpc>
        <a:spcBef>
          <a:spcPct val="0"/>
        </a:spcBef>
        <a:spcAft>
          <a:spcPct val="0"/>
        </a:spcAft>
        <a:defRPr sz="1900">
          <a:solidFill>
            <a:schemeClr val="tx1"/>
          </a:solidFill>
          <a:latin typeface="+mn-lt"/>
          <a:ea typeface="+mn-ea"/>
        </a:defRPr>
      </a:lvl5pPr>
      <a:lvl6pPr marL="2134870" indent="-189865" algn="l" defTabSz="746125" rtl="0" fontAlgn="base">
        <a:lnSpc>
          <a:spcPct val="140000"/>
        </a:lnSpc>
        <a:spcBef>
          <a:spcPct val="0"/>
        </a:spcBef>
        <a:spcAft>
          <a:spcPct val="0"/>
        </a:spcAft>
        <a:defRPr sz="1900">
          <a:solidFill>
            <a:schemeClr val="tx1"/>
          </a:solidFill>
          <a:latin typeface="+mn-lt"/>
          <a:ea typeface="+mn-ea"/>
        </a:defRPr>
      </a:lvl6pPr>
      <a:lvl7pPr marL="2590800" indent="-189865" algn="l" defTabSz="746125" rtl="0" fontAlgn="base">
        <a:lnSpc>
          <a:spcPct val="140000"/>
        </a:lnSpc>
        <a:spcBef>
          <a:spcPct val="0"/>
        </a:spcBef>
        <a:spcAft>
          <a:spcPct val="0"/>
        </a:spcAft>
        <a:defRPr sz="1900">
          <a:solidFill>
            <a:schemeClr val="tx1"/>
          </a:solidFill>
          <a:latin typeface="+mn-lt"/>
          <a:ea typeface="+mn-ea"/>
        </a:defRPr>
      </a:lvl7pPr>
      <a:lvl8pPr marL="3047365" indent="-189865" algn="l" defTabSz="746125" rtl="0" fontAlgn="base">
        <a:lnSpc>
          <a:spcPct val="140000"/>
        </a:lnSpc>
        <a:spcBef>
          <a:spcPct val="0"/>
        </a:spcBef>
        <a:spcAft>
          <a:spcPct val="0"/>
        </a:spcAft>
        <a:defRPr sz="1900">
          <a:solidFill>
            <a:schemeClr val="tx1"/>
          </a:solidFill>
          <a:latin typeface="+mn-lt"/>
          <a:ea typeface="+mn-ea"/>
        </a:defRPr>
      </a:lvl8pPr>
      <a:lvl9pPr marL="3503295" indent="-189865" algn="l" defTabSz="746125" rtl="0" fontAlgn="base">
        <a:lnSpc>
          <a:spcPct val="140000"/>
        </a:lnSpc>
        <a:spcBef>
          <a:spcPct val="0"/>
        </a:spcBef>
        <a:spcAft>
          <a:spcPct val="0"/>
        </a:spcAft>
        <a:defRPr sz="19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24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5930" algn="l" defTabSz="9124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2495" algn="l" defTabSz="9124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8425" algn="l" defTabSz="9124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4355" algn="l" defTabSz="9124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0285" algn="l" defTabSz="9124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6850" algn="l" defTabSz="9124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2780" algn="l" defTabSz="9124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48710" algn="l" defTabSz="9124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0" y="2625389"/>
            <a:ext cx="1967973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8751" y="5970991"/>
            <a:ext cx="2260800" cy="48927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/>
          <p:cNvGraphicFramePr>
            <a:graphicFrameLocks noChangeAspect="1"/>
          </p:cNvGraphicFramePr>
          <p:nvPr userDrawn="1">
            <p:custDataLst>
              <p:tags r:id="rId7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8" imgW="0" imgH="0" progId="TCLayout.ActiveDocument.1">
                  <p:embed/>
                </p:oleObj>
              </mc:Choice>
              <mc:Fallback>
                <p:oleObj name="think-cell 幻灯片" r:id="rId8" imgW="0" imgH="0" progId="TCLayout.ActiveDocument.1">
                  <p:embed/>
                  <p:pic>
                    <p:nvPicPr>
                      <p:cNvPr id="0" name="think-cell data - do not delete" hidden="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0" y="2625393"/>
            <a:ext cx="1967973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765"/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765"/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sp>
        <p:nvSpPr>
          <p:cNvPr id="46" name="TextBox 2"/>
          <p:cNvSpPr txBox="1"/>
          <p:nvPr userDrawn="1"/>
        </p:nvSpPr>
        <p:spPr>
          <a:xfrm>
            <a:off x="1095467" y="6356939"/>
            <a:ext cx="28543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765"/>
            <a:r>
              <a:rPr lang="en-US" sz="900" dirty="0">
                <a:solidFill>
                  <a:srgbClr val="1D1D1B"/>
                </a:solidFill>
                <a:cs typeface="Arial" panose="020B0604020202020204" pitchFamily="34" charset="0"/>
              </a:rPr>
              <a:t>Huawei Proprietary – Restricted Distribution</a:t>
            </a:r>
          </a:p>
        </p:txBody>
      </p:sp>
      <p:sp>
        <p:nvSpPr>
          <p:cNvPr id="47" name="TextBox 3"/>
          <p:cNvSpPr txBox="1"/>
          <p:nvPr userDrawn="1"/>
        </p:nvSpPr>
        <p:spPr>
          <a:xfrm>
            <a:off x="734133" y="6402810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270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cs typeface="Arial" panose="020B0604020202020204" pitchFamily="34" charset="0"/>
            </a:endParaRPr>
          </a:p>
        </p:txBody>
      </p:sp>
      <p:pic>
        <p:nvPicPr>
          <p:cNvPr id="49" name="Picture 46"/>
          <p:cNvPicPr>
            <a:picLocks noChangeAspect="1"/>
          </p:cNvPicPr>
          <p:nvPr userDrawn="1"/>
        </p:nvPicPr>
        <p:blipFill>
          <a:blip r:embed="rId10" cstate="screen"/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</p:sldLayoutIdLst>
  <p:hf hdr="0" ftr="0" dt="0"/>
  <p:txStyles>
    <p:titleStyle>
      <a:lvl1pPr algn="l" defTabSz="1186815" rtl="0" eaLnBrk="1" latinLnBrk="0" hangingPunct="1">
        <a:lnSpc>
          <a:spcPct val="90000"/>
        </a:lnSpc>
        <a:spcBef>
          <a:spcPct val="0"/>
        </a:spcBef>
        <a:buNone/>
        <a:defRPr sz="57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6815" rtl="0" eaLnBrk="1" latinLnBrk="0" hangingPunct="1">
        <a:lnSpc>
          <a:spcPct val="90000"/>
        </a:lnSpc>
        <a:spcBef>
          <a:spcPts val="1295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36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08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017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390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699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071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380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681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054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363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735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044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417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726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0" y="2625389"/>
            <a:ext cx="1967973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FDFFE18-7752-2248-F761-553EC9BF4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528" y="365126"/>
            <a:ext cx="1051970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422D90-5878-3715-6C72-2F70E3C9B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528" y="1825625"/>
            <a:ext cx="1051970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AD8A99-D5D5-FF2E-8290-93E86D353E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527" y="6356351"/>
            <a:ext cx="27442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413EFC-6FA7-4686-A5DD-05EE9B2B832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52DE36-9B51-EDE5-05D9-0A07C775D1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40178" y="6356351"/>
            <a:ext cx="4116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C7615D-D668-629A-EB58-3559C2652B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3964" y="6356351"/>
            <a:ext cx="27442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D3D26A-47AD-4AF4-8F7D-66122B0EF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6532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yuque.antfin.com/niig7o/cazbmb/yhvydiuvwrw6dc13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9A68F3F-1032-4FB3-BAC5-10CF42D966CC}"/>
              </a:ext>
            </a:extLst>
          </p:cNvPr>
          <p:cNvSpPr txBox="1"/>
          <p:nvPr/>
        </p:nvSpPr>
        <p:spPr>
          <a:xfrm>
            <a:off x="69376" y="163734"/>
            <a:ext cx="1212738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线上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问题总结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4" name="Rectangle 172">
            <a:extLst>
              <a:ext uri="{FF2B5EF4-FFF2-40B4-BE49-F238E27FC236}">
                <a16:creationId xmlns:a16="http://schemas.microsoft.com/office/drawing/2014/main" id="{2CB91521-9B0D-4C81-B09D-9DFC38D89E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965" y="706930"/>
            <a:ext cx="11512731" cy="1332807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prstShdw prst="shdw17" dist="17961" dir="2700000">
              <a:srgbClr val="5C0000"/>
            </a:prstShdw>
          </a:effectLst>
        </p:spPr>
        <p:txBody>
          <a:bodyPr lIns="144634" tIns="72314" rIns="144634" bIns="72314" anchor="ctr" anchorCtr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zh-CN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r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~</a:t>
            </a:r>
            <a:r>
              <a:rPr lang="en-US" altLang="zh-CN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月线上问题</a:t>
            </a:r>
            <a:r>
              <a:rPr lang="en-US" altLang="zh-CN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个：平均定位时长</a:t>
            </a:r>
            <a:r>
              <a:rPr lang="en-US" altLang="zh-CN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2.9</a:t>
            </a:r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天，中位数</a:t>
            </a:r>
            <a:r>
              <a:rPr lang="en-US" altLang="zh-CN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天，但其中</a:t>
            </a:r>
            <a:r>
              <a:rPr lang="en-US" altLang="zh-CN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个问题处理时长超过</a:t>
            </a:r>
            <a:r>
              <a:rPr lang="en-US" altLang="zh-CN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天以上</a:t>
            </a:r>
            <a:endParaRPr lang="en-US" altLang="zh-CN" sz="1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按问题类型分类：</a:t>
            </a:r>
            <a:r>
              <a:rPr lang="zh-CN" alt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模型引擎缺陷</a:t>
            </a:r>
            <a:r>
              <a:rPr lang="en-US" altLang="zh-CN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55%</a:t>
            </a:r>
            <a:r>
              <a:rPr lang="zh-CN" alt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；配置</a:t>
            </a:r>
            <a:r>
              <a:rPr lang="en-US" altLang="zh-CN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参数差异、上游环境</a:t>
            </a:r>
            <a:r>
              <a:rPr lang="en-US" altLang="zh-CN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40%</a:t>
            </a:r>
            <a:r>
              <a:rPr lang="zh-CN" alt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；模型自身问题</a:t>
            </a:r>
            <a:r>
              <a:rPr lang="en-US" altLang="zh-CN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10%</a:t>
            </a:r>
            <a:r>
              <a:rPr lang="zh-CN" alt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0" lang="en-US" altLang="zh-CN" sz="12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按版本分布：集中在</a:t>
            </a: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1130</a:t>
            </a: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版本、</a:t>
            </a: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0306</a:t>
            </a: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版本，近期转测版本还未见明显问题。</a:t>
            </a:r>
            <a:endParaRPr kumimoji="0" lang="en-US" altLang="zh-CN" sz="12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按归属模型分别：</a:t>
            </a: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Kimi</a:t>
            </a: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系列</a:t>
            </a: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36.8%</a:t>
            </a: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DS</a:t>
            </a: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系列</a:t>
            </a: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21.1%</a:t>
            </a: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12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Qwen</a:t>
            </a: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系列</a:t>
            </a: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21.1%</a:t>
            </a:r>
            <a:r>
              <a:rPr lang="zh-CN" alt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GLM-5 15.8</a:t>
            </a:r>
            <a:r>
              <a:rPr lang="zh-CN" alt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。。。</a:t>
            </a:r>
            <a:endParaRPr kumimoji="0" lang="en-US" altLang="zh-CN" sz="12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Rectangle 172">
            <a:extLst>
              <a:ext uri="{FF2B5EF4-FFF2-40B4-BE49-F238E27FC236}">
                <a16:creationId xmlns:a16="http://schemas.microsoft.com/office/drawing/2014/main" id="{6AD95793-7A14-44F8-AD02-C119C4A46F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965" y="6086795"/>
            <a:ext cx="11512731" cy="672552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prstShdw prst="shdw17" dist="17961" dir="2700000">
              <a:srgbClr val="5C0000"/>
            </a:prstShdw>
          </a:effectLst>
        </p:spPr>
        <p:txBody>
          <a:bodyPr lIns="144634" tIns="72314" rIns="144634" bIns="72314" anchor="ctr" anchorCtr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改进建议：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wh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侧特战队参与日常开发，并增强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AI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工具化压测、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AICoding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辅助分析能力；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）加强准出基线建设，尽可能减少上游业务与准出策略不同导致的问题（详见最后附录页）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2420AA33-BA83-48FC-B509-36EF10962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245" y="2078073"/>
            <a:ext cx="11323003" cy="3838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577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9EA027E-9CC9-47D8-83DA-5F3157781108}"/>
              </a:ext>
            </a:extLst>
          </p:cNvPr>
          <p:cNvSpPr/>
          <p:nvPr/>
        </p:nvSpPr>
        <p:spPr>
          <a:xfrm>
            <a:off x="136601" y="96140"/>
            <a:ext cx="11377631" cy="60711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defTabSz="1216660">
              <a:defRPr/>
            </a:pPr>
            <a:r>
              <a:rPr lang="zh-CN" altLang="en-US" sz="24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近期问题处理</a:t>
            </a:r>
            <a:r>
              <a:rPr lang="en-US" altLang="zh-CN" sz="24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SOP</a:t>
            </a:r>
            <a:r>
              <a:rPr lang="zh-CN" altLang="en-US" sz="24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刷新 ：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0B2108F-8472-472B-8816-FC324BFED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5" y="-181781"/>
            <a:ext cx="184587" cy="368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368" tIns="45684" rIns="91368" bIns="45684" numCol="1" anchor="ctr" anchorCtr="0" compatLnSpc="1">
            <a:spAutoFit/>
          </a:bodyPr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88D088-A601-4ABB-9C7B-5EEE9BED3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5" y="-181781"/>
            <a:ext cx="184587" cy="368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368" tIns="45684" rIns="91368" bIns="45684" numCol="1" anchor="ctr" anchorCtr="0" compatLnSpc="1">
            <a:spAutoFit/>
          </a:bodyPr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AA14A74F-D67A-7803-B034-82F303A722CB}"/>
              </a:ext>
            </a:extLst>
          </p:cNvPr>
          <p:cNvSpPr txBox="1"/>
          <p:nvPr/>
        </p:nvSpPr>
        <p:spPr>
          <a:xfrm>
            <a:off x="357260" y="6086740"/>
            <a:ext cx="71312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详见语雀：问题排查作战手册 </a:t>
            </a: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&amp; SOP</a:t>
            </a:r>
            <a:endParaRPr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84A5AE6B-69E2-8069-8AC2-79CE4DACCD9A}"/>
              </a:ext>
            </a:extLst>
          </p:cNvPr>
          <p:cNvSpPr/>
          <p:nvPr/>
        </p:nvSpPr>
        <p:spPr>
          <a:xfrm>
            <a:off x="3921236" y="1489623"/>
            <a:ext cx="3973856" cy="4513447"/>
          </a:xfrm>
          <a:prstGeom prst="rect">
            <a:avLst/>
          </a:prstGeom>
          <a:noFill/>
          <a:ln>
            <a:solidFill>
              <a:schemeClr val="tx2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4BBA2F8A-159D-C239-78B1-5C74620164FD}"/>
              </a:ext>
            </a:extLst>
          </p:cNvPr>
          <p:cNvSpPr/>
          <p:nvPr/>
        </p:nvSpPr>
        <p:spPr>
          <a:xfrm>
            <a:off x="189352" y="1495085"/>
            <a:ext cx="3559688" cy="4513447"/>
          </a:xfrm>
          <a:prstGeom prst="rect">
            <a:avLst/>
          </a:prstGeom>
          <a:noFill/>
          <a:ln>
            <a:solidFill>
              <a:schemeClr val="tx2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9E04A5E2-D0BB-82BC-B19C-92674DAB505B}"/>
              </a:ext>
            </a:extLst>
          </p:cNvPr>
          <p:cNvSpPr txBox="1"/>
          <p:nvPr/>
        </p:nvSpPr>
        <p:spPr>
          <a:xfrm>
            <a:off x="1154577" y="1342867"/>
            <a:ext cx="1440144" cy="30777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Microsoft YaHei"/>
                <a:cs typeface="+mn-cs"/>
              </a:rPr>
              <a:t>上下路问题联动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7CB68AF8-8493-6B9F-9EF0-23FA9511AC83}"/>
              </a:ext>
            </a:extLst>
          </p:cNvPr>
          <p:cNvSpPr txBox="1"/>
          <p:nvPr/>
        </p:nvSpPr>
        <p:spPr>
          <a:xfrm>
            <a:off x="5046091" y="1246324"/>
            <a:ext cx="1994639" cy="52322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Microsoft YaHei"/>
                <a:cs typeface="+mn-cs"/>
              </a:rPr>
              <a:t>问题快速响应与通报要求，新增看板直播要求</a:t>
            </a:r>
          </a:p>
        </p:txBody>
      </p:sp>
      <p:pic>
        <p:nvPicPr>
          <p:cNvPr id="93" name="图片 92">
            <a:extLst>
              <a:ext uri="{FF2B5EF4-FFF2-40B4-BE49-F238E27FC236}">
                <a16:creationId xmlns:a16="http://schemas.microsoft.com/office/drawing/2014/main" id="{CE765E80-B251-1AF4-D1F6-AF020D2C19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392" y="2140312"/>
            <a:ext cx="3369702" cy="1778277"/>
          </a:xfrm>
          <a:prstGeom prst="rect">
            <a:avLst/>
          </a:prstGeom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964DAA48-470D-6D43-B579-B62E4D36A488}"/>
              </a:ext>
            </a:extLst>
          </p:cNvPr>
          <p:cNvSpPr txBox="1"/>
          <p:nvPr/>
        </p:nvSpPr>
        <p:spPr>
          <a:xfrm>
            <a:off x="231392" y="4530694"/>
            <a:ext cx="3375408" cy="1277273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 微软雅黑"/>
                <a:ea typeface="Microsoft YaHei"/>
              </a:rPr>
              <a:t>主要更新点：</a:t>
            </a:r>
            <a:r>
              <a:rPr kumimoji="0" lang="zh-CN" altLang="en-US" sz="11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 微软雅黑"/>
                <a:ea typeface="Microsoft YaHei"/>
              </a:rPr>
              <a:t>在原有上下路信息联动基础上，强调第一时间查询历史硬件故障信息，第一时间排除硬件影响。</a:t>
            </a:r>
            <a:endParaRPr kumimoji="0" lang="en-US" altLang="zh-CN" sz="11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 微软雅黑"/>
              <a:ea typeface="Microsoft YaHei"/>
            </a:endParaRPr>
          </a:p>
          <a:p>
            <a:pPr marL="0" marR="0" lvl="0" indent="0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100" kern="0" dirty="0">
              <a:latin typeface=" 微软雅黑"/>
              <a:ea typeface="Microsoft YaHei"/>
            </a:endParaRPr>
          </a:p>
          <a:p>
            <a:pPr marL="0" marR="0" lvl="0" indent="0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100" kern="0" dirty="0">
                <a:solidFill>
                  <a:srgbClr val="C00000"/>
                </a:solidFill>
                <a:latin typeface=" 微软雅黑"/>
                <a:ea typeface="Microsoft YaHei"/>
              </a:rPr>
              <a:t>后续改进规划（</a:t>
            </a:r>
            <a:r>
              <a:rPr lang="en-US" altLang="zh-CN" sz="1100" kern="0" dirty="0">
                <a:solidFill>
                  <a:srgbClr val="C00000"/>
                </a:solidFill>
                <a:latin typeface=" 微软雅黑"/>
                <a:ea typeface="Microsoft YaHei"/>
              </a:rPr>
              <a:t>730</a:t>
            </a:r>
            <a:r>
              <a:rPr lang="zh-CN" altLang="en-US" sz="1100" kern="0" dirty="0">
                <a:solidFill>
                  <a:srgbClr val="C00000"/>
                </a:solidFill>
                <a:latin typeface=" 微软雅黑"/>
                <a:ea typeface="Microsoft YaHei"/>
              </a:rPr>
              <a:t>）：</a:t>
            </a:r>
            <a:r>
              <a:rPr lang="zh-CN" altLang="en-US" sz="1100" kern="0" dirty="0">
                <a:latin typeface=" 微软雅黑"/>
                <a:ea typeface="Microsoft YaHei"/>
              </a:rPr>
              <a:t>依赖自动化故障感知与故障信息自动化实时通报能力落地，实现从“人去盯”变成“自动化”。</a:t>
            </a:r>
            <a:endParaRPr lang="en-US" altLang="zh-CN" sz="1100" kern="0" dirty="0">
              <a:latin typeface=" 微软雅黑"/>
              <a:ea typeface="Microsoft YaHei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949B858D-4023-1454-94E5-55AEF173B628}"/>
              </a:ext>
            </a:extLst>
          </p:cNvPr>
          <p:cNvSpPr txBox="1"/>
          <p:nvPr/>
        </p:nvSpPr>
        <p:spPr>
          <a:xfrm>
            <a:off x="3987536" y="5070910"/>
            <a:ext cx="3852463" cy="769441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 微软雅黑"/>
                <a:ea typeface="Microsoft YaHei"/>
              </a:rPr>
              <a:t>主要更新点：</a:t>
            </a:r>
            <a:r>
              <a:rPr kumimoji="0" lang="zh-CN" altLang="en-US" sz="11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 微软雅黑"/>
                <a:ea typeface="Microsoft YaHei"/>
              </a:rPr>
              <a:t>在原有通报要求基础上，增加紧急问题“时效性”要求，增加首次通报定位思路通报要求； 增加看板直播要求</a:t>
            </a:r>
            <a:endParaRPr kumimoji="0" lang="en-US" altLang="zh-CN" sz="11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 微软雅黑"/>
              <a:ea typeface="Microsoft YaHei"/>
            </a:endParaRPr>
          </a:p>
          <a:p>
            <a:pPr marL="0" marR="0" lvl="0" indent="0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100" kern="0" dirty="0">
              <a:latin typeface=" 微软雅黑"/>
              <a:ea typeface="Microsoft YaHei"/>
            </a:endParaRP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5A4A4346-11D2-F749-A6A2-B2751EFDC6DF}"/>
              </a:ext>
            </a:extLst>
          </p:cNvPr>
          <p:cNvSpPr/>
          <p:nvPr/>
        </p:nvSpPr>
        <p:spPr>
          <a:xfrm>
            <a:off x="8078496" y="1495267"/>
            <a:ext cx="3778224" cy="4513447"/>
          </a:xfrm>
          <a:prstGeom prst="rect">
            <a:avLst/>
          </a:prstGeom>
          <a:noFill/>
          <a:ln>
            <a:solidFill>
              <a:schemeClr val="tx2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ED835B8E-CA0F-924C-38CD-6F82FC96BF6A}"/>
              </a:ext>
            </a:extLst>
          </p:cNvPr>
          <p:cNvSpPr txBox="1"/>
          <p:nvPr/>
        </p:nvSpPr>
        <p:spPr>
          <a:xfrm>
            <a:off x="9125001" y="1343049"/>
            <a:ext cx="1576618" cy="30777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Microsoft YaHei"/>
                <a:cs typeface="+mn-cs"/>
              </a:rPr>
              <a:t>2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Microsoft YaHei"/>
                <a:cs typeface="+mn-cs"/>
              </a:rPr>
              <a:t>月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Microsoft YaHei"/>
                <a:cs typeface="+mn-cs"/>
              </a:rPr>
              <a:t>-4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Microsoft YaHei"/>
                <a:cs typeface="+mn-cs"/>
              </a:rPr>
              <a:t>月问题总结</a:t>
            </a:r>
          </a:p>
        </p:txBody>
      </p:sp>
      <p:pic>
        <p:nvPicPr>
          <p:cNvPr id="100" name="图片 99">
            <a:extLst>
              <a:ext uri="{FF2B5EF4-FFF2-40B4-BE49-F238E27FC236}">
                <a16:creationId xmlns:a16="http://schemas.microsoft.com/office/drawing/2014/main" id="{EDA90E41-B1B2-7301-AFF4-CEE7C9E34A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7411" y="2165712"/>
            <a:ext cx="3524053" cy="1537898"/>
          </a:xfrm>
          <a:prstGeom prst="rect">
            <a:avLst/>
          </a:prstGeom>
        </p:spPr>
      </p:pic>
      <p:sp>
        <p:nvSpPr>
          <p:cNvPr id="101" name="文本框 100">
            <a:extLst>
              <a:ext uri="{FF2B5EF4-FFF2-40B4-BE49-F238E27FC236}">
                <a16:creationId xmlns:a16="http://schemas.microsoft.com/office/drawing/2014/main" id="{BF4BA341-2BE9-F512-C1BC-EC67F1A8EAB3}"/>
              </a:ext>
            </a:extLst>
          </p:cNvPr>
          <p:cNvSpPr txBox="1"/>
          <p:nvPr/>
        </p:nvSpPr>
        <p:spPr>
          <a:xfrm>
            <a:off x="219831" y="1909862"/>
            <a:ext cx="1225543" cy="26161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highlight>
                  <a:srgbClr val="FFFF00"/>
                </a:highlight>
                <a:uLnTx/>
                <a:uFillTx/>
                <a:latin typeface=" 微软雅黑"/>
                <a:ea typeface="Microsoft YaHei"/>
              </a:rPr>
              <a:t>SOP</a:t>
            </a:r>
            <a:r>
              <a:rPr lang="zh-CN" altLang="en-US" sz="1100" kern="0" dirty="0">
                <a:solidFill>
                  <a:srgbClr val="C00000"/>
                </a:solidFill>
                <a:highlight>
                  <a:srgbClr val="FFFF00"/>
                </a:highlight>
                <a:latin typeface=" 微软雅黑"/>
                <a:ea typeface="Microsoft YaHei"/>
              </a:rPr>
              <a:t>刷新</a:t>
            </a:r>
            <a:r>
              <a:rPr kumimoji="0" lang="zh-CN" altLang="en-US" sz="11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highlight>
                  <a:srgbClr val="FFFF00"/>
                </a:highlight>
                <a:uLnTx/>
                <a:uFillTx/>
                <a:latin typeface=" 微软雅黑"/>
                <a:ea typeface="Microsoft YaHei"/>
              </a:rPr>
              <a:t>：</a:t>
            </a:r>
            <a:endParaRPr lang="en-US" altLang="zh-CN" sz="1100" kern="0" dirty="0">
              <a:highlight>
                <a:srgbClr val="FFFF00"/>
              </a:highlight>
              <a:latin typeface=" 微软雅黑"/>
              <a:ea typeface="Microsoft YaHei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CDE3E4FF-8EB8-AC41-1E5C-E9257B9AAD88}"/>
              </a:ext>
            </a:extLst>
          </p:cNvPr>
          <p:cNvSpPr txBox="1"/>
          <p:nvPr/>
        </p:nvSpPr>
        <p:spPr>
          <a:xfrm>
            <a:off x="4073655" y="1909862"/>
            <a:ext cx="972436" cy="26161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highlight>
                  <a:srgbClr val="FFFF00"/>
                </a:highlight>
                <a:uLnTx/>
                <a:uFillTx/>
                <a:latin typeface=" 微软雅黑"/>
                <a:ea typeface="Microsoft YaHei"/>
              </a:rPr>
              <a:t>SOP</a:t>
            </a:r>
            <a:r>
              <a:rPr lang="zh-CN" altLang="en-US" sz="1100" kern="0" dirty="0">
                <a:solidFill>
                  <a:srgbClr val="C00000"/>
                </a:solidFill>
                <a:highlight>
                  <a:srgbClr val="FFFF00"/>
                </a:highlight>
                <a:latin typeface=" 微软雅黑"/>
                <a:ea typeface="Microsoft YaHei"/>
              </a:rPr>
              <a:t>刷新</a:t>
            </a:r>
            <a:r>
              <a:rPr kumimoji="0" lang="zh-CN" altLang="en-US" sz="11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highlight>
                  <a:srgbClr val="FFFF00"/>
                </a:highlight>
                <a:uLnTx/>
                <a:uFillTx/>
                <a:latin typeface=" 微软雅黑"/>
                <a:ea typeface="Microsoft YaHei"/>
              </a:rPr>
              <a:t>：</a:t>
            </a:r>
            <a:endParaRPr lang="en-US" altLang="zh-CN" sz="1100" kern="0" dirty="0">
              <a:highlight>
                <a:srgbClr val="FFFF00"/>
              </a:highlight>
              <a:latin typeface=" 微软雅黑"/>
              <a:ea typeface="Microsoft YaHei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0BA82700-E12D-6AC9-FBD7-E93AF08C8BB6}"/>
              </a:ext>
            </a:extLst>
          </p:cNvPr>
          <p:cNvSpPr txBox="1"/>
          <p:nvPr/>
        </p:nvSpPr>
        <p:spPr>
          <a:xfrm>
            <a:off x="8195831" y="1951942"/>
            <a:ext cx="1025775" cy="26161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highlight>
                  <a:srgbClr val="FFFF00"/>
                </a:highlight>
                <a:uLnTx/>
                <a:uFillTx/>
                <a:latin typeface=" 微软雅黑"/>
                <a:ea typeface="Microsoft YaHei"/>
              </a:rPr>
              <a:t>SOP</a:t>
            </a:r>
            <a:r>
              <a:rPr lang="zh-CN" altLang="en-US" sz="1100" kern="0" dirty="0">
                <a:solidFill>
                  <a:srgbClr val="C00000"/>
                </a:solidFill>
                <a:highlight>
                  <a:srgbClr val="FFFF00"/>
                </a:highlight>
                <a:latin typeface=" 微软雅黑"/>
                <a:ea typeface="Microsoft YaHei"/>
              </a:rPr>
              <a:t>刷新</a:t>
            </a:r>
            <a:r>
              <a:rPr kumimoji="0" lang="zh-CN" altLang="en-US" sz="11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highlight>
                  <a:srgbClr val="FFFF00"/>
                </a:highlight>
                <a:uLnTx/>
                <a:uFillTx/>
                <a:latin typeface=" 微软雅黑"/>
                <a:ea typeface="Microsoft YaHei"/>
              </a:rPr>
              <a:t>：</a:t>
            </a:r>
            <a:endParaRPr lang="en-US" altLang="zh-CN" sz="1100" kern="0" dirty="0">
              <a:highlight>
                <a:srgbClr val="FFFF00"/>
              </a:highlight>
              <a:latin typeface=" 微软雅黑"/>
              <a:ea typeface="Microsoft YaHei"/>
            </a:endParaRPr>
          </a:p>
        </p:txBody>
      </p:sp>
      <p:pic>
        <p:nvPicPr>
          <p:cNvPr id="107" name="图片 106">
            <a:extLst>
              <a:ext uri="{FF2B5EF4-FFF2-40B4-BE49-F238E27FC236}">
                <a16:creationId xmlns:a16="http://schemas.microsoft.com/office/drawing/2014/main" id="{EC148C4A-A988-E164-D2F7-FAF0C30A23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0489" y="2249013"/>
            <a:ext cx="3661431" cy="2289473"/>
          </a:xfrm>
          <a:prstGeom prst="rect">
            <a:avLst/>
          </a:prstGeom>
        </p:spPr>
      </p:pic>
      <p:sp>
        <p:nvSpPr>
          <p:cNvPr id="108" name="文本框 107">
            <a:extLst>
              <a:ext uri="{FF2B5EF4-FFF2-40B4-BE49-F238E27FC236}">
                <a16:creationId xmlns:a16="http://schemas.microsoft.com/office/drawing/2014/main" id="{6B3042EE-E948-5FE4-99AF-D6BE275CBEFB}"/>
              </a:ext>
            </a:extLst>
          </p:cNvPr>
          <p:cNvSpPr txBox="1"/>
          <p:nvPr/>
        </p:nvSpPr>
        <p:spPr>
          <a:xfrm>
            <a:off x="8195831" y="5039596"/>
            <a:ext cx="3524053" cy="93871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defTabSz="914478">
              <a:defRPr/>
            </a:pPr>
            <a:r>
              <a:rPr kumimoji="0" lang="zh-CN" altLang="en-US" sz="11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 微软雅黑"/>
                <a:ea typeface="Microsoft YaHei"/>
              </a:rPr>
              <a:t>主要更新点：</a:t>
            </a:r>
            <a:r>
              <a:rPr lang="zh-CN" altLang="en-US" sz="1100" dirty="0"/>
              <a:t>按组件维度汇总了近期蚂蚁</a:t>
            </a:r>
            <a:r>
              <a:rPr lang="en-US" altLang="zh-CN" sz="1100" dirty="0"/>
              <a:t>-</a:t>
            </a:r>
            <a:r>
              <a:rPr lang="en-US" altLang="zh-CN" sz="1100" dirty="0" err="1"/>
              <a:t>wh</a:t>
            </a:r>
            <a:r>
              <a:rPr lang="zh-CN" altLang="en-US" sz="1100" dirty="0"/>
              <a:t>联合研发在</a:t>
            </a:r>
            <a:r>
              <a:rPr lang="en-US" altLang="zh-CN" sz="1100" dirty="0"/>
              <a:t>A3/NPU</a:t>
            </a:r>
            <a:r>
              <a:rPr lang="zh-CN" altLang="en-US" sz="1100" dirty="0"/>
              <a:t>大模型推理链路上遇到的典型故障，逐条给出根因与修复方案</a:t>
            </a:r>
          </a:p>
          <a:p>
            <a:pPr marL="0" marR="0" lvl="0" indent="0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1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 微软雅黑"/>
              <a:ea typeface="Microsoft YaHei"/>
            </a:endParaRPr>
          </a:p>
          <a:p>
            <a:pPr marL="0" marR="0" lvl="0" indent="0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100" kern="0" dirty="0">
              <a:latin typeface=" 微软雅黑"/>
              <a:ea typeface="Microsoft YaHei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A11FA3D0-C5BD-B49D-1D73-07E870CA10F9}"/>
              </a:ext>
            </a:extLst>
          </p:cNvPr>
          <p:cNvSpPr txBox="1"/>
          <p:nvPr/>
        </p:nvSpPr>
        <p:spPr>
          <a:xfrm>
            <a:off x="136601" y="853199"/>
            <a:ext cx="8988400" cy="26161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 微软雅黑"/>
                <a:ea typeface="Microsoft YaHei"/>
              </a:rPr>
              <a:t>在原有特战队作战阵型、问题拉群、基础设施问题同步、问题通报与闭环新增了如下更新：</a:t>
            </a:r>
            <a:endParaRPr lang="en-US" altLang="zh-CN" sz="1100" kern="0" dirty="0">
              <a:latin typeface=" 微软雅黑"/>
              <a:ea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5B139ED-2D40-9E94-993B-B915DF6F873C}"/>
              </a:ext>
            </a:extLst>
          </p:cNvPr>
          <p:cNvSpPr/>
          <p:nvPr/>
        </p:nvSpPr>
        <p:spPr>
          <a:xfrm>
            <a:off x="9521687" y="6086740"/>
            <a:ext cx="3498574" cy="10495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8BF388-751E-0C97-5F7A-0DD5F728A32B}"/>
              </a:ext>
            </a:extLst>
          </p:cNvPr>
          <p:cNvSpPr/>
          <p:nvPr/>
        </p:nvSpPr>
        <p:spPr>
          <a:xfrm>
            <a:off x="9967608" y="6160932"/>
            <a:ext cx="1729409" cy="5924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7661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ACF920D-546F-CD07-FDE3-580BBAC8B361}"/>
              </a:ext>
            </a:extLst>
          </p:cNvPr>
          <p:cNvSpPr/>
          <p:nvPr/>
        </p:nvSpPr>
        <p:spPr>
          <a:xfrm>
            <a:off x="138983" y="96141"/>
            <a:ext cx="11377631" cy="60711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defTabSz="1216660">
              <a:defRPr/>
            </a:pPr>
            <a:r>
              <a:rPr lang="zh-CN" altLang="en-US" sz="24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典型问题</a:t>
            </a:r>
            <a:r>
              <a:rPr lang="en-US" altLang="zh-CN" sz="24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GLM-5 </a:t>
            </a:r>
            <a:r>
              <a:rPr lang="zh-CN" altLang="en-US" sz="24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上下文污染问题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9969D2A-FB67-019A-6A0D-38220236AE10}"/>
              </a:ext>
            </a:extLst>
          </p:cNvPr>
          <p:cNvSpPr/>
          <p:nvPr/>
        </p:nvSpPr>
        <p:spPr bwMode="auto">
          <a:xfrm>
            <a:off x="129384" y="852362"/>
            <a:ext cx="911733" cy="994503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>
            <a:solidFill>
              <a:sysClr val="window" lastClr="FFFFFF">
                <a:lumMod val="65000"/>
              </a:sysClr>
            </a:solidFill>
          </a:ln>
        </p:spPr>
        <p:txBody>
          <a:bodyPr wrap="square" lIns="95852" rIns="95852" rtlCol="0" anchor="ctr" anchorCtr="0">
            <a:noAutofit/>
          </a:bodyPr>
          <a:lstStyle/>
          <a:p>
            <a:pPr marL="285115" indent="-285115" algn="ctr" defTabSz="1043940" eaLnBrk="0" fontAlgn="base" hangingPunct="0">
              <a:spcBef>
                <a:spcPct val="0"/>
              </a:spcBef>
              <a:spcAft>
                <a:spcPts val="800"/>
              </a:spcAft>
              <a:defRPr/>
            </a:pPr>
            <a:r>
              <a:rPr lang="zh-CN" altLang="en-US" sz="1595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endParaRPr lang="en-US" altLang="zh-CN" sz="1595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115" indent="-285115" algn="ctr" defTabSz="1043940" eaLnBrk="0" fontAlgn="base" hangingPunct="0">
              <a:spcBef>
                <a:spcPct val="0"/>
              </a:spcBef>
              <a:spcAft>
                <a:spcPts val="800"/>
              </a:spcAft>
              <a:defRPr/>
            </a:pPr>
            <a:r>
              <a:rPr lang="zh-CN" altLang="en-US" sz="1595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</a:t>
            </a:r>
            <a:endParaRPr lang="en-US" altLang="zh-CN" sz="1595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C68835-8829-3680-A661-18EAE8BEEA7F}"/>
              </a:ext>
            </a:extLst>
          </p:cNvPr>
          <p:cNvSpPr/>
          <p:nvPr/>
        </p:nvSpPr>
        <p:spPr bwMode="auto">
          <a:xfrm>
            <a:off x="1147277" y="863503"/>
            <a:ext cx="10880913" cy="976025"/>
          </a:xfrm>
          <a:prstGeom prst="rect">
            <a:avLst/>
          </a:prstGeom>
          <a:noFill/>
          <a:ln w="952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vert="horz" wrap="square" lIns="121696" tIns="60848" rIns="121696" bIns="60848" numCol="1" rtlCol="0" anchor="ctr" anchorCtr="0" compatLnSpc="1"/>
          <a:lstStyle/>
          <a:p>
            <a:pPr>
              <a:defRPr/>
            </a:pPr>
            <a:endParaRPr lang="en-US" altLang="zh-CN" sz="14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43C8372-A237-F91D-2170-DD571BF3E342}"/>
              </a:ext>
            </a:extLst>
          </p:cNvPr>
          <p:cNvSpPr txBox="1"/>
          <p:nvPr/>
        </p:nvSpPr>
        <p:spPr>
          <a:xfrm>
            <a:off x="1258072" y="1083630"/>
            <a:ext cx="10367493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 330 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版本中，本地 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Claude Code 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 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GLM-5 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偶现上下文错乱，出现别人的提示词运行结果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83507B-919E-DF0E-15A2-14B5F64DF51C}"/>
              </a:ext>
            </a:extLst>
          </p:cNvPr>
          <p:cNvSpPr/>
          <p:nvPr/>
        </p:nvSpPr>
        <p:spPr bwMode="auto">
          <a:xfrm>
            <a:off x="129383" y="1995967"/>
            <a:ext cx="911733" cy="994503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>
            <a:solidFill>
              <a:sysClr val="window" lastClr="FFFFFF">
                <a:lumMod val="65000"/>
              </a:sysClr>
            </a:solidFill>
          </a:ln>
        </p:spPr>
        <p:txBody>
          <a:bodyPr wrap="square" lIns="95852" rIns="95852" rtlCol="0" anchor="ctr" anchorCtr="0">
            <a:noAutofit/>
          </a:bodyPr>
          <a:lstStyle/>
          <a:p>
            <a:pPr marL="285115" indent="-285115" algn="ctr" defTabSz="1043940" eaLnBrk="0" fontAlgn="base" hangingPunct="0">
              <a:spcBef>
                <a:spcPct val="0"/>
              </a:spcBef>
              <a:spcAft>
                <a:spcPts val="800"/>
              </a:spcAft>
              <a:defRPr/>
            </a:pPr>
            <a:r>
              <a:rPr lang="zh-CN" altLang="en-US" sz="1595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endParaRPr lang="en-US" altLang="zh-CN" sz="1595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115" indent="-285115" algn="ctr" defTabSz="1043940" eaLnBrk="0" fontAlgn="base" hangingPunct="0">
              <a:spcBef>
                <a:spcPct val="0"/>
              </a:spcBef>
              <a:spcAft>
                <a:spcPts val="800"/>
              </a:spcAft>
              <a:defRPr/>
            </a:pPr>
            <a:r>
              <a:rPr lang="zh-CN" altLang="en-US" sz="1595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现象</a:t>
            </a:r>
            <a:endParaRPr lang="en-US" altLang="zh-CN" sz="1595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B423FEB-99AC-73EA-B7FA-2607746EAD3F}"/>
              </a:ext>
            </a:extLst>
          </p:cNvPr>
          <p:cNvSpPr/>
          <p:nvPr/>
        </p:nvSpPr>
        <p:spPr bwMode="auto">
          <a:xfrm>
            <a:off x="1147277" y="2030827"/>
            <a:ext cx="10880913" cy="976025"/>
          </a:xfrm>
          <a:prstGeom prst="rect">
            <a:avLst/>
          </a:prstGeom>
          <a:noFill/>
          <a:ln w="952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vert="horz" wrap="square" lIns="121696" tIns="60848" rIns="121696" bIns="60848" numCol="1" rtlCol="0" anchor="ctr" anchorCtr="0" compatLnSpc="1"/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污染现象只出现在某一个</a:t>
            </a:r>
            <a:r>
              <a:rPr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pod</a:t>
            </a:r>
            <a:r>
              <a:rPr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实例中，且并发数普遍在</a:t>
            </a:r>
            <a:r>
              <a:rPr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4~5</a:t>
            </a:r>
            <a:r>
              <a:rPr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个左右</a:t>
            </a:r>
            <a:endParaRPr lang="en-US" altLang="zh-CN" sz="14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</a:t>
            </a:r>
            <a:r>
              <a:rPr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token </a:t>
            </a:r>
            <a:r>
              <a:rPr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阶段就有污染现象，同时与污染源处于同一个 </a:t>
            </a:r>
            <a:r>
              <a:rPr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batch </a:t>
            </a:r>
            <a:r>
              <a:rPr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里，有</a:t>
            </a:r>
            <a:r>
              <a:rPr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个请求上下位都受到污染，发现一个规律：污染源的 </a:t>
            </a:r>
            <a:r>
              <a:rPr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decode </a:t>
            </a:r>
            <a:r>
              <a:rPr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的阶段与其他</a:t>
            </a:r>
            <a:r>
              <a:rPr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个被污染的请求的 </a:t>
            </a:r>
            <a:r>
              <a:rPr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prefill </a:t>
            </a:r>
            <a:r>
              <a:rPr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阶段有时间上的重叠</a:t>
            </a:r>
            <a:endParaRPr lang="en-US" altLang="zh-CN" sz="14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箭头连接符 5">
            <a:extLst>
              <a:ext uri="{FF2B5EF4-FFF2-40B4-BE49-F238E27FC236}">
                <a16:creationId xmlns:a16="http://schemas.microsoft.com/office/drawing/2014/main" id="{448C63F9-F934-333A-AF9C-93F761D5AE50}"/>
              </a:ext>
            </a:extLst>
          </p:cNvPr>
          <p:cNvCxnSpPr/>
          <p:nvPr/>
        </p:nvCxnSpPr>
        <p:spPr>
          <a:xfrm>
            <a:off x="669860" y="3500346"/>
            <a:ext cx="11228862" cy="0"/>
          </a:xfrm>
          <a:prstGeom prst="straightConnector1">
            <a:avLst/>
          </a:prstGeom>
          <a:noFill/>
          <a:ln w="571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3" name="椭圆 17">
            <a:extLst>
              <a:ext uri="{FF2B5EF4-FFF2-40B4-BE49-F238E27FC236}">
                <a16:creationId xmlns:a16="http://schemas.microsoft.com/office/drawing/2014/main" id="{2C50AA47-23E5-9A44-00E9-1091912FD3BC}"/>
              </a:ext>
            </a:extLst>
          </p:cNvPr>
          <p:cNvSpPr/>
          <p:nvPr/>
        </p:nvSpPr>
        <p:spPr>
          <a:xfrm>
            <a:off x="3050695" y="3402194"/>
            <a:ext cx="219370" cy="219370"/>
          </a:xfrm>
          <a:prstGeom prst="ellipse">
            <a:avLst/>
          </a:prstGeom>
          <a:solidFill>
            <a:srgbClr val="4BACC6">
              <a:lumMod val="40000"/>
              <a:lumOff val="60000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b" anchorCtr="0">
            <a:noAutofit/>
          </a:bodyPr>
          <a:lstStyle/>
          <a:p>
            <a:pPr algn="ctr" defTabSz="1217295">
              <a:buClr>
                <a:srgbClr val="C00000"/>
              </a:buClr>
              <a:tabLst>
                <a:tab pos="455930" algn="l"/>
              </a:tabLst>
              <a:defRPr/>
            </a:pPr>
            <a:endParaRPr lang="zh-CN" altLang="en-US" sz="1400" b="1" kern="0" dirty="0" err="1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14" name="椭圆 18">
            <a:extLst>
              <a:ext uri="{FF2B5EF4-FFF2-40B4-BE49-F238E27FC236}">
                <a16:creationId xmlns:a16="http://schemas.microsoft.com/office/drawing/2014/main" id="{F289F617-0A86-EBA9-D534-E9208BAE65FC}"/>
              </a:ext>
            </a:extLst>
          </p:cNvPr>
          <p:cNvSpPr/>
          <p:nvPr/>
        </p:nvSpPr>
        <p:spPr>
          <a:xfrm>
            <a:off x="1422665" y="3390224"/>
            <a:ext cx="219370" cy="219370"/>
          </a:xfrm>
          <a:prstGeom prst="ellipse">
            <a:avLst/>
          </a:prstGeom>
          <a:solidFill>
            <a:srgbClr val="4BACC6">
              <a:lumMod val="40000"/>
              <a:lumOff val="60000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b" anchorCtr="0">
            <a:noAutofit/>
          </a:bodyPr>
          <a:lstStyle/>
          <a:p>
            <a:pPr algn="ctr" defTabSz="1217295">
              <a:buClr>
                <a:srgbClr val="C00000"/>
              </a:buClr>
              <a:tabLst>
                <a:tab pos="455930" algn="l"/>
              </a:tabLst>
              <a:defRPr/>
            </a:pPr>
            <a:endParaRPr lang="zh-CN" altLang="en-US" sz="1400" b="1" kern="0" dirty="0" err="1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15" name="椭圆 19">
            <a:extLst>
              <a:ext uri="{FF2B5EF4-FFF2-40B4-BE49-F238E27FC236}">
                <a16:creationId xmlns:a16="http://schemas.microsoft.com/office/drawing/2014/main" id="{1FBB1226-E16F-C84A-0B01-6E7769A6A313}"/>
              </a:ext>
            </a:extLst>
          </p:cNvPr>
          <p:cNvSpPr/>
          <p:nvPr/>
        </p:nvSpPr>
        <p:spPr>
          <a:xfrm>
            <a:off x="7946144" y="3394536"/>
            <a:ext cx="219370" cy="219370"/>
          </a:xfrm>
          <a:prstGeom prst="ellipse">
            <a:avLst/>
          </a:prstGeom>
          <a:solidFill>
            <a:srgbClr val="4BACC6">
              <a:lumMod val="40000"/>
              <a:lumOff val="60000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b" anchorCtr="0">
            <a:noAutofit/>
          </a:bodyPr>
          <a:lstStyle/>
          <a:p>
            <a:pPr algn="ctr" defTabSz="1217295">
              <a:buClr>
                <a:srgbClr val="C00000"/>
              </a:buClr>
              <a:tabLst>
                <a:tab pos="455930" algn="l"/>
              </a:tabLst>
              <a:defRPr/>
            </a:pPr>
            <a:endParaRPr lang="zh-CN" altLang="en-US" sz="1400" b="1" kern="0" dirty="0" err="1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16" name="椭圆 19">
            <a:extLst>
              <a:ext uri="{FF2B5EF4-FFF2-40B4-BE49-F238E27FC236}">
                <a16:creationId xmlns:a16="http://schemas.microsoft.com/office/drawing/2014/main" id="{D10C0F87-EA38-49E1-A490-DFD4CD7F9DC8}"/>
              </a:ext>
            </a:extLst>
          </p:cNvPr>
          <p:cNvSpPr/>
          <p:nvPr/>
        </p:nvSpPr>
        <p:spPr>
          <a:xfrm>
            <a:off x="5253927" y="3355283"/>
            <a:ext cx="219370" cy="219370"/>
          </a:xfrm>
          <a:prstGeom prst="ellipse">
            <a:avLst/>
          </a:prstGeom>
          <a:solidFill>
            <a:srgbClr val="4BACC6">
              <a:lumMod val="40000"/>
              <a:lumOff val="60000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b" anchorCtr="0">
            <a:noAutofit/>
          </a:bodyPr>
          <a:lstStyle/>
          <a:p>
            <a:pPr algn="ctr" defTabSz="1217295">
              <a:buClr>
                <a:srgbClr val="C00000"/>
              </a:buClr>
              <a:tabLst>
                <a:tab pos="455930" algn="l"/>
              </a:tabLst>
              <a:defRPr/>
            </a:pPr>
            <a:endParaRPr lang="zh-CN" altLang="en-US" sz="1400" b="1" kern="0" dirty="0" err="1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17" name="椭圆 19">
            <a:extLst>
              <a:ext uri="{FF2B5EF4-FFF2-40B4-BE49-F238E27FC236}">
                <a16:creationId xmlns:a16="http://schemas.microsoft.com/office/drawing/2014/main" id="{DD02D6CE-4282-B767-BDC1-11F4CEC5764F}"/>
              </a:ext>
            </a:extLst>
          </p:cNvPr>
          <p:cNvSpPr/>
          <p:nvPr/>
        </p:nvSpPr>
        <p:spPr>
          <a:xfrm>
            <a:off x="10638362" y="3378407"/>
            <a:ext cx="219370" cy="219370"/>
          </a:xfrm>
          <a:prstGeom prst="ellipse">
            <a:avLst/>
          </a:prstGeom>
          <a:solidFill>
            <a:srgbClr val="4BACC6">
              <a:lumMod val="40000"/>
              <a:lumOff val="60000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b" anchorCtr="0">
            <a:noAutofit/>
          </a:bodyPr>
          <a:lstStyle/>
          <a:p>
            <a:pPr algn="ctr" defTabSz="1217295">
              <a:buClr>
                <a:srgbClr val="C00000"/>
              </a:buClr>
              <a:tabLst>
                <a:tab pos="455930" algn="l"/>
              </a:tabLst>
              <a:defRPr/>
            </a:pPr>
            <a:endParaRPr lang="zh-CN" altLang="en-US" sz="1400" b="1" kern="0" dirty="0" err="1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18" name="Rectangle 54">
            <a:extLst>
              <a:ext uri="{FF2B5EF4-FFF2-40B4-BE49-F238E27FC236}">
                <a16:creationId xmlns:a16="http://schemas.microsoft.com/office/drawing/2014/main" id="{7787FCA3-3039-B4A5-58EB-4407596EA1B4}"/>
              </a:ext>
            </a:extLst>
          </p:cNvPr>
          <p:cNvSpPr/>
          <p:nvPr/>
        </p:nvSpPr>
        <p:spPr>
          <a:xfrm>
            <a:off x="1189070" y="3070102"/>
            <a:ext cx="6014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3/18</a:t>
            </a:r>
            <a:endParaRPr lang="zh-CN" altLang="en-US" sz="140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sp>
        <p:nvSpPr>
          <p:cNvPr id="19" name="Rectangle 54">
            <a:extLst>
              <a:ext uri="{FF2B5EF4-FFF2-40B4-BE49-F238E27FC236}">
                <a16:creationId xmlns:a16="http://schemas.microsoft.com/office/drawing/2014/main" id="{9C370783-A237-A75B-BDEA-8CAC6AF933B9}"/>
              </a:ext>
            </a:extLst>
          </p:cNvPr>
          <p:cNvSpPr/>
          <p:nvPr/>
        </p:nvSpPr>
        <p:spPr>
          <a:xfrm>
            <a:off x="2831867" y="3070631"/>
            <a:ext cx="6014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3/20</a:t>
            </a:r>
            <a:endParaRPr lang="zh-CN" altLang="en-US" sz="140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sp>
        <p:nvSpPr>
          <p:cNvPr id="20" name="Rectangle 54">
            <a:extLst>
              <a:ext uri="{FF2B5EF4-FFF2-40B4-BE49-F238E27FC236}">
                <a16:creationId xmlns:a16="http://schemas.microsoft.com/office/drawing/2014/main" id="{93A78963-49FF-1555-2195-D298B9E17501}"/>
              </a:ext>
            </a:extLst>
          </p:cNvPr>
          <p:cNvSpPr/>
          <p:nvPr/>
        </p:nvSpPr>
        <p:spPr>
          <a:xfrm>
            <a:off x="5007586" y="3064672"/>
            <a:ext cx="6014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3/24</a:t>
            </a:r>
            <a:endParaRPr lang="zh-CN" altLang="en-US" sz="140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sp>
        <p:nvSpPr>
          <p:cNvPr id="21" name="Rectangle 54">
            <a:extLst>
              <a:ext uri="{FF2B5EF4-FFF2-40B4-BE49-F238E27FC236}">
                <a16:creationId xmlns:a16="http://schemas.microsoft.com/office/drawing/2014/main" id="{5E9759C1-B49A-3C89-6809-A6B06BE9BD5C}"/>
              </a:ext>
            </a:extLst>
          </p:cNvPr>
          <p:cNvSpPr/>
          <p:nvPr/>
        </p:nvSpPr>
        <p:spPr>
          <a:xfrm>
            <a:off x="7755106" y="3075628"/>
            <a:ext cx="6014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3/26</a:t>
            </a:r>
            <a:endParaRPr lang="zh-CN" altLang="en-US" sz="140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sp>
        <p:nvSpPr>
          <p:cNvPr id="22" name="Rectangle 54">
            <a:extLst>
              <a:ext uri="{FF2B5EF4-FFF2-40B4-BE49-F238E27FC236}">
                <a16:creationId xmlns:a16="http://schemas.microsoft.com/office/drawing/2014/main" id="{B8846DEF-1676-973C-1237-84D968F32C3B}"/>
              </a:ext>
            </a:extLst>
          </p:cNvPr>
          <p:cNvSpPr/>
          <p:nvPr/>
        </p:nvSpPr>
        <p:spPr>
          <a:xfrm>
            <a:off x="10392021" y="3063974"/>
            <a:ext cx="6014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000000"/>
                </a:solidFill>
                <a:latin typeface="微软雅黑"/>
                <a:ea typeface="微软雅黑"/>
              </a:rPr>
              <a:t>3/27</a:t>
            </a:r>
            <a:endParaRPr lang="zh-CN" altLang="en-US" sz="1400" b="1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ED9F906-82E1-C975-0889-1E55AC5764BB}"/>
              </a:ext>
            </a:extLst>
          </p:cNvPr>
          <p:cNvSpPr txBox="1"/>
          <p:nvPr/>
        </p:nvSpPr>
        <p:spPr>
          <a:xfrm>
            <a:off x="-36172" y="3767486"/>
            <a:ext cx="1906877" cy="1680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Step1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尝试复现问题</a:t>
            </a:r>
            <a:endParaRPr lang="en-US" altLang="zh-CN" sz="1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根据问题现象和经验列举怀疑点：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Prefix Cache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污染和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与异步调度叠加</a:t>
            </a:r>
            <a:endParaRPr lang="en-US" altLang="zh-CN" sz="10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同时向线上服务实例并发两个显著不同的问题，未发现污染现象</a:t>
            </a:r>
            <a:endParaRPr lang="en-US" altLang="zh-CN" sz="10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6E9654D-BA8C-8B23-61E7-A0D63C8CB835}"/>
              </a:ext>
            </a:extLst>
          </p:cNvPr>
          <p:cNvSpPr txBox="1"/>
          <p:nvPr/>
        </p:nvSpPr>
        <p:spPr>
          <a:xfrm>
            <a:off x="1991413" y="3731239"/>
            <a:ext cx="2137439" cy="1680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Step 2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尝试构造复现条件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构造两个不同的请求，不间断的往线上服务实例发送请求，使得两个请求出现在一个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batch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中，且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prefill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decode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阶段在时间上有重叠，通过泳道图确认构造成功，但是并未复现污染现象</a:t>
            </a:r>
            <a:endParaRPr lang="en-US" altLang="zh-CN" sz="10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938920C-510E-D715-5B66-BED2A6905627}"/>
              </a:ext>
            </a:extLst>
          </p:cNvPr>
          <p:cNvSpPr txBox="1"/>
          <p:nvPr/>
        </p:nvSpPr>
        <p:spPr>
          <a:xfrm>
            <a:off x="4221676" y="3731239"/>
            <a:ext cx="2031111" cy="1680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Step 3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尝试</a:t>
            </a:r>
            <a:r>
              <a:rPr lang="en-US" altLang="zh-CN" sz="1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bfcl</a:t>
            </a:r>
            <a:r>
              <a:rPr lang="zh-CN" altLang="en-US" sz="1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数据集复现</a:t>
            </a:r>
            <a:endParaRPr lang="en-US" altLang="zh-CN" sz="1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由于</a:t>
            </a:r>
            <a:r>
              <a:rPr lang="en-US" altLang="zh-CN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Claude Code </a:t>
            </a:r>
            <a:r>
              <a:rPr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调用默认使用 </a:t>
            </a:r>
            <a:r>
              <a:rPr lang="en-US" altLang="zh-CN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function </a:t>
            </a:r>
            <a:r>
              <a:rPr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功能，而且线上服务开启了 </a:t>
            </a:r>
            <a:r>
              <a:rPr lang="en-US" altLang="zh-CN" sz="1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fcgw</a:t>
            </a:r>
            <a:r>
              <a:rPr lang="en-US" altLang="zh-CN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工具调用组件，所以尝试用 </a:t>
            </a:r>
            <a:r>
              <a:rPr lang="en-US" altLang="zh-CN" sz="1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bfcl</a:t>
            </a:r>
            <a:r>
              <a:rPr lang="en-US" altLang="zh-CN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数据集来做复现，并未发现有污染现象</a:t>
            </a:r>
            <a:endParaRPr lang="en-US" altLang="zh-CN" sz="10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6A40995-242B-4BC6-5BC0-F8EA2AE411E2}"/>
              </a:ext>
            </a:extLst>
          </p:cNvPr>
          <p:cNvSpPr txBox="1"/>
          <p:nvPr/>
        </p:nvSpPr>
        <p:spPr>
          <a:xfrm>
            <a:off x="6345611" y="3741711"/>
            <a:ext cx="2728583" cy="1680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Step 4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1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cc</a:t>
            </a:r>
            <a:r>
              <a:rPr lang="zh-CN" altLang="en-US" sz="1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并发工具成功复现</a:t>
            </a:r>
            <a:endParaRPr lang="en-US" altLang="zh-CN" sz="1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 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Claude 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真实场景，使用多 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Claude 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实例并发工具测试</a:t>
            </a:r>
            <a:endParaRPr lang="en-US" altLang="zh-CN" sz="10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Claude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实例，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并发每个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Claude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轮对话，当前复现了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个上下文污染。在第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Claude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实例混入了第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Claude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实例的信息</a:t>
            </a:r>
            <a:endParaRPr lang="zh-CN" altLang="en-US" sz="1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46285CCB-E3EB-602E-B13D-5F37522EE5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0165" y="3828531"/>
            <a:ext cx="2924216" cy="2742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7457" tIns="0" rIns="17457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50000"/>
              </a:lnSpc>
              <a:defRPr/>
            </a:pP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Step 5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污染现象根因分析</a:t>
            </a:r>
            <a:endParaRPr lang="en-US" altLang="zh-CN" sz="1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分析也怀疑是 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 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async scheduling 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特性冲突，且线上实际并未关闭异步调度（必须指定</a:t>
            </a:r>
            <a:r>
              <a:rPr lang="en-US" altLang="zh-CN" sz="1000" dirty="0">
                <a:solidFill>
                  <a:prstClr val="black"/>
                </a:solidFill>
                <a:ea typeface="等线" panose="02010600030101010101" pitchFamily="2" charset="-122"/>
              </a:rPr>
              <a:t> --no-async-scheduling </a:t>
            </a:r>
            <a:r>
              <a:rPr lang="zh-CN" altLang="en-US" sz="1000" dirty="0">
                <a:solidFill>
                  <a:prstClr val="black"/>
                </a:solidFill>
                <a:ea typeface="等线" panose="02010600030101010101" pitchFamily="2" charset="-122"/>
              </a:rPr>
              <a:t>才能关闭异步调度</a:t>
            </a:r>
            <a:r>
              <a:rPr lang="en-US" altLang="zh-CN" sz="1000" dirty="0">
                <a:solidFill>
                  <a:prstClr val="black"/>
                </a:solidFill>
                <a:ea typeface="等线" panose="02010600030101010101" pitchFamily="2" charset="-122"/>
              </a:rPr>
              <a:t> 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）。结合社区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，最终根因：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vllm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的逻辑：非最后一个 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 rank 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不再从 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scheduler 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拿 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new_token_ids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，而是依赖 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 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内部的 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sampled token 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同步机制内仓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vllm-ascend 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代码里没有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</a:t>
            </a:r>
            <a:r>
              <a:rPr lang="en-US" altLang="zh-CN" sz="10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pp_broadcast_prev_sampled_token_ids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这段逻辑，也没有</a:t>
            </a:r>
            <a:r>
              <a:rPr lang="en-US" altLang="zh-CN" sz="10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sample_tokens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 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 </a:t>
            </a:r>
            <a:r>
              <a:rPr lang="en-US" altLang="zh-CN" sz="10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execute_model_state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is None 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的分支里，像上游那样先接收 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 sampled token 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再返回</a:t>
            </a:r>
            <a:endParaRPr lang="en-US" altLang="zh-CN" sz="10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CA2D7C9-0291-65C3-A6A8-F19CD5DBE16D}"/>
              </a:ext>
            </a:extLst>
          </p:cNvPr>
          <p:cNvSpPr txBox="1"/>
          <p:nvPr/>
        </p:nvSpPr>
        <p:spPr>
          <a:xfrm>
            <a:off x="128278" y="3264528"/>
            <a:ext cx="1016584" cy="42179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>
            <a:solidFill>
              <a:sysClr val="window" lastClr="FFFFFF">
                <a:lumMod val="65000"/>
              </a:sysClr>
            </a:solidFill>
          </a:ln>
        </p:spPr>
        <p:txBody>
          <a:bodyPr wrap="square" lIns="95889" rIns="95889" rtlCol="0" anchor="ctr" anchorCtr="0">
            <a:noAutofit/>
          </a:bodyPr>
          <a:lstStyle>
            <a:defPPr>
              <a:defRPr lang="zh-CN"/>
            </a:defPPr>
            <a:lvl1pPr marL="213995" indent="-213995" defTabSz="784225" eaLnBrk="0" hangingPunct="0">
              <a:lnSpc>
                <a:spcPct val="110000"/>
              </a:lnSpc>
              <a:spcAft>
                <a:spcPts val="600"/>
              </a:spcAft>
              <a:defRPr sz="1400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fontAlgn="base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1600" dirty="0"/>
              <a:t>定位过程</a:t>
            </a:r>
            <a:endParaRPr lang="en-US" altLang="zh-CN" sz="1600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3271A84-1C72-E91A-36A9-FA2B5724831E}"/>
              </a:ext>
            </a:extLst>
          </p:cNvPr>
          <p:cNvSpPr/>
          <p:nvPr/>
        </p:nvSpPr>
        <p:spPr bwMode="auto">
          <a:xfrm>
            <a:off x="129382" y="5482988"/>
            <a:ext cx="911733" cy="1127363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>
            <a:solidFill>
              <a:sysClr val="window" lastClr="FFFFFF">
                <a:lumMod val="65000"/>
              </a:sysClr>
            </a:solidFill>
          </a:ln>
        </p:spPr>
        <p:txBody>
          <a:bodyPr wrap="square" lIns="95852" rIns="95852" rtlCol="0" anchor="ctr" anchorCtr="0">
            <a:noAutofit/>
          </a:bodyPr>
          <a:lstStyle/>
          <a:p>
            <a:pPr marL="285115" indent="-285115" algn="ctr" defTabSz="1043940" eaLnBrk="0" fontAlgn="base" hangingPunct="0">
              <a:spcBef>
                <a:spcPct val="0"/>
              </a:spcBef>
              <a:spcAft>
                <a:spcPts val="800"/>
              </a:spcAft>
              <a:defRPr/>
            </a:pPr>
            <a:r>
              <a:rPr lang="zh-CN" altLang="en-US" sz="1595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经验</a:t>
            </a:r>
            <a:endParaRPr lang="en-US" altLang="zh-CN" sz="1595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115" indent="-285115" algn="ctr" defTabSz="1043940" eaLnBrk="0" fontAlgn="base" hangingPunct="0">
              <a:spcBef>
                <a:spcPct val="0"/>
              </a:spcBef>
              <a:spcAft>
                <a:spcPts val="800"/>
              </a:spcAft>
              <a:defRPr/>
            </a:pPr>
            <a:r>
              <a:rPr lang="zh-CN" altLang="en-US" sz="1595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en-US" altLang="zh-CN" sz="1595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A490287-A548-A3AE-80CD-2AA0BD681D4B}"/>
              </a:ext>
            </a:extLst>
          </p:cNvPr>
          <p:cNvSpPr/>
          <p:nvPr/>
        </p:nvSpPr>
        <p:spPr bwMode="auto">
          <a:xfrm>
            <a:off x="1147277" y="5482988"/>
            <a:ext cx="7926917" cy="1127363"/>
          </a:xfrm>
          <a:prstGeom prst="rect">
            <a:avLst/>
          </a:prstGeom>
          <a:noFill/>
          <a:ln w="952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vert="horz" wrap="square" lIns="121696" tIns="60848" rIns="121696" bIns="60848" numCol="1" rtlCol="0" anchor="ctr" anchorCtr="0" compatLnSpc="1"/>
          <a:lstStyle/>
          <a:p>
            <a:pPr>
              <a:defRPr/>
            </a:pPr>
            <a:endParaRPr lang="en-US" altLang="zh-CN" sz="14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9BFAAD4-75B2-3C3A-7A30-247A670E9638}"/>
              </a:ext>
            </a:extLst>
          </p:cNvPr>
          <p:cNvSpPr txBox="1"/>
          <p:nvPr/>
        </p:nvSpPr>
        <p:spPr>
          <a:xfrm>
            <a:off x="1177072" y="5763670"/>
            <a:ext cx="7965100" cy="524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rgbClr val="1D1D1A"/>
                </a:solidFill>
                <a:latin typeface="Calibri"/>
                <a:ea typeface="等线" panose="02010600030101010101" pitchFamily="2" charset="-122"/>
              </a:rPr>
              <a:t>同步社区信息：</a:t>
            </a:r>
            <a:r>
              <a:rPr lang="zh-CN" altLang="en-US" sz="1200" dirty="0">
                <a:solidFill>
                  <a:prstClr val="black"/>
                </a:solidFill>
                <a:latin typeface="等线" panose="02110004020202020204"/>
                <a:ea typeface="等线" panose="02010600030101010101" pitchFamily="2" charset="-122"/>
              </a:rPr>
              <a:t>关注社区</a:t>
            </a:r>
            <a:r>
              <a:rPr lang="en-US" altLang="zh-CN" sz="1200" dirty="0">
                <a:solidFill>
                  <a:prstClr val="black"/>
                </a:solidFill>
                <a:latin typeface="等线" panose="02110004020202020204"/>
                <a:ea typeface="等线" panose="02010600030101010101" pitchFamily="2" charset="-122"/>
              </a:rPr>
              <a:t>Bugfix</a:t>
            </a:r>
            <a:r>
              <a:rPr lang="zh-CN" altLang="en-US" sz="1200" dirty="0">
                <a:solidFill>
                  <a:prstClr val="black"/>
                </a:solidFill>
                <a:latin typeface="等线" panose="02110004020202020204"/>
                <a:ea typeface="等线" panose="02010600030101010101" pitchFamily="2" charset="-122"/>
              </a:rPr>
              <a:t>，及时同步社区</a:t>
            </a:r>
            <a:r>
              <a:rPr lang="en-US" altLang="zh-CN" sz="1200" dirty="0">
                <a:solidFill>
                  <a:prstClr val="black"/>
                </a:solidFill>
                <a:latin typeface="等线" panose="02110004020202020204"/>
                <a:ea typeface="等线" panose="02010600030101010101" pitchFamily="2" charset="-122"/>
              </a:rPr>
              <a:t>PR</a:t>
            </a:r>
            <a:r>
              <a:rPr lang="zh-CN" altLang="en-US" sz="1200" dirty="0">
                <a:solidFill>
                  <a:prstClr val="black"/>
                </a:solidFill>
                <a:latin typeface="等线" panose="02110004020202020204"/>
                <a:ea typeface="等线" panose="02010600030101010101" pitchFamily="2" charset="-122"/>
              </a:rPr>
              <a:t>（利用</a:t>
            </a:r>
            <a:r>
              <a:rPr lang="en-US" altLang="zh-CN" sz="1200" dirty="0">
                <a:solidFill>
                  <a:prstClr val="black"/>
                </a:solidFill>
                <a:latin typeface="等线" panose="02110004020202020204"/>
                <a:ea typeface="等线" panose="02010600030101010101" pitchFamily="2" charset="-122"/>
              </a:rPr>
              <a:t>AI</a:t>
            </a:r>
            <a:r>
              <a:rPr lang="zh-CN" altLang="en-US" sz="1200" dirty="0">
                <a:solidFill>
                  <a:prstClr val="black"/>
                </a:solidFill>
                <a:latin typeface="等线" panose="02110004020202020204"/>
                <a:ea typeface="等线" panose="02010600030101010101" pitchFamily="2" charset="-122"/>
              </a:rPr>
              <a:t>自动化）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200" b="1" dirty="0">
                <a:solidFill>
                  <a:srgbClr val="1D1D1A"/>
                </a:solidFill>
                <a:latin typeface="Calibri"/>
                <a:ea typeface="等线" panose="02010600030101010101" pitchFamily="2" charset="-122"/>
              </a:rPr>
              <a:t>AI </a:t>
            </a:r>
            <a:r>
              <a:rPr lang="zh-CN" altLang="en-US" sz="1200" b="1" dirty="0">
                <a:solidFill>
                  <a:srgbClr val="1D1D1A"/>
                </a:solidFill>
                <a:latin typeface="Calibri"/>
                <a:ea typeface="等线" panose="02010600030101010101" pitchFamily="2" charset="-122"/>
              </a:rPr>
              <a:t>分析工具：</a:t>
            </a:r>
            <a:r>
              <a:rPr lang="zh-CN" altLang="en-US" sz="1200" dirty="0">
                <a:solidFill>
                  <a:srgbClr val="1D1D1A"/>
                </a:solidFill>
                <a:latin typeface="Calibri"/>
                <a:ea typeface="等线" panose="02010600030101010101" pitchFamily="2" charset="-122"/>
              </a:rPr>
              <a:t>使用更先进的大模型分析代码，相信</a:t>
            </a:r>
            <a:r>
              <a:rPr lang="en-US" altLang="zh-CN" sz="1200" dirty="0">
                <a:solidFill>
                  <a:srgbClr val="1D1D1A"/>
                </a:solidFill>
                <a:latin typeface="Calibri"/>
                <a:ea typeface="等线" panose="02010600030101010101" pitchFamily="2" charset="-122"/>
              </a:rPr>
              <a:t>AI</a:t>
            </a:r>
            <a:r>
              <a:rPr lang="zh-CN" altLang="en-US" sz="1200" dirty="0">
                <a:solidFill>
                  <a:srgbClr val="1D1D1A"/>
                </a:solidFill>
                <a:latin typeface="Calibri"/>
                <a:ea typeface="等线" panose="02010600030101010101" pitchFamily="2" charset="-122"/>
              </a:rPr>
              <a:t>分析的结果</a:t>
            </a:r>
            <a:endParaRPr lang="zh-CN" altLang="en-US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E08C8CC1-FED4-557C-4308-E1B1C8AC4E02}"/>
              </a:ext>
            </a:extLst>
          </p:cNvPr>
          <p:cNvSpPr/>
          <p:nvPr/>
        </p:nvSpPr>
        <p:spPr bwMode="auto">
          <a:xfrm>
            <a:off x="31807" y="3780652"/>
            <a:ext cx="1869316" cy="1625356"/>
          </a:xfrm>
          <a:prstGeom prst="roundRect">
            <a:avLst/>
          </a:prstGeom>
          <a:noFill/>
          <a:ln w="9525" cap="flat" cmpd="sng" algn="ctr">
            <a:solidFill>
              <a:sysClr val="windowText" lastClr="000000"/>
            </a:solidFill>
            <a:prstDash val="dashDot"/>
            <a:round/>
            <a:headEnd type="none" w="med" len="med"/>
            <a:tailEnd type="none" w="med" len="med"/>
          </a:ln>
        </p:spPr>
        <p:txBody>
          <a:bodyPr vert="horz" wrap="square" lIns="79200" tIns="39600" rIns="79200" bIns="39600" numCol="1" rtlCol="0" anchor="t" anchorCtr="0" compatLnSpc="1">
            <a:noAutofit/>
          </a:bodyPr>
          <a:lstStyle/>
          <a:p>
            <a:pPr defTabSz="802005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 dirty="0">
              <a:ln>
                <a:solidFill>
                  <a:prstClr val="black"/>
                </a:solidFill>
                <a:prstDash val="sysDash"/>
              </a:ln>
              <a:solidFill>
                <a:srgbClr val="000000"/>
              </a:solidFill>
              <a:latin typeface="FrutigerNext LT Regular" pitchFamily="34" charset="0"/>
              <a:ea typeface="MS PGothic" panose="020B0600070205080204" pitchFamily="34" charset="-128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14BCEB2F-BFE4-5B55-4A41-67BE9BBFE581}"/>
              </a:ext>
            </a:extLst>
          </p:cNvPr>
          <p:cNvSpPr/>
          <p:nvPr/>
        </p:nvSpPr>
        <p:spPr bwMode="auto">
          <a:xfrm>
            <a:off x="1963528" y="3771367"/>
            <a:ext cx="2165324" cy="1634641"/>
          </a:xfrm>
          <a:prstGeom prst="roundRect">
            <a:avLst/>
          </a:prstGeom>
          <a:noFill/>
          <a:ln w="9525" cap="flat" cmpd="sng" algn="ctr">
            <a:solidFill>
              <a:sysClr val="windowText" lastClr="000000"/>
            </a:solidFill>
            <a:prstDash val="dashDot"/>
            <a:round/>
            <a:headEnd type="none" w="med" len="med"/>
            <a:tailEnd type="none" w="med" len="med"/>
          </a:ln>
        </p:spPr>
        <p:txBody>
          <a:bodyPr vert="horz" wrap="square" lIns="79200" tIns="39600" rIns="79200" bIns="39600" numCol="1" rtlCol="0" anchor="t" anchorCtr="0" compatLnSpc="1">
            <a:noAutofit/>
          </a:bodyPr>
          <a:lstStyle/>
          <a:p>
            <a:pPr defTabSz="802005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 dirty="0">
              <a:ln>
                <a:solidFill>
                  <a:prstClr val="black"/>
                </a:solidFill>
                <a:prstDash val="sysDash"/>
              </a:ln>
              <a:solidFill>
                <a:srgbClr val="000000"/>
              </a:solidFill>
              <a:latin typeface="FrutigerNext LT Regular" pitchFamily="34" charset="0"/>
              <a:ea typeface="MS PGothic" panose="020B0600070205080204" pitchFamily="34" charset="-128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80DF849F-F545-34FF-A9FD-9221C408E721}"/>
              </a:ext>
            </a:extLst>
          </p:cNvPr>
          <p:cNvSpPr/>
          <p:nvPr/>
        </p:nvSpPr>
        <p:spPr bwMode="auto">
          <a:xfrm>
            <a:off x="6345611" y="3772336"/>
            <a:ext cx="2728583" cy="1631846"/>
          </a:xfrm>
          <a:prstGeom prst="roundRect">
            <a:avLst/>
          </a:prstGeom>
          <a:noFill/>
          <a:ln w="9525" cap="flat" cmpd="sng" algn="ctr">
            <a:solidFill>
              <a:sysClr val="windowText" lastClr="000000"/>
            </a:solidFill>
            <a:prstDash val="dashDot"/>
            <a:round/>
            <a:headEnd type="none" w="med" len="med"/>
            <a:tailEnd type="none" w="med" len="med"/>
          </a:ln>
        </p:spPr>
        <p:txBody>
          <a:bodyPr vert="horz" wrap="square" lIns="79200" tIns="39600" rIns="79200" bIns="39600" numCol="1" rtlCol="0" anchor="t" anchorCtr="0" compatLnSpc="1">
            <a:noAutofit/>
          </a:bodyPr>
          <a:lstStyle/>
          <a:p>
            <a:pPr defTabSz="802005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 dirty="0">
              <a:ln>
                <a:solidFill>
                  <a:prstClr val="black"/>
                </a:solidFill>
                <a:prstDash val="sysDash"/>
              </a:ln>
              <a:solidFill>
                <a:srgbClr val="000000"/>
              </a:solidFill>
              <a:latin typeface="FrutigerNext LT Regular" pitchFamily="34" charset="0"/>
              <a:ea typeface="MS PGothic" panose="020B0600070205080204" pitchFamily="34" charset="-128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71E49BB5-CB0C-87BA-D56D-B49A4D6F283A}"/>
              </a:ext>
            </a:extLst>
          </p:cNvPr>
          <p:cNvSpPr/>
          <p:nvPr/>
        </p:nvSpPr>
        <p:spPr bwMode="auto">
          <a:xfrm>
            <a:off x="4221675" y="3774157"/>
            <a:ext cx="2031112" cy="1631849"/>
          </a:xfrm>
          <a:prstGeom prst="roundRect">
            <a:avLst/>
          </a:prstGeom>
          <a:noFill/>
          <a:ln w="9525" cap="flat" cmpd="sng" algn="ctr">
            <a:solidFill>
              <a:sysClr val="windowText" lastClr="000000"/>
            </a:solidFill>
            <a:prstDash val="dashDot"/>
            <a:round/>
            <a:headEnd type="none" w="med" len="med"/>
            <a:tailEnd type="none" w="med" len="med"/>
          </a:ln>
        </p:spPr>
        <p:txBody>
          <a:bodyPr vert="horz" wrap="square" lIns="79200" tIns="39600" rIns="79200" bIns="39600" numCol="1" rtlCol="0" anchor="t" anchorCtr="0" compatLnSpc="1">
            <a:noAutofit/>
          </a:bodyPr>
          <a:lstStyle/>
          <a:p>
            <a:pPr defTabSz="802005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 dirty="0">
              <a:ln>
                <a:solidFill>
                  <a:prstClr val="black"/>
                </a:solidFill>
                <a:prstDash val="sysDash"/>
              </a:ln>
              <a:solidFill>
                <a:srgbClr val="000000"/>
              </a:solidFill>
              <a:latin typeface="FrutigerNext LT Regular" pitchFamily="34" charset="0"/>
              <a:ea typeface="MS PGothic" panose="020B0600070205080204" pitchFamily="34" charset="-128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EA9F68AF-4182-A7C5-2F4A-63ADEDD52072}"/>
              </a:ext>
            </a:extLst>
          </p:cNvPr>
          <p:cNvSpPr/>
          <p:nvPr/>
        </p:nvSpPr>
        <p:spPr bwMode="auto">
          <a:xfrm>
            <a:off x="9142173" y="3774162"/>
            <a:ext cx="3022783" cy="2813753"/>
          </a:xfrm>
          <a:prstGeom prst="roundRect">
            <a:avLst/>
          </a:prstGeom>
          <a:noFill/>
          <a:ln w="9525" cap="flat" cmpd="sng" algn="ctr">
            <a:solidFill>
              <a:sysClr val="windowText" lastClr="000000"/>
            </a:solidFill>
            <a:prstDash val="dashDot"/>
            <a:round/>
            <a:headEnd type="none" w="med" len="med"/>
            <a:tailEnd type="none" w="med" len="med"/>
          </a:ln>
        </p:spPr>
        <p:txBody>
          <a:bodyPr vert="horz" wrap="square" lIns="79200" tIns="39600" rIns="79200" bIns="39600" numCol="1" rtlCol="0" anchor="t" anchorCtr="0" compatLnSpc="1">
            <a:noAutofit/>
          </a:bodyPr>
          <a:lstStyle/>
          <a:p>
            <a:pPr defTabSz="802005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 dirty="0">
              <a:ln>
                <a:solidFill>
                  <a:prstClr val="black"/>
                </a:solidFill>
                <a:prstDash val="sysDash"/>
              </a:ln>
              <a:solidFill>
                <a:srgbClr val="000000"/>
              </a:solidFill>
              <a:latin typeface="FrutigerNext LT Regular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00110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ACF920D-546F-CD07-FDE3-580BBAC8B361}"/>
              </a:ext>
            </a:extLst>
          </p:cNvPr>
          <p:cNvSpPr/>
          <p:nvPr/>
        </p:nvSpPr>
        <p:spPr>
          <a:xfrm>
            <a:off x="138983" y="96141"/>
            <a:ext cx="11377631" cy="60711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defTabSz="1216660">
              <a:defRPr/>
            </a:pPr>
            <a:r>
              <a:rPr lang="zh-CN" altLang="en-US" sz="24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典型问题</a:t>
            </a:r>
            <a:r>
              <a:rPr lang="en-US" altLang="zh-CN" sz="24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qwen3-coder-30B A3</a:t>
            </a:r>
            <a:r>
              <a:rPr lang="zh-CN" altLang="en-US" sz="24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部署利用率低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9969D2A-FB67-019A-6A0D-38220236AE10}"/>
              </a:ext>
            </a:extLst>
          </p:cNvPr>
          <p:cNvSpPr/>
          <p:nvPr/>
        </p:nvSpPr>
        <p:spPr bwMode="auto">
          <a:xfrm>
            <a:off x="129384" y="852362"/>
            <a:ext cx="911733" cy="994503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>
            <a:solidFill>
              <a:sysClr val="window" lastClr="FFFFFF">
                <a:lumMod val="65000"/>
              </a:sysClr>
            </a:solidFill>
          </a:ln>
        </p:spPr>
        <p:txBody>
          <a:bodyPr wrap="square" lIns="95852" rIns="95852" rtlCol="0" anchor="ctr" anchorCtr="0">
            <a:noAutofit/>
          </a:bodyPr>
          <a:lstStyle/>
          <a:p>
            <a:pPr marL="285115" indent="-285115" algn="ctr" defTabSz="1043940" eaLnBrk="0" fontAlgn="base" hangingPunct="0">
              <a:spcBef>
                <a:spcPct val="0"/>
              </a:spcBef>
              <a:spcAft>
                <a:spcPts val="800"/>
              </a:spcAft>
              <a:defRPr/>
            </a:pPr>
            <a:r>
              <a:rPr lang="zh-CN" altLang="en-US" sz="1595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endParaRPr lang="en-US" altLang="zh-CN" sz="1595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115" indent="-285115" algn="ctr" defTabSz="1043940" eaLnBrk="0" fontAlgn="base" hangingPunct="0">
              <a:spcBef>
                <a:spcPct val="0"/>
              </a:spcBef>
              <a:spcAft>
                <a:spcPts val="800"/>
              </a:spcAft>
              <a:defRPr/>
            </a:pPr>
            <a:r>
              <a:rPr lang="zh-CN" altLang="en-US" sz="1595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</a:t>
            </a:r>
            <a:endParaRPr lang="en-US" altLang="zh-CN" sz="1595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C68835-8829-3680-A661-18EAE8BEEA7F}"/>
              </a:ext>
            </a:extLst>
          </p:cNvPr>
          <p:cNvSpPr/>
          <p:nvPr/>
        </p:nvSpPr>
        <p:spPr bwMode="auto">
          <a:xfrm>
            <a:off x="1147277" y="863503"/>
            <a:ext cx="10880913" cy="976025"/>
          </a:xfrm>
          <a:prstGeom prst="rect">
            <a:avLst/>
          </a:prstGeom>
          <a:noFill/>
          <a:ln w="952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vert="horz" wrap="square" lIns="121696" tIns="60848" rIns="121696" bIns="60848" numCol="1" rtlCol="0" anchor="ctr" anchorCtr="0" compatLnSpc="1"/>
          <a:lstStyle/>
          <a:p>
            <a:pPr>
              <a:defRPr/>
            </a:pPr>
            <a:endParaRPr lang="en-US" altLang="zh-CN" sz="14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43C8372-A237-F91D-2170-DD571BF3E342}"/>
              </a:ext>
            </a:extLst>
          </p:cNvPr>
          <p:cNvSpPr txBox="1"/>
          <p:nvPr/>
        </p:nvSpPr>
        <p:spPr>
          <a:xfrm>
            <a:off x="1258072" y="1140813"/>
            <a:ext cx="10367493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 1130 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版本中，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qwen3-coder-30b-a3b 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模型在客户跑批业务中检测到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NPU 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利用率低，影响到业务结算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83507B-919E-DF0E-15A2-14B5F64DF51C}"/>
              </a:ext>
            </a:extLst>
          </p:cNvPr>
          <p:cNvSpPr/>
          <p:nvPr/>
        </p:nvSpPr>
        <p:spPr bwMode="auto">
          <a:xfrm>
            <a:off x="129383" y="1995967"/>
            <a:ext cx="911733" cy="994503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>
            <a:solidFill>
              <a:sysClr val="window" lastClr="FFFFFF">
                <a:lumMod val="65000"/>
              </a:sysClr>
            </a:solidFill>
          </a:ln>
        </p:spPr>
        <p:txBody>
          <a:bodyPr wrap="square" lIns="95852" rIns="95852" rtlCol="0" anchor="ctr" anchorCtr="0">
            <a:noAutofit/>
          </a:bodyPr>
          <a:lstStyle/>
          <a:p>
            <a:pPr marL="285115" indent="-285115" algn="ctr" defTabSz="1043940" eaLnBrk="0" fontAlgn="base" hangingPunct="0">
              <a:spcBef>
                <a:spcPct val="0"/>
              </a:spcBef>
              <a:spcAft>
                <a:spcPts val="800"/>
              </a:spcAft>
              <a:defRPr/>
            </a:pPr>
            <a:r>
              <a:rPr lang="zh-CN" altLang="en-US" sz="1595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endParaRPr lang="en-US" altLang="zh-CN" sz="1595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115" indent="-285115" algn="ctr" defTabSz="1043940" eaLnBrk="0" fontAlgn="base" hangingPunct="0">
              <a:spcBef>
                <a:spcPct val="0"/>
              </a:spcBef>
              <a:spcAft>
                <a:spcPts val="800"/>
              </a:spcAft>
              <a:defRPr/>
            </a:pPr>
            <a:r>
              <a:rPr lang="zh-CN" altLang="en-US" sz="1595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现象</a:t>
            </a:r>
            <a:endParaRPr lang="en-US" altLang="zh-CN" sz="1595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B423FEB-99AC-73EA-B7FA-2607746EAD3F}"/>
              </a:ext>
            </a:extLst>
          </p:cNvPr>
          <p:cNvSpPr/>
          <p:nvPr/>
        </p:nvSpPr>
        <p:spPr bwMode="auto">
          <a:xfrm>
            <a:off x="1147277" y="2030827"/>
            <a:ext cx="10880913" cy="976025"/>
          </a:xfrm>
          <a:prstGeom prst="rect">
            <a:avLst/>
          </a:prstGeom>
          <a:noFill/>
          <a:ln w="952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vert="horz" wrap="square" lIns="121696" tIns="60848" rIns="121696" bIns="60848" numCol="1" rtlCol="0" anchor="ctr" anchorCtr="0" compatLnSpc="1"/>
          <a:lstStyle/>
          <a:p>
            <a:pPr>
              <a:defRPr/>
            </a:pPr>
            <a:endParaRPr lang="en-US" altLang="zh-CN" sz="14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ED88DC2-B2A6-A291-A72B-FD2ECBCFAD41}"/>
              </a:ext>
            </a:extLst>
          </p:cNvPr>
          <p:cNvSpPr txBox="1"/>
          <p:nvPr/>
        </p:nvSpPr>
        <p:spPr>
          <a:xfrm>
            <a:off x="1258071" y="2246173"/>
            <a:ext cx="9599661" cy="377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Ant Monitor </a:t>
            </a:r>
            <a:r>
              <a:rPr lang="zh-CN" altLang="en-US" sz="14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监控 </a:t>
            </a:r>
            <a:r>
              <a:rPr lang="en-US" altLang="zh-CN" sz="14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NPU </a:t>
            </a:r>
            <a:r>
              <a:rPr lang="zh-CN" altLang="en-US" sz="14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平均利用率不足 </a:t>
            </a:r>
            <a:r>
              <a:rPr lang="en-US" altLang="zh-CN" sz="14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20%</a:t>
            </a:r>
            <a:r>
              <a:rPr lang="zh-CN" altLang="en-US" sz="14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，低于正常水平，且波动较大，同时 </a:t>
            </a:r>
            <a:r>
              <a:rPr lang="en-US" altLang="zh-CN" sz="14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KVCache</a:t>
            </a:r>
            <a:r>
              <a:rPr lang="en-US" altLang="zh-CN" sz="14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的利用率在 </a:t>
            </a:r>
            <a:r>
              <a:rPr lang="en-US" altLang="zh-CN" sz="14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80% </a:t>
            </a:r>
            <a:r>
              <a:rPr lang="zh-CN" altLang="en-US" sz="14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以上</a:t>
            </a:r>
            <a:endParaRPr lang="en-US" altLang="zh-CN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箭头连接符 5">
            <a:extLst>
              <a:ext uri="{FF2B5EF4-FFF2-40B4-BE49-F238E27FC236}">
                <a16:creationId xmlns:a16="http://schemas.microsoft.com/office/drawing/2014/main" id="{448C63F9-F934-333A-AF9C-93F761D5AE50}"/>
              </a:ext>
            </a:extLst>
          </p:cNvPr>
          <p:cNvCxnSpPr/>
          <p:nvPr/>
        </p:nvCxnSpPr>
        <p:spPr>
          <a:xfrm>
            <a:off x="669860" y="3500346"/>
            <a:ext cx="11228862" cy="0"/>
          </a:xfrm>
          <a:prstGeom prst="straightConnector1">
            <a:avLst/>
          </a:prstGeom>
          <a:noFill/>
          <a:ln w="571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" name="椭圆 18">
            <a:extLst>
              <a:ext uri="{FF2B5EF4-FFF2-40B4-BE49-F238E27FC236}">
                <a16:creationId xmlns:a16="http://schemas.microsoft.com/office/drawing/2014/main" id="{F289F617-0A86-EBA9-D534-E9208BAE65FC}"/>
              </a:ext>
            </a:extLst>
          </p:cNvPr>
          <p:cNvSpPr/>
          <p:nvPr/>
        </p:nvSpPr>
        <p:spPr>
          <a:xfrm>
            <a:off x="1422665" y="3390224"/>
            <a:ext cx="219370" cy="219370"/>
          </a:xfrm>
          <a:prstGeom prst="ellipse">
            <a:avLst/>
          </a:prstGeom>
          <a:solidFill>
            <a:srgbClr val="4BACC6">
              <a:lumMod val="40000"/>
              <a:lumOff val="60000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b" anchorCtr="0">
            <a:noAutofit/>
          </a:bodyPr>
          <a:lstStyle/>
          <a:p>
            <a:pPr algn="ctr" defTabSz="1217295">
              <a:buClr>
                <a:srgbClr val="C00000"/>
              </a:buClr>
              <a:tabLst>
                <a:tab pos="455930" algn="l"/>
              </a:tabLst>
              <a:defRPr/>
            </a:pPr>
            <a:endParaRPr lang="zh-CN" altLang="en-US" sz="1400" b="1" kern="0" dirty="0" err="1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15" name="椭圆 19">
            <a:extLst>
              <a:ext uri="{FF2B5EF4-FFF2-40B4-BE49-F238E27FC236}">
                <a16:creationId xmlns:a16="http://schemas.microsoft.com/office/drawing/2014/main" id="{1FBB1226-E16F-C84A-0B01-6E7769A6A313}"/>
              </a:ext>
            </a:extLst>
          </p:cNvPr>
          <p:cNvSpPr/>
          <p:nvPr/>
        </p:nvSpPr>
        <p:spPr>
          <a:xfrm>
            <a:off x="7000124" y="3394536"/>
            <a:ext cx="219370" cy="219370"/>
          </a:xfrm>
          <a:prstGeom prst="ellipse">
            <a:avLst/>
          </a:prstGeom>
          <a:solidFill>
            <a:srgbClr val="4BACC6">
              <a:lumMod val="40000"/>
              <a:lumOff val="60000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b" anchorCtr="0">
            <a:noAutofit/>
          </a:bodyPr>
          <a:lstStyle/>
          <a:p>
            <a:pPr algn="ctr" defTabSz="1217295">
              <a:buClr>
                <a:srgbClr val="C00000"/>
              </a:buClr>
              <a:tabLst>
                <a:tab pos="455930" algn="l"/>
              </a:tabLst>
              <a:defRPr/>
            </a:pPr>
            <a:endParaRPr lang="zh-CN" altLang="en-US" sz="1400" b="1" kern="0" dirty="0" err="1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16" name="椭圆 19">
            <a:extLst>
              <a:ext uri="{FF2B5EF4-FFF2-40B4-BE49-F238E27FC236}">
                <a16:creationId xmlns:a16="http://schemas.microsoft.com/office/drawing/2014/main" id="{D10C0F87-EA38-49E1-A490-DFD4CD7F9DC8}"/>
              </a:ext>
            </a:extLst>
          </p:cNvPr>
          <p:cNvSpPr/>
          <p:nvPr/>
        </p:nvSpPr>
        <p:spPr>
          <a:xfrm>
            <a:off x="4294798" y="3394536"/>
            <a:ext cx="219370" cy="219370"/>
          </a:xfrm>
          <a:prstGeom prst="ellipse">
            <a:avLst/>
          </a:prstGeom>
          <a:solidFill>
            <a:srgbClr val="4BACC6">
              <a:lumMod val="40000"/>
              <a:lumOff val="60000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b" anchorCtr="0">
            <a:noAutofit/>
          </a:bodyPr>
          <a:lstStyle/>
          <a:p>
            <a:pPr algn="ctr" defTabSz="1217295">
              <a:buClr>
                <a:srgbClr val="C00000"/>
              </a:buClr>
              <a:tabLst>
                <a:tab pos="455930" algn="l"/>
              </a:tabLst>
              <a:defRPr/>
            </a:pPr>
            <a:endParaRPr lang="zh-CN" altLang="en-US" sz="1400" b="1" kern="0" dirty="0" err="1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17" name="椭圆 19">
            <a:extLst>
              <a:ext uri="{FF2B5EF4-FFF2-40B4-BE49-F238E27FC236}">
                <a16:creationId xmlns:a16="http://schemas.microsoft.com/office/drawing/2014/main" id="{DD02D6CE-4282-B767-BDC1-11F4CEC5764F}"/>
              </a:ext>
            </a:extLst>
          </p:cNvPr>
          <p:cNvSpPr/>
          <p:nvPr/>
        </p:nvSpPr>
        <p:spPr>
          <a:xfrm>
            <a:off x="10172650" y="3378408"/>
            <a:ext cx="219370" cy="219370"/>
          </a:xfrm>
          <a:prstGeom prst="ellipse">
            <a:avLst/>
          </a:prstGeom>
          <a:solidFill>
            <a:srgbClr val="4BACC6">
              <a:lumMod val="40000"/>
              <a:lumOff val="60000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b" anchorCtr="0">
            <a:noAutofit/>
          </a:bodyPr>
          <a:lstStyle/>
          <a:p>
            <a:pPr algn="ctr" defTabSz="1217295">
              <a:buClr>
                <a:srgbClr val="C00000"/>
              </a:buClr>
              <a:tabLst>
                <a:tab pos="455930" algn="l"/>
              </a:tabLst>
              <a:defRPr/>
            </a:pPr>
            <a:endParaRPr lang="zh-CN" altLang="en-US" sz="1400" b="1" kern="0" dirty="0" err="1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18" name="Rectangle 54">
            <a:extLst>
              <a:ext uri="{FF2B5EF4-FFF2-40B4-BE49-F238E27FC236}">
                <a16:creationId xmlns:a16="http://schemas.microsoft.com/office/drawing/2014/main" id="{7787FCA3-3039-B4A5-58EB-4407596EA1B4}"/>
              </a:ext>
            </a:extLst>
          </p:cNvPr>
          <p:cNvSpPr/>
          <p:nvPr/>
        </p:nvSpPr>
        <p:spPr>
          <a:xfrm>
            <a:off x="1231627" y="3088781"/>
            <a:ext cx="6014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4/08</a:t>
            </a:r>
            <a:endParaRPr lang="zh-CN" altLang="en-US" sz="140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sp>
        <p:nvSpPr>
          <p:cNvPr id="20" name="Rectangle 54">
            <a:extLst>
              <a:ext uri="{FF2B5EF4-FFF2-40B4-BE49-F238E27FC236}">
                <a16:creationId xmlns:a16="http://schemas.microsoft.com/office/drawing/2014/main" id="{93A78963-49FF-1555-2195-D298B9E17501}"/>
              </a:ext>
            </a:extLst>
          </p:cNvPr>
          <p:cNvSpPr/>
          <p:nvPr/>
        </p:nvSpPr>
        <p:spPr>
          <a:xfrm>
            <a:off x="4048457" y="3073462"/>
            <a:ext cx="6014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4/10</a:t>
            </a:r>
            <a:endParaRPr lang="zh-CN" altLang="en-US" sz="140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sp>
        <p:nvSpPr>
          <p:cNvPr id="21" name="Rectangle 54">
            <a:extLst>
              <a:ext uri="{FF2B5EF4-FFF2-40B4-BE49-F238E27FC236}">
                <a16:creationId xmlns:a16="http://schemas.microsoft.com/office/drawing/2014/main" id="{5E9759C1-B49A-3C89-6809-A6B06BE9BD5C}"/>
              </a:ext>
            </a:extLst>
          </p:cNvPr>
          <p:cNvSpPr/>
          <p:nvPr/>
        </p:nvSpPr>
        <p:spPr>
          <a:xfrm>
            <a:off x="6782136" y="3063974"/>
            <a:ext cx="6014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4/13</a:t>
            </a:r>
            <a:endParaRPr lang="zh-CN" altLang="en-US" sz="140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sp>
        <p:nvSpPr>
          <p:cNvPr id="22" name="Rectangle 54">
            <a:extLst>
              <a:ext uri="{FF2B5EF4-FFF2-40B4-BE49-F238E27FC236}">
                <a16:creationId xmlns:a16="http://schemas.microsoft.com/office/drawing/2014/main" id="{B8846DEF-1676-973C-1237-84D968F32C3B}"/>
              </a:ext>
            </a:extLst>
          </p:cNvPr>
          <p:cNvSpPr/>
          <p:nvPr/>
        </p:nvSpPr>
        <p:spPr>
          <a:xfrm>
            <a:off x="9981612" y="3044597"/>
            <a:ext cx="6014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000000"/>
                </a:solidFill>
                <a:latin typeface="微软雅黑"/>
                <a:ea typeface="微软雅黑"/>
              </a:rPr>
              <a:t>4/15</a:t>
            </a:r>
            <a:endParaRPr lang="zh-CN" altLang="en-US" sz="1400" b="1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ED9F906-82E1-C975-0889-1E55AC5764BB}"/>
              </a:ext>
            </a:extLst>
          </p:cNvPr>
          <p:cNvSpPr txBox="1"/>
          <p:nvPr/>
        </p:nvSpPr>
        <p:spPr>
          <a:xfrm>
            <a:off x="417965" y="3736166"/>
            <a:ext cx="2077376" cy="1680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Step1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线下复现采集</a:t>
            </a:r>
            <a:r>
              <a:rPr lang="en-US" altLang="zh-CN" sz="1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profiling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根据部署策略、线上实际输入输出和平均并发数，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vllm-benchmark 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模拟线上环境，并采集 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profiling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，用 </a:t>
            </a:r>
            <a:r>
              <a:rPr lang="fr-FR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npu-smi info -t usages -i 0 -c 0 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命令实际查看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NPU 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利用率 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90%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以上，并未复现</a:t>
            </a:r>
            <a:endParaRPr lang="en-US" altLang="zh-CN" sz="10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6E9654D-BA8C-8B23-61E7-A0D63C8CB835}"/>
              </a:ext>
            </a:extLst>
          </p:cNvPr>
          <p:cNvSpPr txBox="1"/>
          <p:nvPr/>
        </p:nvSpPr>
        <p:spPr>
          <a:xfrm>
            <a:off x="3104213" y="3730849"/>
            <a:ext cx="2381171" cy="1680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Step 2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怀疑</a:t>
            </a:r>
            <a:r>
              <a:rPr lang="en-US" altLang="zh-CN" sz="1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host</a:t>
            </a:r>
            <a:r>
              <a:rPr lang="zh-CN" altLang="en-US" sz="1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侧抢占</a:t>
            </a:r>
            <a:endParaRPr lang="en-US" altLang="zh-CN" sz="1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NPU 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利用率未 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cube + vector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，怀疑是</a:t>
            </a:r>
            <a:r>
              <a:rPr lang="en-US" altLang="zh-CN" sz="10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抢占导致问题</a:t>
            </a:r>
            <a:endParaRPr lang="en-US" altLang="zh-CN" sz="10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设计实验：一个物理机起四个容器，每个容器都可以使用全量的</a:t>
            </a:r>
            <a:r>
              <a:rPr lang="en-US" altLang="zh-CN" sz="10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个容器都起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qwen3-30b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的服务，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NPU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利用率为 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80%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以上，未复现</a:t>
            </a:r>
            <a:endParaRPr lang="en-US" altLang="zh-CN" sz="10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938920C-510E-D715-5B66-BED2A6905627}"/>
              </a:ext>
            </a:extLst>
          </p:cNvPr>
          <p:cNvSpPr txBox="1"/>
          <p:nvPr/>
        </p:nvSpPr>
        <p:spPr>
          <a:xfrm>
            <a:off x="6066370" y="3730849"/>
            <a:ext cx="2031111" cy="1911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Step 3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采集线上</a:t>
            </a:r>
            <a:r>
              <a:rPr lang="en-US" altLang="zh-CN" sz="1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profing</a:t>
            </a:r>
            <a:endParaRPr lang="en-US" altLang="zh-CN" sz="1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采集分析线上服务 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profiling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发现</a:t>
            </a:r>
            <a:r>
              <a:rPr lang="en-US" altLang="zh-CN" sz="10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ScatterElements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算子执行耗时过长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200ms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左右</a:t>
            </a:r>
            <a:endParaRPr lang="en-US" altLang="zh-CN" sz="10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采集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1500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条线上流量真实数据，并采集线下 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profiling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，发现有同样的问题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zh-CN" altLang="en-US" sz="10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6A40995-242B-4BC6-5BC0-F8EA2AE411E2}"/>
              </a:ext>
            </a:extLst>
          </p:cNvPr>
          <p:cNvSpPr txBox="1"/>
          <p:nvPr/>
        </p:nvSpPr>
        <p:spPr>
          <a:xfrm>
            <a:off x="8631611" y="3714719"/>
            <a:ext cx="2885003" cy="2142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Step 4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根因分析</a:t>
            </a:r>
            <a:endParaRPr lang="en-US" altLang="zh-CN" sz="1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0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ScatterElements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算子由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repeat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惩罚参数的</a:t>
            </a:r>
            <a:r>
              <a:rPr lang="en-US" altLang="zh-CN" sz="10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sactter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add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引入，使用的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int64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，这部分会走</a:t>
            </a:r>
            <a:r>
              <a:rPr lang="en-US" altLang="zh-CN" sz="10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aicpu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，当前利用率统计未包含</a:t>
            </a:r>
            <a:r>
              <a:rPr lang="en-US" altLang="zh-CN" sz="10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aicpu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计算单元，因此一些跑在</a:t>
            </a:r>
            <a:r>
              <a:rPr lang="en-US" altLang="zh-CN" sz="10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aicpu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上的是不会被统计，利用率显示为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，因此导致本次利用率较低</a:t>
            </a:r>
            <a:endParaRPr lang="en-US" altLang="zh-CN" sz="10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解决方案：修改相关代码使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scatter add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int32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，会走</a:t>
            </a:r>
            <a:r>
              <a:rPr lang="en-US" altLang="zh-CN" sz="10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aicore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，实际监控测试 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NPU 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利用率恢复到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70%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左右，符合业务要求</a:t>
            </a:r>
            <a:endParaRPr lang="zh-CN" altLang="en-US" sz="1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CA2D7C9-0291-65C3-A6A8-F19CD5DBE16D}"/>
              </a:ext>
            </a:extLst>
          </p:cNvPr>
          <p:cNvSpPr txBox="1"/>
          <p:nvPr/>
        </p:nvSpPr>
        <p:spPr>
          <a:xfrm>
            <a:off x="128278" y="3264528"/>
            <a:ext cx="1016584" cy="42179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>
            <a:solidFill>
              <a:sysClr val="window" lastClr="FFFFFF">
                <a:lumMod val="65000"/>
              </a:sysClr>
            </a:solidFill>
          </a:ln>
        </p:spPr>
        <p:txBody>
          <a:bodyPr wrap="square" lIns="95889" rIns="95889" rtlCol="0" anchor="ctr" anchorCtr="0">
            <a:noAutofit/>
          </a:bodyPr>
          <a:lstStyle>
            <a:defPPr>
              <a:defRPr lang="zh-CN"/>
            </a:defPPr>
            <a:lvl1pPr marL="213995" indent="-213995" defTabSz="784225" eaLnBrk="0" hangingPunct="0">
              <a:lnSpc>
                <a:spcPct val="110000"/>
              </a:lnSpc>
              <a:spcAft>
                <a:spcPts val="600"/>
              </a:spcAft>
              <a:defRPr sz="1400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fontAlgn="base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1600" dirty="0"/>
              <a:t>定位过程</a:t>
            </a:r>
            <a:endParaRPr lang="en-US" altLang="zh-CN" sz="1600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3271A84-1C72-E91A-36A9-FA2B5724831E}"/>
              </a:ext>
            </a:extLst>
          </p:cNvPr>
          <p:cNvSpPr/>
          <p:nvPr/>
        </p:nvSpPr>
        <p:spPr bwMode="auto">
          <a:xfrm>
            <a:off x="129382" y="5482988"/>
            <a:ext cx="911733" cy="1127363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>
            <a:solidFill>
              <a:sysClr val="window" lastClr="FFFFFF">
                <a:lumMod val="65000"/>
              </a:sysClr>
            </a:solidFill>
          </a:ln>
        </p:spPr>
        <p:txBody>
          <a:bodyPr wrap="square" lIns="95852" rIns="95852" rtlCol="0" anchor="ctr" anchorCtr="0">
            <a:noAutofit/>
          </a:bodyPr>
          <a:lstStyle/>
          <a:p>
            <a:pPr marL="285115" indent="-285115" algn="ctr" defTabSz="1043940" eaLnBrk="0" fontAlgn="base" hangingPunct="0">
              <a:spcBef>
                <a:spcPct val="0"/>
              </a:spcBef>
              <a:spcAft>
                <a:spcPts val="800"/>
              </a:spcAft>
              <a:defRPr/>
            </a:pPr>
            <a:r>
              <a:rPr lang="zh-CN" altLang="en-US" sz="1595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经验</a:t>
            </a:r>
            <a:endParaRPr lang="en-US" altLang="zh-CN" sz="1595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115" indent="-285115" algn="ctr" defTabSz="1043940" eaLnBrk="0" fontAlgn="base" hangingPunct="0">
              <a:spcBef>
                <a:spcPct val="0"/>
              </a:spcBef>
              <a:spcAft>
                <a:spcPts val="800"/>
              </a:spcAft>
              <a:defRPr/>
            </a:pPr>
            <a:r>
              <a:rPr lang="zh-CN" altLang="en-US" sz="1595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en-US" altLang="zh-CN" sz="1595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A490287-A548-A3AE-80CD-2AA0BD681D4B}"/>
              </a:ext>
            </a:extLst>
          </p:cNvPr>
          <p:cNvSpPr/>
          <p:nvPr/>
        </p:nvSpPr>
        <p:spPr bwMode="auto">
          <a:xfrm>
            <a:off x="1147277" y="5482988"/>
            <a:ext cx="7484334" cy="1127363"/>
          </a:xfrm>
          <a:prstGeom prst="rect">
            <a:avLst/>
          </a:prstGeom>
          <a:noFill/>
          <a:ln w="952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vert="horz" wrap="square" lIns="121696" tIns="60848" rIns="121696" bIns="60848" numCol="1" rtlCol="0" anchor="ctr" anchorCtr="0" compatLnSpc="1"/>
          <a:lstStyle/>
          <a:p>
            <a:pPr>
              <a:defRPr/>
            </a:pPr>
            <a:endParaRPr lang="en-US" altLang="zh-CN" sz="14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9BFAAD4-75B2-3C3A-7A30-247A670E9638}"/>
              </a:ext>
            </a:extLst>
          </p:cNvPr>
          <p:cNvSpPr txBox="1"/>
          <p:nvPr/>
        </p:nvSpPr>
        <p:spPr>
          <a:xfrm>
            <a:off x="1215258" y="5801671"/>
            <a:ext cx="7484334" cy="340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200" b="1" dirty="0">
                <a:solidFill>
                  <a:srgbClr val="1D1D1A"/>
                </a:solidFill>
                <a:latin typeface="Calibri"/>
                <a:ea typeface="等线" panose="02010600030101010101" pitchFamily="2" charset="-122"/>
              </a:rPr>
              <a:t>善用 </a:t>
            </a:r>
            <a:r>
              <a:rPr lang="en-US" altLang="zh-CN" sz="1200" b="1" dirty="0">
                <a:solidFill>
                  <a:srgbClr val="1D1D1A"/>
                </a:solidFill>
                <a:latin typeface="Calibri"/>
                <a:ea typeface="等线" panose="02010600030101010101" pitchFamily="2" charset="-122"/>
              </a:rPr>
              <a:t>profiling </a:t>
            </a:r>
            <a:r>
              <a:rPr lang="zh-CN" altLang="en-US" sz="1200" b="1" dirty="0">
                <a:solidFill>
                  <a:srgbClr val="1D1D1A"/>
                </a:solidFill>
                <a:latin typeface="Calibri"/>
                <a:ea typeface="等线" panose="02010600030101010101" pitchFamily="2" charset="-122"/>
              </a:rPr>
              <a:t>采集工具：运用线上 </a:t>
            </a:r>
            <a:r>
              <a:rPr lang="en-US" altLang="zh-CN" sz="1200" b="1" dirty="0">
                <a:solidFill>
                  <a:srgbClr val="1D1D1A"/>
                </a:solidFill>
                <a:latin typeface="Calibri"/>
                <a:ea typeface="等线" panose="02010600030101010101" pitchFamily="2" charset="-122"/>
              </a:rPr>
              <a:t>profiling </a:t>
            </a:r>
            <a:r>
              <a:rPr lang="zh-CN" altLang="en-US" sz="1200" b="1" dirty="0">
                <a:solidFill>
                  <a:srgbClr val="1D1D1A"/>
                </a:solidFill>
                <a:latin typeface="Calibri"/>
                <a:ea typeface="等线" panose="02010600030101010101" pitchFamily="2" charset="-122"/>
              </a:rPr>
              <a:t>采集工具，更方便分析线上性能问题，可以在特战队里推广</a:t>
            </a:r>
            <a:endParaRPr lang="zh-CN" altLang="en-US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E08C8CC1-FED4-557C-4308-E1B1C8AC4E02}"/>
              </a:ext>
            </a:extLst>
          </p:cNvPr>
          <p:cNvSpPr/>
          <p:nvPr/>
        </p:nvSpPr>
        <p:spPr bwMode="auto">
          <a:xfrm>
            <a:off x="417963" y="3780589"/>
            <a:ext cx="2077376" cy="1625356"/>
          </a:xfrm>
          <a:prstGeom prst="roundRect">
            <a:avLst/>
          </a:prstGeom>
          <a:noFill/>
          <a:ln w="9525" cap="flat" cmpd="sng" algn="ctr">
            <a:solidFill>
              <a:sysClr val="windowText" lastClr="000000"/>
            </a:solidFill>
            <a:prstDash val="dashDot"/>
            <a:round/>
            <a:headEnd type="none" w="med" len="med"/>
            <a:tailEnd type="none" w="med" len="med"/>
          </a:ln>
        </p:spPr>
        <p:txBody>
          <a:bodyPr vert="horz" wrap="square" lIns="79200" tIns="39600" rIns="79200" bIns="39600" numCol="1" rtlCol="0" anchor="t" anchorCtr="0" compatLnSpc="1">
            <a:noAutofit/>
          </a:bodyPr>
          <a:lstStyle/>
          <a:p>
            <a:pPr defTabSz="802005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 dirty="0">
              <a:ln>
                <a:solidFill>
                  <a:prstClr val="black"/>
                </a:solidFill>
                <a:prstDash val="sysDash"/>
              </a:ln>
              <a:solidFill>
                <a:srgbClr val="000000"/>
              </a:solidFill>
              <a:latin typeface="FrutigerNext LT Regular" pitchFamily="34" charset="0"/>
              <a:ea typeface="MS PGothic" panose="020B0600070205080204" pitchFamily="34" charset="-128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14BCEB2F-BFE4-5B55-4A41-67BE9BBFE581}"/>
              </a:ext>
            </a:extLst>
          </p:cNvPr>
          <p:cNvSpPr/>
          <p:nvPr/>
        </p:nvSpPr>
        <p:spPr bwMode="auto">
          <a:xfrm>
            <a:off x="3076328" y="3770977"/>
            <a:ext cx="2381170" cy="1634641"/>
          </a:xfrm>
          <a:prstGeom prst="roundRect">
            <a:avLst/>
          </a:prstGeom>
          <a:noFill/>
          <a:ln w="9525" cap="flat" cmpd="sng" algn="ctr">
            <a:solidFill>
              <a:sysClr val="windowText" lastClr="000000"/>
            </a:solidFill>
            <a:prstDash val="dashDot"/>
            <a:round/>
            <a:headEnd type="none" w="med" len="med"/>
            <a:tailEnd type="none" w="med" len="med"/>
          </a:ln>
        </p:spPr>
        <p:txBody>
          <a:bodyPr vert="horz" wrap="square" lIns="79200" tIns="39600" rIns="79200" bIns="39600" numCol="1" rtlCol="0" anchor="t" anchorCtr="0" compatLnSpc="1">
            <a:noAutofit/>
          </a:bodyPr>
          <a:lstStyle/>
          <a:p>
            <a:pPr defTabSz="802005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 dirty="0">
              <a:ln>
                <a:solidFill>
                  <a:prstClr val="black"/>
                </a:solidFill>
                <a:prstDash val="sysDash"/>
              </a:ln>
              <a:solidFill>
                <a:srgbClr val="000000"/>
              </a:solidFill>
              <a:latin typeface="FrutigerNext LT Regular" pitchFamily="34" charset="0"/>
              <a:ea typeface="MS PGothic" panose="020B0600070205080204" pitchFamily="34" charset="-128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80DF849F-F545-34FF-A9FD-9221C408E721}"/>
              </a:ext>
            </a:extLst>
          </p:cNvPr>
          <p:cNvSpPr/>
          <p:nvPr/>
        </p:nvSpPr>
        <p:spPr bwMode="auto">
          <a:xfrm>
            <a:off x="8699592" y="3742588"/>
            <a:ext cx="2925972" cy="2231711"/>
          </a:xfrm>
          <a:prstGeom prst="roundRect">
            <a:avLst/>
          </a:prstGeom>
          <a:noFill/>
          <a:ln w="9525" cap="flat" cmpd="sng" algn="ctr">
            <a:solidFill>
              <a:sysClr val="windowText" lastClr="000000"/>
            </a:solidFill>
            <a:prstDash val="dashDot"/>
            <a:round/>
            <a:headEnd type="none" w="med" len="med"/>
            <a:tailEnd type="none" w="med" len="med"/>
          </a:ln>
        </p:spPr>
        <p:txBody>
          <a:bodyPr vert="horz" wrap="square" lIns="79200" tIns="39600" rIns="79200" bIns="39600" numCol="1" rtlCol="0" anchor="t" anchorCtr="0" compatLnSpc="1">
            <a:noAutofit/>
          </a:bodyPr>
          <a:lstStyle/>
          <a:p>
            <a:pPr defTabSz="802005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 dirty="0">
              <a:ln>
                <a:solidFill>
                  <a:prstClr val="black"/>
                </a:solidFill>
                <a:prstDash val="sysDash"/>
              </a:ln>
              <a:solidFill>
                <a:srgbClr val="000000"/>
              </a:solidFill>
              <a:latin typeface="FrutigerNext LT Regular" pitchFamily="34" charset="0"/>
              <a:ea typeface="MS PGothic" panose="020B0600070205080204" pitchFamily="34" charset="-128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71E49BB5-CB0C-87BA-D56D-B49A4D6F283A}"/>
              </a:ext>
            </a:extLst>
          </p:cNvPr>
          <p:cNvSpPr/>
          <p:nvPr/>
        </p:nvSpPr>
        <p:spPr bwMode="auto">
          <a:xfrm>
            <a:off x="6066369" y="3773767"/>
            <a:ext cx="2031112" cy="1631849"/>
          </a:xfrm>
          <a:prstGeom prst="roundRect">
            <a:avLst/>
          </a:prstGeom>
          <a:noFill/>
          <a:ln w="9525" cap="flat" cmpd="sng" algn="ctr">
            <a:solidFill>
              <a:sysClr val="windowText" lastClr="000000"/>
            </a:solidFill>
            <a:prstDash val="dashDot"/>
            <a:round/>
            <a:headEnd type="none" w="med" len="med"/>
            <a:tailEnd type="none" w="med" len="med"/>
          </a:ln>
        </p:spPr>
        <p:txBody>
          <a:bodyPr vert="horz" wrap="square" lIns="79200" tIns="39600" rIns="79200" bIns="39600" numCol="1" rtlCol="0" anchor="t" anchorCtr="0" compatLnSpc="1">
            <a:noAutofit/>
          </a:bodyPr>
          <a:lstStyle/>
          <a:p>
            <a:pPr defTabSz="802005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 dirty="0">
              <a:ln>
                <a:solidFill>
                  <a:prstClr val="black"/>
                </a:solidFill>
                <a:prstDash val="sysDash"/>
              </a:ln>
              <a:solidFill>
                <a:srgbClr val="000000"/>
              </a:solidFill>
              <a:latin typeface="FrutigerNext LT Regular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100658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2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结束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目录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2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9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2_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5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4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23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fidpmvyv">
      <a:majorFont>
        <a:latin typeface="Huawei Sans"/>
        <a:ea typeface="微软雅黑"/>
        <a:cs typeface=""/>
      </a:majorFont>
      <a:minorFont>
        <a:latin typeface="Huawei Sans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3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0000FF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4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3_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0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8937</TotalTime>
  <Words>1191</Words>
  <Application>Microsoft Office PowerPoint</Application>
  <PresentationFormat>自定义</PresentationFormat>
  <Paragraphs>80</Paragraphs>
  <Slides>4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18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31" baseType="lpstr">
      <vt:lpstr> 微软雅黑</vt:lpstr>
      <vt:lpstr>FrutigerNext LT Regular</vt:lpstr>
      <vt:lpstr>等线</vt:lpstr>
      <vt:lpstr>等线 Light</vt:lpstr>
      <vt:lpstr>微软雅黑</vt:lpstr>
      <vt:lpstr>Arial</vt:lpstr>
      <vt:lpstr>Calibri</vt:lpstr>
      <vt:lpstr>Wingdings</vt:lpstr>
      <vt:lpstr>封面页_图片版 </vt:lpstr>
      <vt:lpstr>目录页</vt:lpstr>
      <vt:lpstr>章节页</vt:lpstr>
      <vt:lpstr>结束页</vt:lpstr>
      <vt:lpstr>1_目录页</vt:lpstr>
      <vt:lpstr>1_封面页_图片版 </vt:lpstr>
      <vt:lpstr>9_章节页</vt:lpstr>
      <vt:lpstr>2_封面页_图片版 </vt:lpstr>
      <vt:lpstr>5_章节页</vt:lpstr>
      <vt:lpstr>14_章节页</vt:lpstr>
      <vt:lpstr>23_Chart page</vt:lpstr>
      <vt:lpstr>3_章节页</vt:lpstr>
      <vt:lpstr>自定义设计方案</vt:lpstr>
      <vt:lpstr>4_章节页</vt:lpstr>
      <vt:lpstr>3_封面页_图片版 </vt:lpstr>
      <vt:lpstr>10_章节页</vt:lpstr>
      <vt:lpstr>1_章节页</vt:lpstr>
      <vt:lpstr>Office 主题​​</vt:lpstr>
      <vt:lpstr>think-cell 幻灯片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lifeng (S)</dc:creator>
  <cp:lastModifiedBy>zhaoliang</cp:lastModifiedBy>
  <cp:revision>145</cp:revision>
  <dcterms:created xsi:type="dcterms:W3CDTF">2025-12-12T03:58:04Z</dcterms:created>
  <dcterms:modified xsi:type="dcterms:W3CDTF">2026-05-18T04:04:21Z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(3)hJc+TisFZJKAt1U5G8L17dMgTfw0wvNPjLBKhwPVl2m97NfDhCq1l4nEiv7yWq+mgv94yYY8
g1oi4YjdaWPnaTXcW/WJLVavmc1tyi87xqqZW4kg2lwNgWzYoo+dAZmb3lHmF2zAqXJ/yL62
pYtGyeMHx0M+7eNwshHyjHFRc7MCUfnecLwQOHFzWancuqAwvK67IKv70LtWokmu7swhOXQH
u5IRWSWWTF8Q9Lu5iU</vt:lpwstr>
  </property>
  <property fmtid="{D5CDD505-2E9C-101B-9397-08002B2CF9AE}" pid="3" name="_2015_ms_pID_7253431">
    <vt:lpwstr>C8/dEwwgPoXQHda7pCSxLyHg6XfOqLyv2PxCrPFcbG4wVcp4JGRS6E
ligcuPsb+qV8yuGlyjmQ3RIbsw61Iu6yj8XuUlt9Vuz00Ugn3qVFwwS8MKGgiBPB4mDABAS5
WRtnE6Wjf8J1lC4L4YkEVOFyj0BQsZrPJq5qAU7ynymTbzGCQ7qisPpjRo6mgZ9waTt2vIEL
x72pMhMn33jEnvlb0PLfsHI+1R4EKdfMe5df</vt:lpwstr>
  </property>
  <property fmtid="{D5CDD505-2E9C-101B-9397-08002B2CF9AE}" pid="4" name="_2015_ms_pID_7253432">
    <vt:lpwstr>UQ==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1598576536</vt:lpwstr>
  </property>
  <property fmtid="{D5CDD505-2E9C-101B-9397-08002B2CF9AE}" pid="9" name="ICV">
    <vt:lpwstr/>
  </property>
  <property fmtid="{D5CDD505-2E9C-101B-9397-08002B2CF9AE}" pid="10" name="KSOProductBuildVer">
    <vt:lpwstr>2052-0.0.0.0</vt:lpwstr>
  </property>
</Properties>
</file>