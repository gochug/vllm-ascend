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tags/tag1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9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0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1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16.xml" ContentType="application/vnd.openxmlformats-officedocument.theme+xml"/>
  <Override PartName="/ppt/tags/tag2.xml" ContentType="application/vnd.openxmlformats-officedocument.presentationml.tags+xml"/>
  <Override PartName="/ppt/slideLayouts/slideLayout58.xml" ContentType="application/vnd.openxmlformats-officedocument.presentationml.slideLayout+xml"/>
  <Override PartName="/ppt/theme/theme17.xml" ContentType="application/vnd.openxmlformats-officedocument.theme+xml"/>
  <Override PartName="/ppt/slideLayouts/slideLayout59.xml" ContentType="application/vnd.openxmlformats-officedocument.presentationml.slideLayout+xml"/>
  <Override PartName="/ppt/theme/theme18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  <p:sldMasterId id="2147483654" r:id="rId3"/>
    <p:sldMasterId id="2147483658" r:id="rId4"/>
    <p:sldMasterId id="2147483660" r:id="rId5"/>
    <p:sldMasterId id="2147483661" r:id="rId6"/>
    <p:sldMasterId id="2147483666" r:id="rId7"/>
    <p:sldMasterId id="2147483672" r:id="rId8"/>
    <p:sldMasterId id="2147483677" r:id="rId9"/>
    <p:sldMasterId id="2147483682" r:id="rId10"/>
    <p:sldMasterId id="2147483686" r:id="rId11"/>
    <p:sldMasterId id="2147483693" r:id="rId12"/>
    <p:sldMasterId id="2147483698" r:id="rId13"/>
    <p:sldMasterId id="2147483708" r:id="rId14"/>
    <p:sldMasterId id="2147483711" r:id="rId15"/>
    <p:sldMasterId id="2147483717" r:id="rId16"/>
    <p:sldMasterId id="2147483724" r:id="rId17"/>
    <p:sldMasterId id="2147483729" r:id="rId18"/>
    <p:sldMasterId id="2147483731" r:id="rId19"/>
  </p:sldMasterIdLst>
  <p:notesMasterIdLst>
    <p:notesMasterId r:id="rId41"/>
  </p:notesMasterIdLst>
  <p:handoutMasterIdLst>
    <p:handoutMasterId r:id="rId42"/>
  </p:handoutMasterIdLst>
  <p:sldIdLst>
    <p:sldId id="10705530" r:id="rId20"/>
    <p:sldId id="2147482179" r:id="rId21"/>
    <p:sldId id="256" r:id="rId22"/>
    <p:sldId id="257" r:id="rId23"/>
    <p:sldId id="258" r:id="rId24"/>
    <p:sldId id="259" r:id="rId25"/>
    <p:sldId id="260" r:id="rId26"/>
    <p:sldId id="261" r:id="rId27"/>
    <p:sldId id="262" r:id="rId28"/>
    <p:sldId id="281" r:id="rId29"/>
    <p:sldId id="283" r:id="rId30"/>
    <p:sldId id="286" r:id="rId31"/>
    <p:sldId id="2147483625" r:id="rId32"/>
    <p:sldId id="2147483626" r:id="rId33"/>
    <p:sldId id="2147483618" r:id="rId34"/>
    <p:sldId id="2147483619" r:id="rId35"/>
    <p:sldId id="2147483620" r:id="rId36"/>
    <p:sldId id="2147483621" r:id="rId37"/>
    <p:sldId id="2147483622" r:id="rId38"/>
    <p:sldId id="2147483623" r:id="rId39"/>
    <p:sldId id="2147483624" r:id="rId40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10705530"/>
            <p14:sldId id="2147482179"/>
            <p14:sldId id="256"/>
            <p14:sldId id="257"/>
            <p14:sldId id="258"/>
            <p14:sldId id="259"/>
            <p14:sldId id="260"/>
            <p14:sldId id="261"/>
            <p14:sldId id="262"/>
            <p14:sldId id="281"/>
            <p14:sldId id="283"/>
            <p14:sldId id="286"/>
            <p14:sldId id="2147483625"/>
            <p14:sldId id="2147483626"/>
            <p14:sldId id="2147483618"/>
            <p14:sldId id="2147483619"/>
            <p14:sldId id="2147483620"/>
            <p14:sldId id="2147483621"/>
            <p14:sldId id="2147483622"/>
            <p14:sldId id="2147483623"/>
            <p14:sldId id="21474836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B7FF"/>
    <a:srgbClr val="E9002F"/>
    <a:srgbClr val="0000FF"/>
    <a:srgbClr val="ED6D00"/>
    <a:srgbClr val="FFFFFF"/>
    <a:srgbClr val="FFC000"/>
    <a:srgbClr val="00B0F0"/>
    <a:srgbClr val="CC78FF"/>
    <a:srgbClr val="000000"/>
    <a:srgbClr val="59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7" autoAdjust="0"/>
    <p:restoredTop sz="95042" autoAdjust="0"/>
  </p:normalViewPr>
  <p:slideViewPr>
    <p:cSldViewPr snapToGrid="0" snapToObjects="1">
      <p:cViewPr varScale="1">
        <p:scale>
          <a:sx n="68" d="100"/>
          <a:sy n="68" d="100"/>
        </p:scale>
        <p:origin x="164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9" Type="http://schemas.openxmlformats.org/officeDocument/2006/relationships/slide" Target="slides/slide20.xml"/><Relationship Id="rId21" Type="http://schemas.openxmlformats.org/officeDocument/2006/relationships/slide" Target="slides/slide2.xml"/><Relationship Id="rId34" Type="http://schemas.openxmlformats.org/officeDocument/2006/relationships/slide" Target="slides/slide15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slide" Target="slides/slide13.xml"/><Relationship Id="rId37" Type="http://schemas.openxmlformats.org/officeDocument/2006/relationships/slide" Target="slides/slide18.xml"/><Relationship Id="rId40" Type="http://schemas.openxmlformats.org/officeDocument/2006/relationships/slide" Target="slides/slide2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36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slide" Target="slides/slide11.xml"/><Relationship Id="rId35" Type="http://schemas.openxmlformats.org/officeDocument/2006/relationships/slide" Target="slides/slide16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slide" Target="slides/slide14.xml"/><Relationship Id="rId38" Type="http://schemas.openxmlformats.org/officeDocument/2006/relationships/slide" Target="slides/slide19.xml"/><Relationship Id="rId46" Type="http://schemas.openxmlformats.org/officeDocument/2006/relationships/tableStyles" Target="tableStyles.xml"/><Relationship Id="rId20" Type="http://schemas.openxmlformats.org/officeDocument/2006/relationships/slide" Target="slides/slide1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defRPr/>
            </a:pPr>
            <a:r>
              <a:rPr lang="zh-CN" altLang="en-US" dirty="0"/>
              <a:t>战地复盘实战赋能 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人人懂战地复盘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战地复盘方法与实战赋能 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C99A2FA-E2DB-46AF-B289-678680949C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409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A0417-154B-D65B-0465-753CE0C5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F490CF-0F77-6ECE-1BDA-A45DBC3B4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1B669B-DE22-B887-9E8C-6C783FE94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A8AE60-FFB9-1827-A57D-AE45A4E64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3F8D9B-C01B-4475-8DAB-8D6F5EA7ECC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661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55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034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0012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624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9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公司辅助色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984" y="186134"/>
            <a:ext cx="11186984" cy="54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398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047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6133" y="265177"/>
            <a:ext cx="11687613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2" name="直接连接符​​(S) 11"/>
          <p:cNvCxnSpPr/>
          <p:nvPr userDrawn="1"/>
        </p:nvCxnSpPr>
        <p:spPr>
          <a:xfrm>
            <a:off x="604670" y="1196392"/>
            <a:ext cx="10987423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411" y="448056"/>
            <a:ext cx="6879806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707" y="1435608"/>
            <a:ext cx="4418277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707" y="6203953"/>
            <a:ext cx="3277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0AFDC1-AB40-4941-83E0-44D5ED544864}" type="datetime1">
              <a:rPr lang="zh-CN" altLang="en-US" noProof="0" smtClean="0"/>
              <a:t>2026/5/15</a:t>
            </a:fld>
            <a:endParaRPr lang="zh-CN" altLang="en-US" noProof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50016" y="6203953"/>
            <a:ext cx="28967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5197" y="6203953"/>
            <a:ext cx="3277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457283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488E-9244-48A2-AD96-A03286D465D6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A3BDB-77D7-4840-89A0-6CCE739BC6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1" y="1843095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1480" indent="-396875">
              <a:lnSpc>
                <a:spcPct val="70000"/>
              </a:lnSpc>
              <a:buFont typeface="+mj-lt"/>
              <a:buAutoNum type="arabicPeriod"/>
              <a:defRPr sz="219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1480" indent="-39687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19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19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19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9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9" y="630376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1225"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1" lang="zh-CN" altLang="en-US" sz="3585" b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154" y="211577"/>
            <a:ext cx="10977404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927" y="325441"/>
            <a:ext cx="10180910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7927" y="1628780"/>
            <a:ext cx="10180910" cy="4194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" y="0"/>
            <a:ext cx="12194168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inese text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635" y="0"/>
            <a:ext cx="12196445" cy="68573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6815" indent="0" algn="ctr">
              <a:buNone/>
              <a:defRPr sz="2340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6720" indent="0" algn="ctr">
              <a:buNone/>
              <a:defRPr sz="2080"/>
            </a:lvl6pPr>
            <a:lvl7pPr marL="3561080" indent="0" algn="ctr">
              <a:buNone/>
              <a:defRPr sz="2080"/>
            </a:lvl7pPr>
            <a:lvl8pPr marL="4153535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29F4-75FA-4227-9058-2B302F2FC1CA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F581A-2308-4935-9EE6-4777780C92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100" y="360000"/>
            <a:ext cx="11831495" cy="360000"/>
          </a:xfr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7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blipFill dpi="0" rotWithShape="1">
          <a:blip r:embed="rId2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1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" y="785631"/>
            <a:ext cx="12195175" cy="3809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70063" y="6208862"/>
            <a:ext cx="2232305" cy="263405"/>
          </a:xfrm>
          <a:prstGeom prst="rect">
            <a:avLst/>
          </a:prstGeom>
          <a:noFill/>
          <a:ln>
            <a:noFill/>
          </a:ln>
        </p:spPr>
        <p:txBody>
          <a:bodyPr wrap="none" lIns="78020" tIns="39010" rIns="78020" bIns="39010">
            <a:spAutoFit/>
          </a:bodyPr>
          <a:lstStyle>
            <a:lvl1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latin typeface="FrutigerNext LT Bold" panose="020B0803040504020204" pitchFamily="34" charset="0"/>
                <a:ea typeface="MS PGothic" panose="020B0600070205080204" pitchFamily="34" charset="-128"/>
              </a:rPr>
              <a:t>HUAWEI TECHNOLOGIES Co., Ltd.</a:t>
            </a:r>
            <a:endParaRPr lang="en-US" altLang="zh-CN" sz="2200">
              <a:ea typeface="MS PGothic" panose="020B0600070205080204" pitchFamily="34" charset="-128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327777" y="4055125"/>
            <a:ext cx="2533980" cy="326949"/>
          </a:xfrm>
          <a:prstGeom prst="rect">
            <a:avLst/>
          </a:prstGeom>
          <a:noFill/>
          <a:ln>
            <a:noFill/>
          </a:ln>
        </p:spPr>
        <p:txBody>
          <a:bodyPr lIns="91070" tIns="45535" rIns="91070" bIns="45535"/>
          <a:lstStyle>
            <a:lvl1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8178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8178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/>
              <a:t>www.huawei.com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5604605" y="6208862"/>
            <a:ext cx="1510219" cy="263405"/>
          </a:xfrm>
          <a:prstGeom prst="rect">
            <a:avLst/>
          </a:prstGeom>
          <a:noFill/>
          <a:ln>
            <a:noFill/>
          </a:ln>
        </p:spPr>
        <p:txBody>
          <a:bodyPr wrap="none" lIns="78020" tIns="39010" rIns="78020" bIns="39010">
            <a:spAutoFit/>
          </a:bodyPr>
          <a:lstStyle>
            <a:lvl1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200">
                <a:latin typeface="FrutigerNext LT Bold" panose="020B0803040504020204" pitchFamily="34" charset="0"/>
                <a:ea typeface="MS PGothic" panose="020B0600070205080204" pitchFamily="34" charset="-128"/>
              </a:rPr>
              <a:t>HUAWEI Confidential </a:t>
            </a: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8562503" y="328537"/>
            <a:ext cx="3111905" cy="309490"/>
          </a:xfrm>
          <a:prstGeom prst="rect">
            <a:avLst/>
          </a:prstGeom>
          <a:noFill/>
          <a:ln>
            <a:noFill/>
          </a:ln>
        </p:spPr>
        <p:txBody>
          <a:bodyPr lIns="78020" tIns="39010" rIns="78020" bIns="39010">
            <a:spAutoFit/>
          </a:bodyPr>
          <a:lstStyle>
            <a:lvl1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defTabSz="7810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2764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7336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1908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648075" indent="1905" defTabSz="7810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500">
                <a:solidFill>
                  <a:srgbClr val="666666"/>
                </a:solidFill>
                <a:latin typeface="FrutigerNext LT Regular" panose="020B0503040504020204" pitchFamily="34" charset="0"/>
                <a:ea typeface="MS PGothic" panose="020B0600070205080204" pitchFamily="34" charset="-128"/>
              </a:rPr>
              <a:t>Security Level: </a:t>
            </a:r>
          </a:p>
        </p:txBody>
      </p:sp>
      <p:pic>
        <p:nvPicPr>
          <p:cNvPr id="8" name="图片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5638" y="5418470"/>
            <a:ext cx="1052650" cy="105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0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914764" y="2195520"/>
            <a:ext cx="7322292" cy="1158875"/>
          </a:xfrm>
          <a:prstGeom prst="rect">
            <a:avLst/>
          </a:prstGeom>
        </p:spPr>
        <p:txBody>
          <a:bodyPr lIns="78086" tIns="39042" rIns="78086" bIns="39042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56" y="44440"/>
            <a:ext cx="10756714" cy="78245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119" y="1052269"/>
            <a:ext cx="10756714" cy="45249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0B0105D5-78A0-497E-9252-4C05897F765A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058" y="44452"/>
            <a:ext cx="10756868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0063" y="1600205"/>
            <a:ext cx="527679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310136" y="1600220"/>
            <a:ext cx="5276794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310136" y="3938604"/>
            <a:ext cx="5276794" cy="21875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C0676BAF-3C83-456B-9ACD-B426E2357A66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058" y="44452"/>
            <a:ext cx="10756868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0063" y="1600205"/>
            <a:ext cx="527679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0136" y="1600205"/>
            <a:ext cx="527679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7C1E5151-0DA1-4AE2-A101-6F69CCA9B364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0058" y="44459"/>
            <a:ext cx="10756868" cy="60817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8D304AA0-FEF7-4C85-ADD3-9D0DABCFA334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058" y="44452"/>
            <a:ext cx="10756868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30058" y="1600205"/>
            <a:ext cx="10756868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4658332" y="6256477"/>
            <a:ext cx="1628987" cy="6015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/>
          </a:p>
          <a:p>
            <a:pPr>
              <a:defRPr/>
            </a:pPr>
            <a:r>
              <a:rPr lang="de-DE" altLang="zh-CN"/>
              <a:t>Page </a:t>
            </a:r>
            <a:fld id="{5074951E-6D3B-4718-94FF-1A4C83938AAB}" type="slidenum">
              <a:rPr lang="de-DE" altLang="zh-CN"/>
              <a:t>‹#›</a:t>
            </a:fld>
            <a:endParaRPr lang="en-GB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905" indent="0" algn="ctr">
              <a:buNone/>
              <a:defRPr sz="2075"/>
            </a:lvl4pPr>
            <a:lvl5pPr marL="2372995" indent="0" algn="ctr">
              <a:buNone/>
              <a:defRPr sz="2075"/>
            </a:lvl5pPr>
            <a:lvl6pPr marL="2966720" indent="0" algn="ctr">
              <a:buNone/>
              <a:defRPr sz="2075"/>
            </a:lvl6pPr>
            <a:lvl7pPr marL="3559175" indent="0" algn="ctr">
              <a:buNone/>
              <a:defRPr sz="2075"/>
            </a:lvl7pPr>
            <a:lvl8pPr marL="4152900" indent="0" algn="ctr">
              <a:buNone/>
              <a:defRPr sz="2075"/>
            </a:lvl8pPr>
            <a:lvl9pPr marL="474599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8938" y="246226"/>
            <a:ext cx="10740640" cy="629716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304925"/>
            <a:ext cx="10733557" cy="489840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20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8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460" y="456137"/>
            <a:ext cx="10744836" cy="40060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0" baseline="0">
                <a:solidFill>
                  <a:srgbClr val="A72126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2985" indent="0" algn="ctr">
              <a:buNone/>
              <a:defRPr sz="2080"/>
            </a:lvl7pPr>
            <a:lvl8pPr marL="4156710" indent="0" algn="ctr">
              <a:buNone/>
              <a:defRPr sz="2080"/>
            </a:lvl8pPr>
            <a:lvl9pPr marL="475043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431" y="259056"/>
            <a:ext cx="11768332" cy="64899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9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公司辅助色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Arial" panose="020B0604020202020204" pitchFamily="34" charset="0"/>
                </a:rPr>
                <a:t>公司色</a:t>
              </a:r>
              <a:endParaRPr kumimoji="1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B1B18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marL="0" marR="0" lvl="0" indent="0" algn="ctr" defTabSz="91249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1B1B18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143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正文含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061" y="356348"/>
            <a:ext cx="10740640" cy="646952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28061" y="1160463"/>
            <a:ext cx="10740640" cy="49778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defRPr sz="2000"/>
            </a:lvl2pPr>
            <a:lvl3pPr>
              <a:lnSpc>
                <a:spcPct val="100000"/>
              </a:lnSpc>
              <a:spcBef>
                <a:spcPts val="600"/>
              </a:spcBef>
              <a:defRPr sz="2000"/>
            </a:lvl3pPr>
            <a:lvl4pPr>
              <a:lnSpc>
                <a:spcPct val="100000"/>
              </a:lnSpc>
              <a:spcBef>
                <a:spcPts val="600"/>
              </a:spcBef>
              <a:defRPr sz="2000"/>
            </a:lvl4pPr>
            <a:lvl5pPr>
              <a:lnSpc>
                <a:spcPct val="100000"/>
              </a:lnSpc>
              <a:spcBef>
                <a:spcPts val="600"/>
              </a:spcBef>
              <a:defRPr sz="200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40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061" y="356348"/>
            <a:ext cx="10740640" cy="646952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92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空白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55448" y="841829"/>
            <a:ext cx="10285866" cy="51743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2478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章节标题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" r="1453"/>
          <a:stretch>
            <a:fillRect/>
          </a:stretch>
        </p:blipFill>
        <p:spPr>
          <a:xfrm>
            <a:off x="2380" y="-1"/>
            <a:ext cx="12192002" cy="6858002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379" y="0"/>
            <a:ext cx="1115330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tx1">
                  <a:alpha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 dirty="0">
              <a:solidFill>
                <a:schemeClr val="bg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991403"/>
            <a:ext cx="10122060" cy="2367814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13970" indent="0">
              <a:lnSpc>
                <a:spcPct val="100000"/>
              </a:lnSpc>
              <a:spcBef>
                <a:spcPts val="600"/>
              </a:spcBef>
              <a:buFont typeface="+mj-lt"/>
              <a:buNone/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5" name="直线连接符 14"/>
          <p:cNvCxnSpPr/>
          <p:nvPr userDrawn="1"/>
        </p:nvCxnSpPr>
        <p:spPr>
          <a:xfrm flipH="1">
            <a:off x="1029919" y="3429000"/>
            <a:ext cx="3436203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73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0854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7928" y="325440"/>
            <a:ext cx="10180909" cy="871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7928" y="1628777"/>
            <a:ext cx="10180909" cy="4194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6573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256133" y="265177"/>
            <a:ext cx="11687613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CN" altLang="en-US" sz="1800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2" name="直接连接符​​(S) 11"/>
          <p:cNvCxnSpPr/>
          <p:nvPr userDrawn="1"/>
        </p:nvCxnSpPr>
        <p:spPr>
          <a:xfrm>
            <a:off x="604670" y="1196392"/>
            <a:ext cx="10987423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1411" y="448056"/>
            <a:ext cx="6879806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39707" y="1435608"/>
            <a:ext cx="4418277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 noProof="0"/>
              <a:t>五级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2"/>
          </p:nvPr>
        </p:nvSpPr>
        <p:spPr>
          <a:xfrm>
            <a:off x="539707" y="6203953"/>
            <a:ext cx="3277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C0AFDC1-AB40-4941-83E0-44D5ED544864}" type="datetime1">
              <a:rPr lang="zh-CN" altLang="en-US" noProof="0" smtClean="0"/>
              <a:t>2026/5/15</a:t>
            </a:fld>
            <a:endParaRPr lang="zh-CN" altLang="en-US" noProof="0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50016" y="6203953"/>
            <a:ext cx="28967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75197" y="6203953"/>
            <a:ext cx="3277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2692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tiff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9.tiff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8.emf"/><Relationship Id="rId4" Type="http://schemas.openxmlformats.org/officeDocument/2006/relationships/slideLayout" Target="../slideLayouts/slideLayout13.xml"/><Relationship Id="rId9" Type="http://schemas.openxmlformats.org/officeDocument/2006/relationships/oleObject" Target="../embeddings/oleObject1.bin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tiff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tiff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2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.tiff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tiff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36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image" Target="../media/image13.png"/><Relationship Id="rId5" Type="http://schemas.openxmlformats.org/officeDocument/2006/relationships/slideLayout" Target="../slideLayouts/slideLayout41.xml"/><Relationship Id="rId10" Type="http://schemas.openxmlformats.org/officeDocument/2006/relationships/theme" Target="../theme/theme1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6.tiff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55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57.xml"/><Relationship Id="rId10" Type="http://schemas.openxmlformats.org/officeDocument/2006/relationships/image" Target="../media/image9.tiff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8.emf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5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5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theme" Target="../theme/theme19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9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0" imgH="0" progId="TCLayout.ActiveDocument.1">
                  <p:embed/>
                </p:oleObj>
              </mc:Choice>
              <mc:Fallback>
                <p:oleObj name="think-cell 幻灯片" r:id="rId9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3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46" name="TextBox 2"/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7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9" name="Picture 46"/>
          <p:cNvPicPr>
            <a:picLocks noChangeAspect="1"/>
          </p:cNvPicPr>
          <p:nvPr userDrawn="1"/>
        </p:nvPicPr>
        <p:blipFill>
          <a:blip r:embed="rId11" cstate="screen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727" r:id="rId5"/>
    <p:sldLayoutId id="2147483728" r:id="rId6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3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46" name="TextBox 2"/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7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9" name="Picture 46"/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1225"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sz="895" b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4" y="6402813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7730"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C3837181-38C6-AD4F-B8BA-B444770388BB}" type="slidenum">
              <a:rPr lang="en-US" sz="895" b="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895" b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4" y="2625396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1225"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zh-CN" altLang="en-US" sz="800" b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1225"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zh-CN" altLang="en-US" sz="800" b="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1225" fontAlgn="auto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7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</p:sldLayoutIdLst>
  <p:hf hdr="0" ftr="0" dt="0"/>
  <p:txStyles>
    <p:titleStyle>
      <a:lvl1pPr algn="l" defTabSz="1183005" rtl="0" eaLnBrk="1" latinLnBrk="0" hangingPunct="1">
        <a:lnSpc>
          <a:spcPct val="90000"/>
        </a:lnSpc>
        <a:spcBef>
          <a:spcPct val="0"/>
        </a:spcBef>
        <a:buNone/>
        <a:defRPr sz="5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5910" indent="-295910" algn="l" defTabSz="118300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25" kern="1200">
          <a:solidFill>
            <a:schemeClr val="tx1"/>
          </a:solidFill>
          <a:latin typeface="+mn-lt"/>
          <a:ea typeface="+mn-ea"/>
          <a:cs typeface="+mn-cs"/>
        </a:defRPr>
      </a:lvl1pPr>
      <a:lvl2pPr marL="88773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05" kern="1200">
          <a:solidFill>
            <a:schemeClr val="tx1"/>
          </a:solidFill>
          <a:latin typeface="+mn-lt"/>
          <a:ea typeface="+mn-ea"/>
          <a:cs typeface="+mn-cs"/>
        </a:defRPr>
      </a:lvl2pPr>
      <a:lvl3pPr marL="1478915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3pPr>
      <a:lvl4pPr marL="2070735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662555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325374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84556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43738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5029200" indent="-295910" algn="l" defTabSz="118300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1pPr>
      <a:lvl2pPr marL="59182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8300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3pPr>
      <a:lvl4pPr marL="177482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4pPr>
      <a:lvl5pPr marL="236664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5pPr>
      <a:lvl6pPr marL="2958465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6pPr>
      <a:lvl7pPr marL="354965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7pPr>
      <a:lvl8pPr marL="414147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8pPr>
      <a:lvl9pPr marL="4733290" algn="l" defTabSz="1183005" rtl="0" eaLnBrk="1" latinLnBrk="0" hangingPunct="1">
        <a:defRPr sz="23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41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15134"/>
            <a:ext cx="1273690" cy="2785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3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/>
          <p:nvPr userDrawn="1"/>
        </p:nvSpPr>
        <p:spPr>
          <a:xfrm>
            <a:off x="1095470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75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2" name="TextBox 3"/>
          <p:cNvSpPr txBox="1"/>
          <p:nvPr userDrawn="1"/>
        </p:nvSpPr>
        <p:spPr>
          <a:xfrm>
            <a:off x="734133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1" cstate="screen"/>
          <a:stretch>
            <a:fillRect/>
          </a:stretch>
        </p:blipFill>
        <p:spPr>
          <a:xfrm>
            <a:off x="10196002" y="6319876"/>
            <a:ext cx="1269074" cy="2711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hf sldNum="0" hdr="0" ftr="0"/>
  <p:txStyles>
    <p:titleStyle>
      <a:lvl1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+mj-lt"/>
          <a:ea typeface="+mj-ea"/>
          <a:cs typeface="+mj-cs"/>
        </a:defRPr>
      </a:lvl1pPr>
      <a:lvl2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2pPr>
      <a:lvl3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3pPr>
      <a:lvl4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4pPr>
      <a:lvl5pPr algn="l" defTabSz="77597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5pPr>
      <a:lvl6pPr marL="455930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6pPr>
      <a:lvl7pPr marL="912495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7pPr>
      <a:lvl8pPr marL="1368425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8pPr>
      <a:lvl9pPr marL="1824355" algn="l" defTabSz="782320" rtl="0" fontAlgn="base">
        <a:spcBef>
          <a:spcPct val="0"/>
        </a:spcBef>
        <a:spcAft>
          <a:spcPct val="0"/>
        </a:spcAft>
        <a:defRPr sz="3000" b="1">
          <a:solidFill>
            <a:srgbClr val="990000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273050" indent="-273050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+mn-lt"/>
          <a:ea typeface="+mn-ea"/>
          <a:cs typeface="+mn-cs"/>
        </a:defRPr>
      </a:lvl1pPr>
      <a:lvl2pPr marL="600075" indent="-22542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2pPr>
      <a:lvl3pPr marL="928370" indent="-18097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3pPr>
      <a:lvl4pPr marL="1303020" indent="-18224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4pPr>
      <a:lvl5pPr marL="1672590" indent="-182245" algn="l" defTabSz="739775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5pPr>
      <a:lvl6pPr marL="2134870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6pPr>
      <a:lvl7pPr marL="2590800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7pPr>
      <a:lvl8pPr marL="3047365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8pPr>
      <a:lvl9pPr marL="3503295" indent="-189865" algn="l" defTabSz="746125" rtl="0" fontAlgn="base">
        <a:lnSpc>
          <a:spcPct val="140000"/>
        </a:lnSpc>
        <a:spcBef>
          <a:spcPct val="0"/>
        </a:spcBef>
        <a:spcAft>
          <a:spcPct val="0"/>
        </a:spcAft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49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85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78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24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0" imgH="0" progId="TCLayout.ActiveDocument.1">
                  <p:embed/>
                </p:oleObj>
              </mc:Choice>
              <mc:Fallback>
                <p:oleObj name="think-cell 幻灯片" r:id="rId8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93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 defTabSz="913765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46" name="TextBox 2"/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7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9" name="Picture 46"/>
          <p:cNvPicPr>
            <a:picLocks noChangeAspect="1"/>
          </p:cNvPicPr>
          <p:nvPr userDrawn="1"/>
        </p:nvPicPr>
        <p:blipFill>
          <a:blip r:embed="rId10" cstate="screen"/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38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sldNum="0" hdr="0" ftr="0" dt="0"/>
  <p:txStyles>
    <p:titleStyle>
      <a:lvl1pPr algn="ctr" defTabSz="1097280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728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sp>
        <p:nvSpPr>
          <p:cNvPr id="49" name="TextBox 48"/>
          <p:cNvSpPr txBox="1"/>
          <p:nvPr userDrawn="1"/>
        </p:nvSpPr>
        <p:spPr>
          <a:xfrm>
            <a:off x="-1531188" y="356348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0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 微软雅黑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</a:p>
        </p:txBody>
      </p:sp>
      <p:sp>
        <p:nvSpPr>
          <p:cNvPr id="50" name="TextBox 49"/>
          <p:cNvSpPr txBox="1"/>
          <p:nvPr userDrawn="1"/>
        </p:nvSpPr>
        <p:spPr>
          <a:xfrm>
            <a:off x="-1178528" y="1160463"/>
            <a:ext cx="1178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0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174015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</p:sldLayoutIdLst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lm-project/vllm-ascend/pull/784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vllm-project/vllm-ascend/pull/8041" TargetMode="External"/><Relationship Id="rId5" Type="http://schemas.openxmlformats.org/officeDocument/2006/relationships/hyperlink" Target="https://github.com/vllm-project/vllm-ascend/pull/7875" TargetMode="External"/><Relationship Id="rId4" Type="http://schemas.openxmlformats.org/officeDocument/2006/relationships/hyperlink" Target="https://code.alipay.com/Theta/vllm/pull_requests/601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alipay.com/Theta/vllm-ascend/pull_requests/964?tab=comme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6.xml"/><Relationship Id="rId4" Type="http://schemas.openxmlformats.org/officeDocument/2006/relationships/hyperlink" Target="https://code.alipay.com/Theta/vllm-ascend/pull_requests/996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Users\p00254737\AppData\Roaming\eSpace_Desktop\UserData\p00631923\imagefiles\originalImgfiles\C3228955-14C2-405A-A4F0-DE7550D46F3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464" y="1408053"/>
            <a:ext cx="6975197" cy="392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4"/>
          <p:cNvSpPr/>
          <p:nvPr/>
        </p:nvSpPr>
        <p:spPr>
          <a:xfrm>
            <a:off x="2382" y="1398555"/>
            <a:ext cx="6669459" cy="3940414"/>
          </a:xfrm>
          <a:custGeom>
            <a:avLst/>
            <a:gdLst>
              <a:gd name="connsiteX0" fmla="*/ 0 w 4748212"/>
              <a:gd name="connsiteY0" fmla="*/ 0 h 2952328"/>
              <a:gd name="connsiteX1" fmla="*/ 4748212 w 4748212"/>
              <a:gd name="connsiteY1" fmla="*/ 0 h 2952328"/>
              <a:gd name="connsiteX2" fmla="*/ 4748212 w 4748212"/>
              <a:gd name="connsiteY2" fmla="*/ 2952328 h 2952328"/>
              <a:gd name="connsiteX3" fmla="*/ 0 w 4748212"/>
              <a:gd name="connsiteY3" fmla="*/ 2952328 h 2952328"/>
              <a:gd name="connsiteX4" fmla="*/ 0 w 4748212"/>
              <a:gd name="connsiteY4" fmla="*/ 0 h 2952328"/>
              <a:gd name="connsiteX0-1" fmla="*/ 0 w 4748212"/>
              <a:gd name="connsiteY0-2" fmla="*/ 0 h 2956465"/>
              <a:gd name="connsiteX1-3" fmla="*/ 4748212 w 4748212"/>
              <a:gd name="connsiteY1-4" fmla="*/ 0 h 2956465"/>
              <a:gd name="connsiteX2-5" fmla="*/ 4748212 w 4748212"/>
              <a:gd name="connsiteY2-6" fmla="*/ 2952328 h 2956465"/>
              <a:gd name="connsiteX3-7" fmla="*/ 3591499 w 4748212"/>
              <a:gd name="connsiteY3-8" fmla="*/ 2956465 h 2956465"/>
              <a:gd name="connsiteX4-9" fmla="*/ 0 w 4748212"/>
              <a:gd name="connsiteY4-10" fmla="*/ 2952328 h 2956465"/>
              <a:gd name="connsiteX5" fmla="*/ 0 w 4748212"/>
              <a:gd name="connsiteY5" fmla="*/ 0 h 2956465"/>
              <a:gd name="connsiteX0-11" fmla="*/ 0 w 4748212"/>
              <a:gd name="connsiteY0-12" fmla="*/ 0 h 2956465"/>
              <a:gd name="connsiteX1-13" fmla="*/ 4748212 w 4748212"/>
              <a:gd name="connsiteY1-14" fmla="*/ 0 h 2956465"/>
              <a:gd name="connsiteX2-15" fmla="*/ 3591499 w 4748212"/>
              <a:gd name="connsiteY2-16" fmla="*/ 2956465 h 2956465"/>
              <a:gd name="connsiteX3-17" fmla="*/ 0 w 4748212"/>
              <a:gd name="connsiteY3-18" fmla="*/ 2952328 h 2956465"/>
              <a:gd name="connsiteX4-19" fmla="*/ 0 w 4748212"/>
              <a:gd name="connsiteY4-20" fmla="*/ 0 h 29564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748212" h="2956465">
                <a:moveTo>
                  <a:pt x="0" y="0"/>
                </a:moveTo>
                <a:lnTo>
                  <a:pt x="4748212" y="0"/>
                </a:lnTo>
                <a:lnTo>
                  <a:pt x="3591499" y="2956465"/>
                </a:lnTo>
                <a:lnTo>
                  <a:pt x="0" y="29523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4845656" y="3754269"/>
            <a:ext cx="675300" cy="15997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4907210" y="1408053"/>
            <a:ext cx="1405814" cy="3409629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9"/>
          <p:cNvSpPr txBox="1"/>
          <p:nvPr/>
        </p:nvSpPr>
        <p:spPr>
          <a:xfrm>
            <a:off x="0" y="1504021"/>
            <a:ext cx="5520956" cy="302799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dirty="0">
                <a:solidFill>
                  <a:schemeClr val="tx2"/>
                </a:solidFill>
              </a:rPr>
              <a:t>MY-HW</a:t>
            </a:r>
            <a:r>
              <a:rPr lang="zh-CN" altLang="en-US" sz="3600" b="1" dirty="0">
                <a:solidFill>
                  <a:schemeClr val="tx2"/>
                </a:solidFill>
              </a:rPr>
              <a:t> </a:t>
            </a:r>
            <a:r>
              <a:rPr lang="en" altLang="zh-CN" sz="3600" b="1" dirty="0" err="1">
                <a:solidFill>
                  <a:schemeClr val="tx2"/>
                </a:solidFill>
              </a:rPr>
              <a:t>AICoding</a:t>
            </a:r>
            <a:r>
              <a:rPr lang="en" altLang="zh-CN" sz="3600" b="1" dirty="0">
                <a:solidFill>
                  <a:schemeClr val="tx2"/>
                </a:solidFill>
              </a:rPr>
              <a:t>/</a:t>
            </a:r>
            <a:r>
              <a:rPr lang="zh-CN" altLang="en-US" sz="3600" b="1" dirty="0">
                <a:solidFill>
                  <a:schemeClr val="tx2"/>
                </a:solidFill>
              </a:rPr>
              <a:t>生成</a:t>
            </a:r>
            <a:r>
              <a:rPr lang="en-US" altLang="zh-CN" sz="3600" b="1" dirty="0">
                <a:solidFill>
                  <a:schemeClr val="tx2"/>
                </a:solidFill>
              </a:rPr>
              <a:t>/</a:t>
            </a:r>
            <a:r>
              <a:rPr lang="zh-CN" altLang="en-US" sz="3600" b="1" dirty="0">
                <a:solidFill>
                  <a:schemeClr val="tx2"/>
                </a:solidFill>
              </a:rPr>
              <a:t>百灵</a:t>
            </a:r>
            <a:r>
              <a:rPr lang="en-US" altLang="zh-CN" sz="3600" b="1" dirty="0">
                <a:solidFill>
                  <a:schemeClr val="tx2"/>
                </a:solidFill>
              </a:rPr>
              <a:t>/</a:t>
            </a:r>
            <a:r>
              <a:rPr lang="en" altLang="zh-CN" sz="3600" b="1" dirty="0">
                <a:solidFill>
                  <a:schemeClr val="tx2"/>
                </a:solidFill>
              </a:rPr>
              <a:t>DSV4</a:t>
            </a:r>
            <a:r>
              <a:rPr lang="zh-CN" altLang="en-US" sz="3600" b="1" dirty="0">
                <a:solidFill>
                  <a:schemeClr val="tx2"/>
                </a:solidFill>
              </a:rPr>
              <a:t>交付和特战队问题复盘研讨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0198259" y="5813844"/>
            <a:ext cx="1528122" cy="302409"/>
            <a:chOff x="5796136" y="4189567"/>
            <a:chExt cx="1146539" cy="226895"/>
          </a:xfrm>
          <a:solidFill>
            <a:schemeClr val="bg1">
              <a:lumMod val="65000"/>
            </a:schemeClr>
          </a:solidFill>
          <a:effectLst/>
        </p:grpSpPr>
        <p:sp>
          <p:nvSpPr>
            <p:cNvPr id="11" name="流程图: 数据 9"/>
            <p:cNvSpPr/>
            <p:nvPr/>
          </p:nvSpPr>
          <p:spPr>
            <a:xfrm>
              <a:off x="5796136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  <p:sp>
          <p:nvSpPr>
            <p:cNvPr id="12" name="流程图: 数据 9"/>
            <p:cNvSpPr/>
            <p:nvPr/>
          </p:nvSpPr>
          <p:spPr>
            <a:xfrm>
              <a:off x="5937506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  <p:sp>
          <p:nvSpPr>
            <p:cNvPr id="13" name="流程图: 数据 9"/>
            <p:cNvSpPr/>
            <p:nvPr/>
          </p:nvSpPr>
          <p:spPr>
            <a:xfrm>
              <a:off x="6078876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  <p:sp>
          <p:nvSpPr>
            <p:cNvPr id="14" name="流程图: 数据 9"/>
            <p:cNvSpPr/>
            <p:nvPr/>
          </p:nvSpPr>
          <p:spPr>
            <a:xfrm>
              <a:off x="6220246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  <p:sp>
          <p:nvSpPr>
            <p:cNvPr id="15" name="流程图: 数据 9"/>
            <p:cNvSpPr/>
            <p:nvPr/>
          </p:nvSpPr>
          <p:spPr>
            <a:xfrm>
              <a:off x="6361616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  <p:sp>
          <p:nvSpPr>
            <p:cNvPr id="16" name="流程图: 数据 9"/>
            <p:cNvSpPr/>
            <p:nvPr/>
          </p:nvSpPr>
          <p:spPr>
            <a:xfrm>
              <a:off x="6502986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  <p:sp>
          <p:nvSpPr>
            <p:cNvPr id="17" name="流程图: 数据 9"/>
            <p:cNvSpPr/>
            <p:nvPr/>
          </p:nvSpPr>
          <p:spPr>
            <a:xfrm>
              <a:off x="6644356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  <p:sp>
          <p:nvSpPr>
            <p:cNvPr id="18" name="流程图: 数据 9"/>
            <p:cNvSpPr/>
            <p:nvPr/>
          </p:nvSpPr>
          <p:spPr>
            <a:xfrm>
              <a:off x="6785729" y="4189567"/>
              <a:ext cx="156946" cy="226895"/>
            </a:xfrm>
            <a:custGeom>
              <a:avLst/>
              <a:gdLst>
                <a:gd name="connsiteX0" fmla="*/ 0 w 10000"/>
                <a:gd name="connsiteY0" fmla="*/ 10000 h 10000"/>
                <a:gd name="connsiteX1" fmla="*/ 2000 w 10000"/>
                <a:gd name="connsiteY1" fmla="*/ 0 h 10000"/>
                <a:gd name="connsiteX2" fmla="*/ 10000 w 10000"/>
                <a:gd name="connsiteY2" fmla="*/ 0 h 10000"/>
                <a:gd name="connsiteX3" fmla="*/ 8000 w 10000"/>
                <a:gd name="connsiteY3" fmla="*/ 10000 h 10000"/>
                <a:gd name="connsiteX4" fmla="*/ 0 w 10000"/>
                <a:gd name="connsiteY4" fmla="*/ 10000 h 10000"/>
                <a:gd name="connsiteX0-1" fmla="*/ 0 w 18208"/>
                <a:gd name="connsiteY0-2" fmla="*/ 10042 h 10042"/>
                <a:gd name="connsiteX1-3" fmla="*/ 2000 w 18208"/>
                <a:gd name="connsiteY1-4" fmla="*/ 42 h 10042"/>
                <a:gd name="connsiteX2-5" fmla="*/ 18208 w 18208"/>
                <a:gd name="connsiteY2-6" fmla="*/ 0 h 10042"/>
                <a:gd name="connsiteX3-7" fmla="*/ 8000 w 18208"/>
                <a:gd name="connsiteY3-8" fmla="*/ 10042 h 10042"/>
                <a:gd name="connsiteX4-9" fmla="*/ 0 w 18208"/>
                <a:gd name="connsiteY4-10" fmla="*/ 10042 h 10042"/>
                <a:gd name="connsiteX0-11" fmla="*/ 0 w 18208"/>
                <a:gd name="connsiteY0-12" fmla="*/ 10042 h 10042"/>
                <a:gd name="connsiteX1-13" fmla="*/ 10498 w 18208"/>
                <a:gd name="connsiteY1-14" fmla="*/ 126 h 10042"/>
                <a:gd name="connsiteX2-15" fmla="*/ 18208 w 18208"/>
                <a:gd name="connsiteY2-16" fmla="*/ 0 h 10042"/>
                <a:gd name="connsiteX3-17" fmla="*/ 8000 w 18208"/>
                <a:gd name="connsiteY3-18" fmla="*/ 10042 h 10042"/>
                <a:gd name="connsiteX4-19" fmla="*/ 0 w 18208"/>
                <a:gd name="connsiteY4-20" fmla="*/ 10042 h 1004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08" h="10042">
                  <a:moveTo>
                    <a:pt x="0" y="10042"/>
                  </a:moveTo>
                  <a:lnTo>
                    <a:pt x="10498" y="126"/>
                  </a:lnTo>
                  <a:lnTo>
                    <a:pt x="18208" y="0"/>
                  </a:lnTo>
                  <a:lnTo>
                    <a:pt x="8000" y="10042"/>
                  </a:lnTo>
                  <a:lnTo>
                    <a:pt x="0" y="1004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cs"/>
              </a:endParaRPr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4795441" y="5960950"/>
            <a:ext cx="5187593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/>
          <p:cNvSpPr/>
          <p:nvPr/>
        </p:nvSpPr>
        <p:spPr>
          <a:xfrm rot="10800000">
            <a:off x="2058797" y="661418"/>
            <a:ext cx="1287566" cy="400143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Huawei Sans" panose="020B0A04020102020204"/>
              <a:ea typeface="微软雅黑"/>
              <a:cs typeface="Huawei Sans" panose="020C0503030203020204" pitchFamily="34" charset="0"/>
              <a:sym typeface="+mn-lt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3452245" y="686332"/>
            <a:ext cx="29373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1219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Huawei Sans" panose="020B0A04020102020204"/>
                <a:ea typeface="微软雅黑"/>
                <a:cs typeface="Huawei Sans" panose="020C0503030203020204" pitchFamily="34" charset="0"/>
                <a:sym typeface="+mn-lt"/>
              </a:rPr>
              <a:t>TABLE OF CONTENTS</a:t>
            </a: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134843" y="661418"/>
            <a:ext cx="11354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1219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awei Sans" panose="020B0A04020102020204"/>
                <a:ea typeface="微软雅黑"/>
                <a:cs typeface="Huawei Sans" panose="020C0503030203020204" pitchFamily="34" charset="0"/>
                <a:sym typeface="+mn-lt"/>
              </a:rPr>
              <a:t>目 录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B0A04020102020204"/>
              <a:ea typeface="微软雅黑"/>
              <a:cs typeface="Huawei Sans" panose="020C0503030203020204" pitchFamily="34" charset="0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 flipH="1">
            <a:off x="115240" y="869574"/>
            <a:ext cx="1695449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cxnSp>
        <p:nvCxnSpPr>
          <p:cNvPr id="9" name="直接连接符 8"/>
          <p:cNvCxnSpPr/>
          <p:nvPr/>
        </p:nvCxnSpPr>
        <p:spPr>
          <a:xfrm>
            <a:off x="5640963" y="869574"/>
            <a:ext cx="2295525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820716" y="1653053"/>
            <a:ext cx="405880" cy="48013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1</a:t>
            </a:r>
          </a:p>
        </p:txBody>
      </p:sp>
      <p:sp>
        <p:nvSpPr>
          <p:cNvPr id="14" name="矩形 13"/>
          <p:cNvSpPr/>
          <p:nvPr/>
        </p:nvSpPr>
        <p:spPr>
          <a:xfrm>
            <a:off x="2542794" y="1644277"/>
            <a:ext cx="1620957" cy="48013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整体回顾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20716" y="3040760"/>
            <a:ext cx="4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uawei Sans" panose="020C0503030203020204" pitchFamily="34" charset="0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542794" y="3061562"/>
            <a:ext cx="3846759" cy="480131"/>
          </a:xfrm>
          <a:prstGeom prst="rect">
            <a:avLst/>
          </a:prstGeom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生成场景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A6309C-8F69-4C52-9BCE-6D35FD0CB201}"/>
              </a:ext>
            </a:extLst>
          </p:cNvPr>
          <p:cNvSpPr/>
          <p:nvPr/>
        </p:nvSpPr>
        <p:spPr>
          <a:xfrm>
            <a:off x="1810689" y="4471556"/>
            <a:ext cx="4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+mn-lt"/>
              </a:rPr>
              <a:t>5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74D9A0D-0C14-485B-9DC2-9AE863B449E9}"/>
              </a:ext>
            </a:extLst>
          </p:cNvPr>
          <p:cNvSpPr/>
          <p:nvPr/>
        </p:nvSpPr>
        <p:spPr>
          <a:xfrm>
            <a:off x="2532767" y="4511531"/>
            <a:ext cx="5650720" cy="480131"/>
          </a:xfrm>
          <a:prstGeom prst="rect">
            <a:avLst/>
          </a:prstGeom>
          <a:effectLst/>
        </p:spPr>
        <p:txBody>
          <a:bodyPr wrap="square" anchor="ctr">
            <a:spAutoFit/>
          </a:bodyPr>
          <a:lstStyle/>
          <a:p>
            <a:pPr lvl="0">
              <a:lnSpc>
                <a:spcPct val="90000"/>
              </a:lnSpc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特战队问题复盘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B9C73A-CEEB-4636-A802-A367EC156DEE}"/>
              </a:ext>
            </a:extLst>
          </p:cNvPr>
          <p:cNvSpPr/>
          <p:nvPr/>
        </p:nvSpPr>
        <p:spPr>
          <a:xfrm>
            <a:off x="1820716" y="5186953"/>
            <a:ext cx="4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+mn-lt"/>
              </a:rPr>
              <a:t>6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uawei Sans" panose="020C0503030203020204" pitchFamily="34" charset="0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9E03A7-CCC4-43EA-99F6-7B151AFECE21}"/>
              </a:ext>
            </a:extLst>
          </p:cNvPr>
          <p:cNvSpPr/>
          <p:nvPr/>
        </p:nvSpPr>
        <p:spPr>
          <a:xfrm>
            <a:off x="2542794" y="5198455"/>
            <a:ext cx="2339102" cy="48013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项目运作复盘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AE2D4B-6417-6935-9E3C-F3F5AAADF86E}"/>
              </a:ext>
            </a:extLst>
          </p:cNvPr>
          <p:cNvSpPr/>
          <p:nvPr/>
        </p:nvSpPr>
        <p:spPr>
          <a:xfrm>
            <a:off x="1820716" y="2325362"/>
            <a:ext cx="4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+mn-lt"/>
              </a:rPr>
              <a:t>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76D69B-27BA-0C3E-86E2-BADDDC33B48F}"/>
              </a:ext>
            </a:extLst>
          </p:cNvPr>
          <p:cNvSpPr/>
          <p:nvPr/>
        </p:nvSpPr>
        <p:spPr>
          <a:xfrm>
            <a:off x="2542794" y="2350163"/>
            <a:ext cx="3846759" cy="480131"/>
          </a:xfrm>
          <a:prstGeom prst="rect">
            <a:avLst/>
          </a:prstGeom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AICoding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B48565-25B8-DA1D-2500-1BEFC2057135}"/>
              </a:ext>
            </a:extLst>
          </p:cNvPr>
          <p:cNvSpPr/>
          <p:nvPr/>
        </p:nvSpPr>
        <p:spPr>
          <a:xfrm>
            <a:off x="1820716" y="3756158"/>
            <a:ext cx="4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+mn-lt"/>
              </a:rPr>
              <a:t>4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uawei Sans" panose="020C0503030203020204" pitchFamily="34" charset="0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0542F5-A075-51E2-764A-77C736C6B1CB}"/>
              </a:ext>
            </a:extLst>
          </p:cNvPr>
          <p:cNvSpPr/>
          <p:nvPr/>
        </p:nvSpPr>
        <p:spPr>
          <a:xfrm>
            <a:off x="2542794" y="3788507"/>
            <a:ext cx="4674435" cy="480131"/>
          </a:xfrm>
          <a:prstGeom prst="rect">
            <a:avLst/>
          </a:prstGeom>
          <a:effectLst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Bailing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DSV4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304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981" y="2194560"/>
            <a:ext cx="10972800" cy="10972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5040" b="1" kern="0" spc="3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Coding 专项</a:t>
            </a:r>
            <a:endParaRPr lang="en-US" sz="50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1981" y="3291840"/>
            <a:ext cx="10972800" cy="7680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3120" kern="0" spc="180" dirty="0">
                <a:solidFill>
                  <a:srgbClr val="E6F0F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规划与复盘总结</a:t>
            </a:r>
            <a:endParaRPr lang="en-US" sz="31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1981" y="4937760"/>
            <a:ext cx="109728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680" dirty="0">
                <a:solidFill>
                  <a:srgbClr val="3B8DD4"/>
                </a:solidFill>
                <a:latin typeface="Calibri"/>
              </a:rPr>
              <a:t>2025年5月</a:t>
            </a:r>
            <a:endParaRPr lang="en-US" sz="168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029" y="329184"/>
            <a:ext cx="10204704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3360" b="1" kern="0" spc="360" dirty="0">
                <a:solidFill>
                  <a:srgbClr val="1A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目  录</a:t>
            </a:r>
            <a:endParaRPr lang="en-US" sz="33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96029" y="1097280"/>
            <a:ext cx="603504" cy="60350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029" y="1097280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01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64125" y="1097280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A5C"/>
                </a:solidFill>
                <a:latin typeface="Calibri"/>
              </a:rPr>
              <a:t>专项定位与目标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64125" y="1426464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F8C8D"/>
                </a:solidFill>
                <a:latin typeface="Calibri"/>
              </a:rPr>
              <a:t>业务SLO / 技术目标 / 团队组织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96029" y="2029968"/>
            <a:ext cx="603504" cy="60350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029" y="2029968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02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64125" y="2029968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A5C"/>
                </a:solidFill>
                <a:latin typeface="Calibri"/>
              </a:rPr>
              <a:t>技术方案与优化特性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64125" y="2359152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F8C8D"/>
                </a:solidFill>
                <a:latin typeface="Calibri"/>
              </a:rPr>
              <a:t>并行方式对比 / 四维优化看板 / 推荐配置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96029" y="2962656"/>
            <a:ext cx="603504" cy="60350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029" y="2962656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03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64125" y="2962656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A5C"/>
                </a:solidFill>
                <a:latin typeface="Calibri"/>
              </a:rPr>
              <a:t>进展复盘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64125" y="3291840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F8C8D"/>
                </a:solidFill>
                <a:latin typeface="Calibri"/>
              </a:rPr>
              <a:t>当前成果 / 性能数据 / 风险项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6029" y="3895344"/>
            <a:ext cx="603504" cy="60350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029" y="3895344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04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64125" y="3895344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A5C"/>
                </a:solidFill>
                <a:latin typeface="Calibri"/>
              </a:rPr>
              <a:t>反思与经验教训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64125" y="4224528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F8C8D"/>
                </a:solidFill>
                <a:latin typeface="Calibri"/>
              </a:rPr>
              <a:t>做得好的 / 待改进的 / 经验沉淀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96029" y="4828032"/>
            <a:ext cx="603504" cy="60350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029" y="4828032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05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64125" y="4828032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A5C"/>
                </a:solidFill>
                <a:latin typeface="Calibri"/>
              </a:rPr>
              <a:t>Roadmap与任务规划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64125" y="5157216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F8C8D"/>
                </a:solidFill>
                <a:latin typeface="Calibri"/>
              </a:rPr>
              <a:t>Q1-Q4路线图 / 任务细分 / 模型验证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96029" y="5760720"/>
            <a:ext cx="603504" cy="60350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029" y="5760720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06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764125" y="5760720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A5C"/>
                </a:solidFill>
                <a:latin typeface="Calibri"/>
              </a:rPr>
              <a:t>总结与下一步计划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764125" y="6089904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F8C8D"/>
                </a:solidFill>
                <a:latin typeface="Calibri"/>
              </a:rPr>
              <a:t>核心结论 / 行动计划 / 资源诉求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一、专项定位与目标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029" y="482803"/>
            <a:ext cx="102047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i="1" dirty="0">
                <a:solidFill>
                  <a:srgbClr val="1A3A5C"/>
                </a:solidFill>
                <a:latin typeface="Calibri"/>
              </a:rPr>
              <a:t>定位：综合性专项 — 将其余技术专项落地至Coding场景，理论分析结合实际收益评估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996029" y="768096"/>
          <a:ext cx="9985248" cy="1426465"/>
        </p:xfrm>
        <a:graphic>
          <a:graphicData uri="http://schemas.openxmlformats.org/drawingml/2006/table">
            <a:tbl>
              <a:tblPr/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9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输入Token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P50 TTFT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P90 TPOT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Cache命中&gt;70%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技术目标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0K-10K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≤3s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≤70ms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TTFT&lt;2s / TPOT&lt;70ms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10K-40K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≤5s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≤70ms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TTFT&lt;3s / TPOT&lt;70ms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40K-80K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≤10s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&lt;70ms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TTFT&lt;5s / TPOT&lt;70ms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&gt;80K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&lt;70ms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TTFT&lt;10s / TPOT&lt;70ms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031069" y="482803"/>
            <a:ext cx="384048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3B8DD4"/>
                </a:solidFill>
                <a:latin typeface="Calibri"/>
              </a:rPr>
              <a:t>技术目标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031069" y="702259"/>
            <a:ext cx="3840480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靶子：0.8×理论性能  • 仿真工具落地  • 可推广性优化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6029" y="2249424"/>
            <a:ext cx="6583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3B8DD4"/>
                </a:solidFill>
                <a:latin typeface="Calibri"/>
              </a:rPr>
              <a:t>团队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54397" y="2249424"/>
            <a:ext cx="46085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人力池：郝坤、王俊豪、郭晨航*、李炜奕*、缪若琳、潇剑南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82429" y="2249424"/>
            <a:ext cx="4608576" cy="241402"/>
          </a:xfrm>
          <a:prstGeom prst="rect">
            <a:avLst/>
          </a:prstGeom>
          <a:noFill/>
        </p:spPr>
        <p:txBody>
          <a:bodyPr wrap="square" rtlCol="0" anchor="ctr">
            <a:normAutofit fontScale="92500"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模型Owner：付南阳(GLM5) | 俞锦祺(Qwen3.5) | 陈逸聪(MiniMax) | 韩新龙(KIMI K2.5)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96029" y="2501798"/>
            <a:ext cx="768096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3B8DD4"/>
                </a:solidFill>
                <a:latin typeface="Calibri"/>
              </a:rPr>
              <a:t>典型场景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764125" y="2501798"/>
            <a:ext cx="9326880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大而全：GLM5显存优化，SLO满足下降低node数量    |    小而快：MiniMax2.5低时延，追求极致TPOT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96029" y="2798064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4" name="Text 11"/>
          <p:cNvSpPr/>
          <p:nvPr/>
        </p:nvSpPr>
        <p:spPr>
          <a:xfrm>
            <a:off x="996029" y="2798064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二、技术方案与优化特性看板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996029" y="3160166"/>
          <a:ext cx="9985248" cy="164592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并行方式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静态显存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动态显存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计算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通信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降低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降低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切分1/TP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63031"/>
                          </a:solidFill>
                        </a:rPr>
                        <a:t>开销大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大模型，广泛使用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PCP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不变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降低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切分1/PCP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开销小(Ring)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长序列，降激活显存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降低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降低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降层数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P2P(可掩盖)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大模型，通信小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CPP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降低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降低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切分计算量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通信少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大模型+长序列+跨机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动态CP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变长序列：短→DP，长→CP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996029" y="4849977"/>
            <a:ext cx="10204704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1A3A5C"/>
                </a:solidFill>
                <a:latin typeface="Calibri"/>
              </a:rPr>
              <a:t>优化特性看板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996029" y="5113325"/>
            <a:ext cx="2496312" cy="241402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96029" y="5113325"/>
            <a:ext cx="2496312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b="1" dirty="0">
                <a:solidFill>
                  <a:srgbClr val="FFFFFF"/>
                </a:solidFill>
                <a:latin typeface="Calibri"/>
              </a:rPr>
              <a:t>Prefill阶段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050894" y="5376672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PCP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1944628" y="5398617"/>
            <a:ext cx="698968" cy="24140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44628" y="5398617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已支持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2693521" y="5376672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重构中(06.30)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050894" y="5683910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KV Pool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1944628" y="5705856"/>
            <a:ext cx="698968" cy="24140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944628" y="5705856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已支持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2693521" y="5683910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待验证(05.30)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050894" y="5991149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CPP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1944628" y="6013094"/>
            <a:ext cx="698968" cy="24140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944628" y="6013094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已合入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2693521" y="5991149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PR#7896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1050894" y="6298387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动态CP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1944628" y="6320333"/>
            <a:ext cx="698968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944628" y="6320333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开发中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2693521" y="6298387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验证中(05.15)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1050894" y="6605626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VPP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1944628" y="6627571"/>
            <a:ext cx="698968" cy="24140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944628" y="6627571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开发完成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2693521" y="6605626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Bug修复(05.15)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3602069" y="5113325"/>
            <a:ext cx="2496312" cy="241402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602069" y="5113325"/>
            <a:ext cx="2496312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b="1" dirty="0">
                <a:solidFill>
                  <a:srgbClr val="FFFFFF"/>
                </a:solidFill>
                <a:latin typeface="Calibri"/>
              </a:rPr>
              <a:t>Decode阶段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3656934" y="5376672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投机解码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4550668" y="5398617"/>
            <a:ext cx="698968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50668" y="5398617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进行中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5299561" y="5376672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Eagle3/DFLash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3656934" y="5683910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DCP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4550668" y="5705856"/>
            <a:ext cx="698968" cy="24140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550668" y="5705856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已支持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5299561" y="5683910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待验证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6208109" y="5113325"/>
            <a:ext cx="2496312" cy="241402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208109" y="5113325"/>
            <a:ext cx="2496312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b="1" dirty="0">
                <a:solidFill>
                  <a:srgbClr val="FFFFFF"/>
                </a:solidFill>
                <a:latin typeface="Calibri"/>
              </a:rPr>
              <a:t>显存优化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6262974" y="5376672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PCP/DCP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7156708" y="5398617"/>
            <a:ext cx="698968" cy="24140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7156708" y="5398617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已支持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7905601" y="5376672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降激活+KV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6262974" y="5683910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C8量化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Shape 52"/>
          <p:cNvSpPr/>
          <p:nvPr/>
        </p:nvSpPr>
        <p:spPr>
          <a:xfrm>
            <a:off x="7156708" y="5705856"/>
            <a:ext cx="698968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156708" y="5705856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验证中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7905601" y="5683910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-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9" name="Text 55"/>
          <p:cNvSpPr/>
          <p:nvPr/>
        </p:nvSpPr>
        <p:spPr>
          <a:xfrm>
            <a:off x="6262974" y="5991149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W4/W8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7156708" y="6013094"/>
            <a:ext cx="698968" cy="24140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156708" y="6013094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规划中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Text 58"/>
          <p:cNvSpPr/>
          <p:nvPr/>
        </p:nvSpPr>
        <p:spPr>
          <a:xfrm>
            <a:off x="7905601" y="5991149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Prefill W4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Shape 59"/>
          <p:cNvSpPr/>
          <p:nvPr/>
        </p:nvSpPr>
        <p:spPr>
          <a:xfrm>
            <a:off x="8814149" y="5113325"/>
            <a:ext cx="2496312" cy="241402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8814149" y="5113325"/>
            <a:ext cx="2496312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b="1" dirty="0">
                <a:solidFill>
                  <a:srgbClr val="FFFFFF"/>
                </a:solidFill>
                <a:latin typeface="Calibri"/>
              </a:rPr>
              <a:t>算法优化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5" name="Text 61"/>
          <p:cNvSpPr/>
          <p:nvPr/>
        </p:nvSpPr>
        <p:spPr>
          <a:xfrm>
            <a:off x="8869014" y="5376672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FA算子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6" name="Shape 62"/>
          <p:cNvSpPr/>
          <p:nvPr/>
        </p:nvSpPr>
        <p:spPr>
          <a:xfrm>
            <a:off x="9762748" y="5398617"/>
            <a:ext cx="698968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762748" y="5398617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进行中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8" name="Text 64"/>
          <p:cNvSpPr/>
          <p:nvPr/>
        </p:nvSpPr>
        <p:spPr>
          <a:xfrm>
            <a:off x="10511641" y="5376672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算子优化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8869014" y="5683910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FA稀疏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0" name="Shape 66"/>
          <p:cNvSpPr/>
          <p:nvPr/>
        </p:nvSpPr>
        <p:spPr>
          <a:xfrm>
            <a:off x="9762748" y="5705856"/>
            <a:ext cx="698968" cy="24140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9762748" y="5705856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预研中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Text 68"/>
          <p:cNvSpPr/>
          <p:nvPr/>
        </p:nvSpPr>
        <p:spPr>
          <a:xfrm>
            <a:off x="10511641" y="5683910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DSA-CP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3" name="Text 69"/>
          <p:cNvSpPr/>
          <p:nvPr/>
        </p:nvSpPr>
        <p:spPr>
          <a:xfrm>
            <a:off x="8869014" y="5991149"/>
            <a:ext cx="873709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SALS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4" name="Shape 70"/>
          <p:cNvSpPr/>
          <p:nvPr/>
        </p:nvSpPr>
        <p:spPr>
          <a:xfrm>
            <a:off x="9762748" y="6013094"/>
            <a:ext cx="698968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9762748" y="6013094"/>
            <a:ext cx="698968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分析中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Text 72"/>
          <p:cNvSpPr/>
          <p:nvPr/>
        </p:nvSpPr>
        <p:spPr>
          <a:xfrm>
            <a:off x="10511641" y="5991149"/>
            <a:ext cx="748894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仅GQA收益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7" name="Text 73"/>
          <p:cNvSpPr/>
          <p:nvPr/>
        </p:nvSpPr>
        <p:spPr>
          <a:xfrm>
            <a:off x="996029" y="6528816"/>
            <a:ext cx="1097280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3B8DD4"/>
                </a:solidFill>
                <a:latin typeface="Calibri"/>
              </a:rPr>
              <a:t>推荐配置：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8" name="Text 74"/>
          <p:cNvSpPr/>
          <p:nvPr/>
        </p:nvSpPr>
        <p:spPr>
          <a:xfrm>
            <a:off x="2093309" y="6528816"/>
            <a:ext cx="8778240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单机长序列 TP=8,DCP=4  |  多机Prefill TP=16,EP=16,PCP=2  |  多机Decode TP=1,EP=64,DP=64  |  超长序列(&gt;64k) TP=16,PCP=4,DCP=8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三、进展复盘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50893" y="537667"/>
            <a:ext cx="197510" cy="19751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893" y="537667"/>
            <a:ext cx="19751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b="1" dirty="0">
                <a:solidFill>
                  <a:srgbClr val="FFFFFF"/>
                </a:solidFill>
                <a:latin typeface="Calibri"/>
              </a:rPr>
              <a:t>✓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25213" y="482803"/>
            <a:ext cx="1645920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PCP/DCP支持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25997" y="482803"/>
            <a:ext cx="307238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7F8C8D"/>
                </a:solidFill>
                <a:latin typeface="Calibri"/>
              </a:rPr>
              <a:t>GQA/MLA/DSA类模型，多模态已支持(#8038)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50893" y="866851"/>
            <a:ext cx="197510" cy="19751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0893" y="866851"/>
            <a:ext cx="19751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b="1" dirty="0">
                <a:solidFill>
                  <a:srgbClr val="FFFFFF"/>
                </a:solidFill>
                <a:latin typeface="Calibri"/>
              </a:rPr>
              <a:t>✓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25213" y="811987"/>
            <a:ext cx="1645920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CPP代码合入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25997" y="811987"/>
            <a:ext cx="307238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7F8C8D"/>
                </a:solidFill>
                <a:latin typeface="Calibri"/>
              </a:rPr>
              <a:t>PR#7896已合入vllm-ascend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50893" y="1196035"/>
            <a:ext cx="197510" cy="19751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0893" y="1196035"/>
            <a:ext cx="19751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b="1" dirty="0">
                <a:solidFill>
                  <a:srgbClr val="FFFFFF"/>
                </a:solidFill>
                <a:latin typeface="Calibri"/>
              </a:rPr>
              <a:t>→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25213" y="1141171"/>
            <a:ext cx="1645920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DeepseekV4排期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25997" y="1141171"/>
            <a:ext cx="307238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7F8C8D"/>
                </a:solidFill>
                <a:latin typeface="Calibri"/>
              </a:rPr>
              <a:t>长序列场景纳入Coding专线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50893" y="1525219"/>
            <a:ext cx="197510" cy="19751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0893" y="1525219"/>
            <a:ext cx="19751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b="1" dirty="0">
                <a:solidFill>
                  <a:srgbClr val="FFFFFF"/>
                </a:solidFill>
                <a:latin typeface="Calibri"/>
              </a:rPr>
              <a:t>→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25213" y="1470355"/>
            <a:ext cx="1645920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动态CP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25997" y="1470355"/>
            <a:ext cx="307238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7F8C8D"/>
                </a:solidFill>
                <a:latin typeface="Calibri"/>
              </a:rPr>
              <a:t>DeepseekR1支持，功能验证正常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50893" y="1854403"/>
            <a:ext cx="197510" cy="19751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0893" y="1854403"/>
            <a:ext cx="19751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b="1" dirty="0">
                <a:solidFill>
                  <a:srgbClr val="FFFFFF"/>
                </a:solidFill>
                <a:latin typeface="Calibri"/>
              </a:rPr>
              <a:t>→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25213" y="1799539"/>
            <a:ext cx="1645920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精度验证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025997" y="1799539"/>
            <a:ext cx="307238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7F8C8D"/>
                </a:solidFill>
                <a:latin typeface="Calibri"/>
              </a:rPr>
              <a:t>GSM8K OK，全量测试进行中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50893" y="2183587"/>
            <a:ext cx="197510" cy="19751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0893" y="2183587"/>
            <a:ext cx="19751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b="1" dirty="0">
                <a:solidFill>
                  <a:srgbClr val="FFFFFF"/>
                </a:solidFill>
                <a:latin typeface="Calibri"/>
              </a:rPr>
              <a:t>→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25213" y="2128723"/>
            <a:ext cx="1645920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DSA-CP联创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25997" y="2128723"/>
            <a:ext cx="307238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7F8C8D"/>
                </a:solidFill>
                <a:latin typeface="Calibri"/>
              </a:rPr>
              <a:t>基于DS3.2/GLM5分析，代码收编中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82429" y="482803"/>
            <a:ext cx="1645920" cy="241402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1200" b="1" dirty="0">
                <a:solidFill>
                  <a:srgbClr val="1A3A5C"/>
                </a:solidFill>
                <a:latin typeface="Calibri"/>
              </a:rPr>
              <a:t>性能成果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82429" y="746150"/>
            <a:ext cx="2194560" cy="987552"/>
          </a:xfrm>
          <a:prstGeom prst="rect">
            <a:avLst/>
          </a:prstGeom>
          <a:solidFill>
            <a:srgbClr val="E6F0F8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2429" y="768096"/>
            <a:ext cx="2194560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algn="ctr" defTabSz="1097280"/>
            <a:r>
              <a:rPr lang="en-US" sz="960" dirty="0">
                <a:solidFill>
                  <a:srgbClr val="3B8DD4"/>
                </a:solidFill>
                <a:latin typeface="Calibri"/>
              </a:rPr>
              <a:t>Prefill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82429" y="965607"/>
            <a:ext cx="219456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dirty="0">
                <a:solidFill>
                  <a:srgbClr val="1A3A5C"/>
                </a:solidFill>
                <a:latin typeface="Calibri"/>
              </a:rPr>
              <a:t>短序列混入1%的64K长序列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82429" y="1163117"/>
            <a:ext cx="2194560" cy="438912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algn="ctr" defTabSz="1097280"/>
            <a:r>
              <a:rPr lang="en-US" sz="2640" b="1" dirty="0">
                <a:solidFill>
                  <a:srgbClr val="27AE60"/>
                </a:solidFill>
                <a:latin typeface="Calibri"/>
              </a:rPr>
              <a:t>+19%</a:t>
            </a:r>
            <a:endParaRPr lang="en-US" sz="26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96445" y="746150"/>
            <a:ext cx="2194560" cy="987552"/>
          </a:xfrm>
          <a:prstGeom prst="rect">
            <a:avLst/>
          </a:prstGeom>
          <a:solidFill>
            <a:srgbClr val="E6F0F8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96445" y="768096"/>
            <a:ext cx="2194560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algn="ctr" defTabSz="1097280"/>
            <a:r>
              <a:rPr lang="en-US" sz="960" dirty="0">
                <a:solidFill>
                  <a:srgbClr val="3B8DD4"/>
                </a:solidFill>
                <a:latin typeface="Calibri"/>
              </a:rPr>
              <a:t>Decode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896445" y="965607"/>
            <a:ext cx="2194560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algn="ctr" defTabSz="1097280"/>
            <a:r>
              <a:rPr lang="en-US" sz="840" dirty="0">
                <a:solidFill>
                  <a:srgbClr val="1A3A5C"/>
                </a:solidFill>
                <a:latin typeface="Calibri"/>
              </a:rPr>
              <a:t>短序列混入1%的128K长序列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96445" y="1163117"/>
            <a:ext cx="2194560" cy="438912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algn="ctr" defTabSz="1097280"/>
            <a:r>
              <a:rPr lang="en-US" sz="2640" b="1" dirty="0">
                <a:solidFill>
                  <a:srgbClr val="27AE60"/>
                </a:solidFill>
                <a:latin typeface="Calibri"/>
              </a:rPr>
              <a:t>+8%</a:t>
            </a:r>
            <a:endParaRPr lang="en-US" sz="26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82429" y="1810512"/>
            <a:ext cx="1097280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1080" b="1" dirty="0">
                <a:solidFill>
                  <a:srgbClr val="D63031"/>
                </a:solidFill>
                <a:latin typeface="Calibri"/>
              </a:rPr>
              <a:t>风险项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82429" y="2029968"/>
            <a:ext cx="4608576" cy="38404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• 动态CP: PD分离Bug已定位(05.15)  • VPP: rebase后Bug修复中(05.15)  • PCP重构: 年中Ready(06.30)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96029" y="2578608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40" name="Text 38"/>
          <p:cNvSpPr/>
          <p:nvPr/>
        </p:nvSpPr>
        <p:spPr>
          <a:xfrm>
            <a:off x="996029" y="257860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DeepSeek V4 提测进展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96029" y="2962656"/>
            <a:ext cx="10204704" cy="384048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5757" y="2984602"/>
            <a:ext cx="93268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目标：(Flash + Pro) × (A2 + A3) × (W8A8 + W4A8) 准出上线，性能达成0.8×H20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3" name="Table 0"/>
          <p:cNvGraphicFramePr>
            <a:graphicFrameLocks noGrp="1"/>
          </p:cNvGraphicFramePr>
          <p:nvPr/>
        </p:nvGraphicFramePr>
        <p:xfrm>
          <a:off x="996029" y="3401568"/>
          <a:ext cx="10094976" cy="131673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平台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进展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关键问题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里程碑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V4-Flash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A2+A3 W8A8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0.13.0流水线完成✓ 0.18.0准出中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部分数据集精度无分数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430准出 | 5.6镜像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V4-Pro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A2 W4A8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7AE60"/>
                          </a:solidFill>
                        </a:rPr>
                        <a:t>2机混部流水线完成✓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3031"/>
                          </a:solidFill>
                        </a:rPr>
                        <a:t>复读精度问题(Issue#8994)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5.8流水线 | 5.15PD分离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V4-Pro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A3 W4A8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2机混部流水线测试中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部分数据集精度问题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5.8流水线 | 5.14PD分离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Text 41"/>
          <p:cNvSpPr/>
          <p:nvPr/>
        </p:nvSpPr>
        <p:spPr>
          <a:xfrm>
            <a:off x="996029" y="4773168"/>
            <a:ext cx="164592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1A3A5C"/>
                </a:solidFill>
                <a:latin typeface="Calibri"/>
              </a:rPr>
              <a:t>提测问题汇总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45" name="Table 1"/>
          <p:cNvGraphicFramePr>
            <a:graphicFrameLocks noGrp="1"/>
          </p:cNvGraphicFramePr>
          <p:nvPr/>
        </p:nvGraphicFramePr>
        <p:xfrm>
          <a:off x="996029" y="5025542"/>
          <a:ext cx="10094976" cy="131673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8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问题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状态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解决方式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环境变量/编译问题(CPLUS_INCLUDE_PATH, __init__.py)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配置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已解决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unset环境变量 / 补充文件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后处理参数temperature 0-1报错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功能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0A500"/>
                          </a:solidFill>
                        </a:rPr>
                        <a:t>已规避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规避PR + 0.18.0彻底解决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V4-Pro/Flash复读问题(temperature/top_p偏离默认值)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精度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D63031"/>
                          </a:solidFill>
                        </a:rPr>
                        <a:t>定位中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对比0.13.0/0.18.0代码，验证方案三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triton-ascend与triton共存 / torchvision A2版本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依赖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0A500"/>
                          </a:solidFill>
                        </a:rPr>
                        <a:t>已知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卸载重装 / 指定cpu版本</a:t>
                      </a:r>
                      <a:endParaRPr lang="en-US" sz="8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四、反思与经验教训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029" y="526694"/>
            <a:ext cx="499262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029" y="526694"/>
            <a:ext cx="499262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✓  做得好的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96029" y="92171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5757" y="95463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27AE60"/>
                </a:solidFill>
                <a:latin typeface="Calibri"/>
              </a:rPr>
              <a:t>社区协作模式跑通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5757" y="120700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PR#7896(CPP)、PR#8038(多模态)成功合入vllm-ascend社区，建立了从分析→开发→PR→合入的标准化流程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96029" y="174467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5757" y="177759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27AE60"/>
                </a:solidFill>
                <a:latin typeface="Calibri"/>
              </a:rPr>
              <a:t>多模型并行验证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05757" y="202996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GLM5/Qwen3.5/MiniMax/KIMI K2.5四模型同步推进，模型Owner机制有效分工，避免单点瓶颈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96029" y="256763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5757" y="260055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27AE60"/>
                </a:solidFill>
                <a:latin typeface="Calibri"/>
              </a:rPr>
              <a:t>性能收益可量化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05757" y="285292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Prefill +19%、Decode +8% 有明确基线对比，混入长序列的真实场景验证更具说服力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6029" y="339059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5757" y="342351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27AE60"/>
                </a:solidFill>
                <a:latin typeface="Calibri"/>
              </a:rPr>
              <a:t>特性组合验证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05757" y="367588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PCP+DCP+KV Pool叠加验证思路正确，提前暴露特性间的兼容性问题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08109" y="526694"/>
            <a:ext cx="4992624" cy="329184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109" y="526694"/>
            <a:ext cx="499262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⚠  待改进的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8109" y="92171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7837" y="95463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D63031"/>
                </a:solidFill>
                <a:latin typeface="Calibri"/>
              </a:rPr>
              <a:t>版本碎片化严重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17837" y="120700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0.13.0→0.18.0多次迭代，每次镜像构建都引入新问题(环境变量、编译、依赖)，缺乏统一的CI验证流程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08109" y="174467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7837" y="177759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D63031"/>
                </a:solidFill>
                <a:latin typeface="Calibri"/>
              </a:rPr>
              <a:t>精度验证不充分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17837" y="202996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GSM8K仅覆盖数学场景，全量精度测试启动晚，导致复读等精度问题在提测阶段才暴露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08109" y="256763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7837" y="260055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D63031"/>
                </a:solidFill>
                <a:latin typeface="Calibri"/>
              </a:rPr>
              <a:t>社区问题响应被动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17837" y="285292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Issue#8724(后处理参数)、#8994(复读)等关键问题依赖社区修复，现场缺少独立定位和规避能力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08109" y="339059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7837" y="342351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D63031"/>
                </a:solidFill>
                <a:latin typeface="Calibri"/>
              </a:rPr>
              <a:t>特性开发与验证脱节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17837" y="3675888"/>
            <a:ext cx="4773168" cy="41696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动态CP、VPP等功能开发完成后才发现PD分离Bug，开发→验证→修复链路过长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96029" y="4279392"/>
            <a:ext cx="10204704" cy="32918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029" y="4279392"/>
            <a:ext cx="1020470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💡  经验沉淀与机制改进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6029" y="4674413"/>
            <a:ext cx="2496312" cy="186537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3812" y="4762195"/>
            <a:ext cx="307238" cy="307238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381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45688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建立镜像CI流水线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8381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每次版本更新自动跑基础功能+精度冒烟测试，避免手动构建引入低级问题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602069" y="4674413"/>
            <a:ext cx="2496312" cy="186537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89852" y="4762195"/>
            <a:ext cx="307238" cy="307238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8985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06292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前置精度验证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8985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特性开发完成后立即跑精度基线，不等到提测阶段；扩充精度测试集覆盖更多场景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08109" y="4674413"/>
            <a:ext cx="2496312" cy="186537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5892" y="4762195"/>
            <a:ext cx="307238" cy="307238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589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66896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增强社区Issue自主定位能力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29589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建立Issue分类与快速排查SOP，关键路径问题准备B方案，减少对社区修复的依赖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14149" y="4674413"/>
            <a:ext cx="2496312" cy="186537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01932" y="4762195"/>
            <a:ext cx="307238" cy="307238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0193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7500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A5C"/>
                </a:solidFill>
                <a:latin typeface="Calibri"/>
              </a:rPr>
              <a:t>特性开发闭环管理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90193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开发→自验→Code Review→集成验证，每个环节设置准入门槛，缩短问题发现到修复的周期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五、Roadmap Q1-Q4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029" y="526695"/>
            <a:ext cx="2496312" cy="30723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029" y="526695"/>
            <a:ext cx="249631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320" b="1" dirty="0">
                <a:solidFill>
                  <a:srgbClr val="FFFFFF"/>
                </a:solidFill>
                <a:latin typeface="Calibri"/>
              </a:rPr>
              <a:t>Q1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0893" y="877824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优化点分析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0893" y="1141171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性能基线测试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02069" y="526695"/>
            <a:ext cx="2496312" cy="307238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069" y="526695"/>
            <a:ext cx="249631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320" b="1" dirty="0">
                <a:solidFill>
                  <a:srgbClr val="FFFFFF"/>
                </a:solidFill>
                <a:latin typeface="Calibri"/>
              </a:rPr>
              <a:t>Q2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6933" y="877824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性能看齐DeepSeek V3.2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6933" y="1141171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PCP/DCP/KV Pool/C8验证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6933" y="1404518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Eagle3等投机解码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08109" y="526695"/>
            <a:ext cx="2496312" cy="307238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109" y="526695"/>
            <a:ext cx="249631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320" b="1" dirty="0">
                <a:solidFill>
                  <a:srgbClr val="FFFFFF"/>
                </a:solidFill>
                <a:latin typeface="Calibri"/>
              </a:rPr>
              <a:t>Q3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2973" y="877824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FA-DSA长序列优化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2973" y="1141171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动态PCP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2973" y="1404518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仿真分析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2973" y="1667865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FA稀疏算法调优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14149" y="526695"/>
            <a:ext cx="2496312" cy="307238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14149" y="526695"/>
            <a:ext cx="249631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320" b="1" dirty="0">
                <a:solidFill>
                  <a:srgbClr val="FFFFFF"/>
                </a:solidFill>
                <a:latin typeface="Calibri"/>
              </a:rPr>
              <a:t>Q4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869013" y="877824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FA稀疏算法落地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69013" y="1141171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最佳实践文档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69013" y="1404518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中期性能收益总结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869013" y="1667865"/>
            <a:ext cx="2386584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A5C"/>
                </a:solidFill>
                <a:latin typeface="Calibri"/>
              </a:rPr>
              <a:t>• 最优切分方案输出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96029" y="2084832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6" name="Text 24"/>
          <p:cNvSpPr/>
          <p:nvPr/>
        </p:nvSpPr>
        <p:spPr>
          <a:xfrm>
            <a:off x="996029" y="2084832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任务细分与模型验证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996029" y="2446934"/>
          <a:ext cx="8887968" cy="1481328"/>
        </p:xfrm>
        <a:graphic>
          <a:graphicData uri="http://schemas.openxmlformats.org/drawingml/2006/table">
            <a:tbl>
              <a:tblPr/>
              <a:tblGrid>
                <a:gridCol w="3511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任务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责任人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日期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9E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模型验证(5.30前)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GLM5/MiniMax长序列Profile采集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郝坤/付南阳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04.21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GLM PCP&amp;DSA-CP归一性能分析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郝坤/刘迎军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05.10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动态CP收益验证与性能分析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陈潇/俞锦祺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04.30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PCP/DCP各模型特性叠加验证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李稳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05.08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KV Pool各模型叠加验证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徐天宇/宽望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05.30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KIMI K2.5: 韩新龙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8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996029" y="3895344"/>
            <a:ext cx="10204704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i="1" dirty="0">
                <a:solidFill>
                  <a:srgbClr val="7F8C8D"/>
                </a:solidFill>
                <a:latin typeface="Calibri"/>
              </a:rPr>
              <a:t>验证项：各模型均需完成 PCP / DCP / KV Pool 三项特性验证与收益分析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96029" y="4169664"/>
            <a:ext cx="164592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D63031"/>
                </a:solidFill>
                <a:latin typeface="Calibri"/>
              </a:rPr>
              <a:t>关键依赖与风险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96029" y="4443984"/>
            <a:ext cx="3182112" cy="460858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0893" y="4465930"/>
            <a:ext cx="153619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动态CP PD分离Bug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641949" y="4465930"/>
            <a:ext cx="98755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已定位，修复中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29501" y="4553712"/>
            <a:ext cx="493776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29501" y="4553712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05.15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397597" y="4443984"/>
            <a:ext cx="3182112" cy="460858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52461" y="4465930"/>
            <a:ext cx="153619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VPP rebase后Bug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043517" y="4465930"/>
            <a:ext cx="98755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修复中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7031069" y="4553712"/>
            <a:ext cx="493776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31069" y="4553712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05.15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799165" y="4443984"/>
            <a:ext cx="3182112" cy="460858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54029" y="4465930"/>
            <a:ext cx="153619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PCP代码重构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9445085" y="4465930"/>
            <a:ext cx="98755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年中Ready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0432637" y="4553712"/>
            <a:ext cx="493776" cy="2414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432637" y="4553712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06.30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96029" y="4992624"/>
            <a:ext cx="3182112" cy="460858"/>
          </a:xfrm>
          <a:prstGeom prst="rect">
            <a:avLst/>
          </a:prstGeom>
          <a:solidFill>
            <a:srgbClr val="FFF8E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50893" y="5014570"/>
            <a:ext cx="153619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V4-Pro复读问题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641949" y="5014570"/>
            <a:ext cx="98755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根因定位中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3629501" y="5102352"/>
            <a:ext cx="493776" cy="24140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629501" y="5102352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05.12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397597" y="4992624"/>
            <a:ext cx="3182112" cy="460858"/>
          </a:xfrm>
          <a:prstGeom prst="rect">
            <a:avLst/>
          </a:prstGeom>
          <a:solidFill>
            <a:srgbClr val="FFF8E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452461" y="5014570"/>
            <a:ext cx="153619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900" b="1" dirty="0">
                <a:solidFill>
                  <a:srgbClr val="1A3A5C"/>
                </a:solidFill>
                <a:latin typeface="Calibri"/>
              </a:rPr>
              <a:t>0.18.0精度无分数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043517" y="5014570"/>
            <a:ext cx="987552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联合MY定位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7031069" y="5102352"/>
            <a:ext cx="493776" cy="24140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031069" y="5102352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定位中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六、总结与下一步计划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029" y="526694"/>
            <a:ext cx="10204704" cy="329184"/>
          </a:xfrm>
          <a:prstGeom prst="rect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029" y="526694"/>
            <a:ext cx="1020470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核心结论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96029" y="921715"/>
            <a:ext cx="4992624" cy="104241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811" y="1009497"/>
            <a:ext cx="241402" cy="241402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3811" y="1009497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91050" y="987552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A5C"/>
                </a:solidFill>
                <a:latin typeface="Calibri"/>
              </a:rPr>
              <a:t>技术路线验证成功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3812" y="1294790"/>
            <a:ext cx="4817059" cy="6144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PCP/DCP/CPP/动态CP等并行策略在Coding场景下收益明确，Prefill +19%、Decode +8%验证了长序列优化方向正确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08109" y="921715"/>
            <a:ext cx="4992624" cy="104241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5891" y="1009497"/>
            <a:ext cx="241402" cy="241402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5891" y="1009497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03130" y="987552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A5C"/>
                </a:solidFill>
                <a:latin typeface="Calibri"/>
              </a:rPr>
              <a:t>社区协作模式成熟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95892" y="1294790"/>
            <a:ext cx="4817059" cy="6144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CPP、多模态等PR成功合入社区，建立了可持续的开源贡献流程，减少后续版本适配成本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6029" y="2073859"/>
            <a:ext cx="4992624" cy="104241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811" y="2161641"/>
            <a:ext cx="241402" cy="241402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3811" y="2161641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91050" y="2139696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A5C"/>
                </a:solidFill>
                <a:latin typeface="Calibri"/>
              </a:rPr>
              <a:t>距离目标仍有差距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3812" y="2446934"/>
            <a:ext cx="4817059" cy="6144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当前性能距0.8×理论性能仍有空间，PCP重构、投机解码、FA稀疏算法等高收益特性尚未完全落地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08109" y="2073859"/>
            <a:ext cx="4992624" cy="1042416"/>
          </a:xfrm>
          <a:prstGeom prst="rect">
            <a:avLst/>
          </a:prstGeom>
          <a:solidFill>
            <a:srgbClr val="E6F0F8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5891" y="2161641"/>
            <a:ext cx="241402" cy="241402"/>
          </a:xfrm>
          <a:prstGeom prst="ellipse">
            <a:avLst/>
          </a:prstGeom>
          <a:solidFill>
            <a:srgbClr val="3B8DD4"/>
          </a:solidFill>
          <a:ln w="12700">
            <a:solidFill>
              <a:srgbClr val="3B8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891" y="2161641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03130" y="2139696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A5C"/>
                </a:solidFill>
                <a:latin typeface="Calibri"/>
              </a:rPr>
              <a:t>工程化能力需加强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95892" y="2446934"/>
            <a:ext cx="4817059" cy="61447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镜像构建、精度验证、问题排查等环节暴露出流程不够规范，需要建立更完善的CI/CD和质量保障体系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96029" y="3291840"/>
            <a:ext cx="10204704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029" y="3291840"/>
            <a:ext cx="1020470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下一步行动计划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96029" y="3686861"/>
            <a:ext cx="3346704" cy="2743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029" y="3686861"/>
            <a:ext cx="33467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短期 (5月)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96029" y="4005072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0893" y="4037990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完成动态CP/VPP Bug修复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50893" y="4301338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05.15闭环，解除当前阻塞项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96029" y="4718304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0893" y="4751222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5.30前完成四模型验证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50893" y="5014570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GLM5/Qwen3.5/MiniMax/KIMI K2.5的PCP+DCP+KV Pool验证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96029" y="5431536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0893" y="5464454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推进V4-Pro复读问题定位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50893" y="5727802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配合社区方案三验证，准备B方案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452461" y="3686861"/>
            <a:ext cx="3346704" cy="2743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52461" y="3686861"/>
            <a:ext cx="33467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中期 (6-7月)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452461" y="4005072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7325" y="4037990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PCP重构版本发布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07325" y="4301338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年中版本Ready，替换现有实现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452461" y="4718304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7325" y="4751222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投机解码(Eagle3)落地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07325" y="5014570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完成Decode阶段性能提升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452461" y="5431536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7325" y="5464454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建立镜像CI流水线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07325" y="5727802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自动化功能+精度冒烟测试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908893" y="3686861"/>
            <a:ext cx="3346704" cy="274320"/>
          </a:xfrm>
          <a:prstGeom prst="rect">
            <a:avLst/>
          </a:prstGeom>
          <a:solidFill>
            <a:srgbClr val="2E6B9E"/>
          </a:solidFill>
          <a:ln w="12700">
            <a:solidFill>
              <a:srgbClr val="2E6B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8893" y="3686861"/>
            <a:ext cx="33467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长期 (Q3-Q4)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908893" y="4005072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63757" y="4037990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FA稀疏算法调优与落地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963757" y="4301338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DSA-CP方案产品化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908893" y="4718304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63757" y="4751222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达成0.8×理论性能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963757" y="5014570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最优切分方案输出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908893" y="5431536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3B8D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63757" y="5464454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A5C"/>
                </a:solidFill>
                <a:latin typeface="Calibri"/>
              </a:rPr>
              <a:t>→ 最佳实践文档沉淀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963757" y="5727802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F8C8D"/>
                </a:solidFill>
                <a:latin typeface="Calibri"/>
              </a:rPr>
              <a:t>可推广的长序列优化方案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96029" y="6199632"/>
            <a:ext cx="10204704" cy="603504"/>
          </a:xfrm>
          <a:prstGeom prst="rect">
            <a:avLst/>
          </a:prstGeom>
          <a:solidFill>
            <a:srgbClr val="FFF8E1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5757" y="6232550"/>
            <a:ext cx="1316736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F0A500"/>
                </a:solidFill>
                <a:latin typeface="Calibri"/>
              </a:rPr>
              <a:t>资源诉求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105757" y="6473952"/>
            <a:ext cx="965606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A5C"/>
                </a:solidFill>
                <a:latin typeface="Calibri"/>
              </a:rPr>
              <a:t>• 社区Issue响应需加速，关键路径问题建议安排专人跟进  • PCP重构需投入专项人力，建议协调社区资源协同  • 精度测试集需扩充，建议联合算法团队共建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5B527-3A04-889A-FD46-FDC8FFADC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3608800-F4E3-E86C-A165-4E4E2BAE32F3}"/>
              </a:ext>
            </a:extLst>
          </p:cNvPr>
          <p:cNvSpPr txBox="1"/>
          <p:nvPr/>
        </p:nvSpPr>
        <p:spPr>
          <a:xfrm>
            <a:off x="228670" y="169611"/>
            <a:ext cx="7604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7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GLM5.0 </a:t>
            </a:r>
            <a:r>
              <a:rPr kumimoji="1" lang="zh-CN" altLang="en-US" b="1" dirty="0">
                <a:solidFill>
                  <a:srgbClr val="7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推理性能调优复盘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63A59C1-B384-FF94-C41C-45803C50F3A0}"/>
              </a:ext>
            </a:extLst>
          </p:cNvPr>
          <p:cNvCxnSpPr/>
          <p:nvPr/>
        </p:nvCxnSpPr>
        <p:spPr>
          <a:xfrm flipV="1">
            <a:off x="45788" y="538289"/>
            <a:ext cx="11724506" cy="531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0" name="箭头: 右 399">
            <a:extLst>
              <a:ext uri="{FF2B5EF4-FFF2-40B4-BE49-F238E27FC236}">
                <a16:creationId xmlns:a16="http://schemas.microsoft.com/office/drawing/2014/main" id="{94642BB2-9B42-5A14-E249-0F4ED8CF0FEA}"/>
              </a:ext>
            </a:extLst>
          </p:cNvPr>
          <p:cNvSpPr/>
          <p:nvPr/>
        </p:nvSpPr>
        <p:spPr>
          <a:xfrm>
            <a:off x="1095702" y="2330263"/>
            <a:ext cx="10805591" cy="45719"/>
          </a:xfrm>
          <a:prstGeom prst="rightArrow">
            <a:avLst>
              <a:gd name="adj1" fmla="val 50000"/>
              <a:gd name="adj2" fmla="val 139089"/>
            </a:avLst>
          </a:prstGeom>
          <a:solidFill>
            <a:srgbClr val="C7000A"/>
          </a:solidFill>
          <a:ln w="19050" cap="flat" cmpd="sng" algn="ctr">
            <a:solidFill>
              <a:srgbClr val="C7000A"/>
            </a:solidFill>
            <a:prstDash val="solid"/>
            <a:miter lim="800000"/>
          </a:ln>
          <a:effectLst/>
        </p:spPr>
        <p:txBody>
          <a:bodyPr rot="0" spcFirstLastPara="0" vert="horz" wrap="square" lIns="22842" tIns="11422" rIns="22842" bIns="11422" numCol="1" spcCol="0" rtlCol="0" fromWordArt="0" anchor="ctr" anchorCtr="0" forceAA="0" compatLnSpc="1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1218194" hangingPunct="0">
              <a:defRPr/>
            </a:pPr>
            <a:endParaRPr lang="zh-CN" altLang="en-US" sz="800" kern="0">
              <a:solidFill>
                <a:srgbClr val="666666"/>
              </a:solidFill>
              <a:latin typeface="微软雅黑"/>
              <a:ea typeface="微软雅黑"/>
              <a:sym typeface="FZLanTingHeiS-R-GB"/>
            </a:endParaRPr>
          </a:p>
        </p:txBody>
      </p:sp>
      <p:grpSp>
        <p:nvGrpSpPr>
          <p:cNvPr id="401" name="组合 400">
            <a:extLst>
              <a:ext uri="{FF2B5EF4-FFF2-40B4-BE49-F238E27FC236}">
                <a16:creationId xmlns:a16="http://schemas.microsoft.com/office/drawing/2014/main" id="{38417A5A-1A05-92D3-DA75-16DEEB286834}"/>
              </a:ext>
            </a:extLst>
          </p:cNvPr>
          <p:cNvGrpSpPr/>
          <p:nvPr/>
        </p:nvGrpSpPr>
        <p:grpSpPr>
          <a:xfrm>
            <a:off x="942921" y="1942924"/>
            <a:ext cx="2260581" cy="861987"/>
            <a:chOff x="811503" y="3152344"/>
            <a:chExt cx="2260581" cy="861987"/>
          </a:xfrm>
        </p:grpSpPr>
        <p:grpSp>
          <p:nvGrpSpPr>
            <p:cNvPr id="402" name="组合 401">
              <a:extLst>
                <a:ext uri="{FF2B5EF4-FFF2-40B4-BE49-F238E27FC236}">
                  <a16:creationId xmlns:a16="http://schemas.microsoft.com/office/drawing/2014/main" id="{7BE77895-EDD7-3302-E9F8-25FEF7D27799}"/>
                </a:ext>
              </a:extLst>
            </p:cNvPr>
            <p:cNvGrpSpPr/>
            <p:nvPr/>
          </p:nvGrpSpPr>
          <p:grpSpPr>
            <a:xfrm>
              <a:off x="1006576" y="3559340"/>
              <a:ext cx="850055" cy="454991"/>
              <a:chOff x="1006576" y="3559340"/>
              <a:chExt cx="850055" cy="454991"/>
            </a:xfrm>
          </p:grpSpPr>
          <p:sp>
            <p:nvSpPr>
              <p:cNvPr id="404" name="等腰三角形 403">
                <a:extLst>
                  <a:ext uri="{FF2B5EF4-FFF2-40B4-BE49-F238E27FC236}">
                    <a16:creationId xmlns:a16="http://schemas.microsoft.com/office/drawing/2014/main" id="{02F42375-7F28-F9DD-FB07-6AE70CB4181C}"/>
                  </a:ext>
                </a:extLst>
              </p:cNvPr>
              <p:cNvSpPr/>
              <p:nvPr/>
            </p:nvSpPr>
            <p:spPr>
              <a:xfrm>
                <a:off x="1349890" y="3559340"/>
                <a:ext cx="163429" cy="205970"/>
              </a:xfrm>
              <a:prstGeom prst="triangle">
                <a:avLst/>
              </a:prstGeom>
              <a:solidFill>
                <a:srgbClr val="FFCC66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604020202020204"/>
                  <a:ea typeface="微软雅黑"/>
                </a:endParaRPr>
              </a:p>
            </p:txBody>
          </p:sp>
          <p:sp>
            <p:nvSpPr>
              <p:cNvPr id="405" name="矩形 404">
                <a:extLst>
                  <a:ext uri="{FF2B5EF4-FFF2-40B4-BE49-F238E27FC236}">
                    <a16:creationId xmlns:a16="http://schemas.microsoft.com/office/drawing/2014/main" id="{87AFF343-DCA3-BC94-D68A-51607209D03E}"/>
                  </a:ext>
                </a:extLst>
              </p:cNvPr>
              <p:cNvSpPr/>
              <p:nvPr/>
            </p:nvSpPr>
            <p:spPr>
              <a:xfrm>
                <a:off x="1006576" y="3768301"/>
                <a:ext cx="850055" cy="24603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91311" tIns="45655" rIns="91311" bIns="45655" anchor="ctr" anchorCtr="0" compatLnSpc="1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2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altLang="zh-CN" sz="1000" b="1" kern="0" dirty="0">
                    <a:solidFill>
                      <a:srgbClr val="1D1D1A"/>
                    </a:solidFill>
                    <a:latin typeface="微软雅黑"/>
                    <a:ea typeface="微软雅黑"/>
                    <a:sym typeface="FZLanTingHeiS-R-GB"/>
                  </a:rPr>
                  <a:t>3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ea typeface="微软雅黑"/>
                    <a:sym typeface="FZLanTingHeiS-R-GB"/>
                  </a:rPr>
                  <a:t>/0</a:t>
                </a: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ea typeface="微软雅黑"/>
                    <a:sym typeface="FZLanTingHeiS-R-GB"/>
                  </a:rPr>
                  <a:t>6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endParaRPr>
              </a:p>
            </p:txBody>
          </p:sp>
        </p:grpSp>
        <p:sp>
          <p:nvSpPr>
            <p:cNvPr id="403" name="矩形 402">
              <a:extLst>
                <a:ext uri="{FF2B5EF4-FFF2-40B4-BE49-F238E27FC236}">
                  <a16:creationId xmlns:a16="http://schemas.microsoft.com/office/drawing/2014/main" id="{982F53FC-60B6-173C-750B-E199938904AD}"/>
                </a:ext>
              </a:extLst>
            </p:cNvPr>
            <p:cNvSpPr/>
            <p:nvPr/>
          </p:nvSpPr>
          <p:spPr>
            <a:xfrm>
              <a:off x="811503" y="3152344"/>
              <a:ext cx="2260581" cy="399978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311" tIns="45655" rIns="91311" bIns="45655" anchor="ctr" anchorCtr="0" compatLnSpc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7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A2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 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1P1D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：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4k/1.5k 0.30qps</a:t>
              </a:r>
              <a:b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</a:b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A3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 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1P1D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：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4k/1.5k 0.57qps</a:t>
              </a: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sym typeface="FZLanTingHeiS-R-GB"/>
              </a:endParaRPr>
            </a:p>
          </p:txBody>
        </p:sp>
      </p:grpSp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B833C2DD-1E70-5FFB-A8FB-0BE168BE9C19}"/>
              </a:ext>
            </a:extLst>
          </p:cNvPr>
          <p:cNvGrpSpPr/>
          <p:nvPr/>
        </p:nvGrpSpPr>
        <p:grpSpPr>
          <a:xfrm>
            <a:off x="3653120" y="1649391"/>
            <a:ext cx="5407671" cy="1186063"/>
            <a:chOff x="733701" y="2828268"/>
            <a:chExt cx="5407671" cy="1186063"/>
          </a:xfrm>
        </p:grpSpPr>
        <p:grpSp>
          <p:nvGrpSpPr>
            <p:cNvPr id="407" name="组合 406">
              <a:extLst>
                <a:ext uri="{FF2B5EF4-FFF2-40B4-BE49-F238E27FC236}">
                  <a16:creationId xmlns:a16="http://schemas.microsoft.com/office/drawing/2014/main" id="{073EE31A-CC8E-7806-9466-CE6A20876FB1}"/>
                </a:ext>
              </a:extLst>
            </p:cNvPr>
            <p:cNvGrpSpPr/>
            <p:nvPr/>
          </p:nvGrpSpPr>
          <p:grpSpPr>
            <a:xfrm>
              <a:off x="1006576" y="3559340"/>
              <a:ext cx="850055" cy="454991"/>
              <a:chOff x="1006576" y="3559340"/>
              <a:chExt cx="850055" cy="454991"/>
            </a:xfrm>
          </p:grpSpPr>
          <p:sp>
            <p:nvSpPr>
              <p:cNvPr id="409" name="等腰三角形 408">
                <a:extLst>
                  <a:ext uri="{FF2B5EF4-FFF2-40B4-BE49-F238E27FC236}">
                    <a16:creationId xmlns:a16="http://schemas.microsoft.com/office/drawing/2014/main" id="{C2635BA3-0E6B-E3AA-0D25-5B48AC1715BB}"/>
                  </a:ext>
                </a:extLst>
              </p:cNvPr>
              <p:cNvSpPr/>
              <p:nvPr/>
            </p:nvSpPr>
            <p:spPr>
              <a:xfrm>
                <a:off x="1349890" y="3559340"/>
                <a:ext cx="163429" cy="205970"/>
              </a:xfrm>
              <a:prstGeom prst="triangle">
                <a:avLst/>
              </a:prstGeom>
              <a:solidFill>
                <a:srgbClr val="FFCC66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604020202020204"/>
                  <a:ea typeface="微软雅黑"/>
                </a:endParaRPr>
              </a:p>
            </p:txBody>
          </p:sp>
          <p:sp>
            <p:nvSpPr>
              <p:cNvPr id="410" name="矩形 409">
                <a:extLst>
                  <a:ext uri="{FF2B5EF4-FFF2-40B4-BE49-F238E27FC236}">
                    <a16:creationId xmlns:a16="http://schemas.microsoft.com/office/drawing/2014/main" id="{FBBFF946-A5DF-8771-57CE-BC50F906A1CB}"/>
                  </a:ext>
                </a:extLst>
              </p:cNvPr>
              <p:cNvSpPr/>
              <p:nvPr/>
            </p:nvSpPr>
            <p:spPr>
              <a:xfrm>
                <a:off x="1006576" y="3768301"/>
                <a:ext cx="850055" cy="24603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91311" tIns="45655" rIns="91311" bIns="45655" anchor="ctr" anchorCtr="0" compatLnSpc="1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2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ea typeface="微软雅黑"/>
                    <a:sym typeface="FZLanTingHeiS-R-GB"/>
                  </a:rPr>
                  <a:t>4/15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endParaRPr>
              </a:p>
            </p:txBody>
          </p:sp>
        </p:grpSp>
        <p:sp>
          <p:nvSpPr>
            <p:cNvPr id="408" name="矩形 407">
              <a:extLst>
                <a:ext uri="{FF2B5EF4-FFF2-40B4-BE49-F238E27FC236}">
                  <a16:creationId xmlns:a16="http://schemas.microsoft.com/office/drawing/2014/main" id="{27EFBA6E-20EA-03AB-F18C-AF6650998612}"/>
                </a:ext>
              </a:extLst>
            </p:cNvPr>
            <p:cNvSpPr/>
            <p:nvPr/>
          </p:nvSpPr>
          <p:spPr>
            <a:xfrm>
              <a:off x="733701" y="2828268"/>
              <a:ext cx="5407671" cy="861643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311" tIns="45655" rIns="91311" bIns="45655" anchor="ctr" anchorCtr="0" compatLnSpc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000" b="1" kern="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FZLanTingHeiS-R-GB"/>
                </a:rPr>
                <a:t>A3 P2D2:</a:t>
              </a:r>
              <a:br>
                <a:rPr lang="en-US" altLang="zh-CN" sz="1000" b="1" kern="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FZLanTingHeiS-R-GB"/>
                </a:rPr>
              </a:br>
              <a:r>
                <a:rPr lang="zh-CN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0-10k：2.74qps 1.06*H20</a:t>
              </a:r>
              <a:r>
                <a:rPr lang="en-US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	</a:t>
              </a:r>
              <a:r>
                <a:rPr lang="zh-CN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10-20k：1.34qps 0.71*H20</a:t>
              </a:r>
            </a:p>
            <a:p>
              <a:r>
                <a:rPr lang="zh-CN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20-40k：0.73qps 0.60*H20</a:t>
              </a:r>
              <a:r>
                <a:rPr lang="en-US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	</a:t>
              </a:r>
              <a:r>
                <a:rPr lang="zh-CN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40-80k：0.34qps 0.85*H20</a:t>
              </a:r>
            </a:p>
            <a:p>
              <a:r>
                <a:rPr lang="zh-CN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cachehit场景</a:t>
              </a:r>
              <a:r>
                <a:rPr lang="en-US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: </a:t>
              </a:r>
              <a:r>
                <a:rPr lang="zh-CN" altLang="zh-CN" sz="10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2.83qps 1.44*H20</a:t>
              </a:r>
            </a:p>
            <a:p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FZLanTingHeiS-R-GB"/>
              </a:endParaRPr>
            </a:p>
          </p:txBody>
        </p:sp>
      </p:grpSp>
      <p:sp>
        <p:nvSpPr>
          <p:cNvPr id="455" name="文本框 454">
            <a:extLst>
              <a:ext uri="{FF2B5EF4-FFF2-40B4-BE49-F238E27FC236}">
                <a16:creationId xmlns:a16="http://schemas.microsoft.com/office/drawing/2014/main" id="{5557F5B2-AFC0-3A72-4283-EEE64DEE8DCB}"/>
              </a:ext>
            </a:extLst>
          </p:cNvPr>
          <p:cNvSpPr txBox="1"/>
          <p:nvPr/>
        </p:nvSpPr>
        <p:spPr>
          <a:xfrm>
            <a:off x="45786" y="1596264"/>
            <a:ext cx="962921" cy="1037659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65000"/>
              </a:srgbClr>
            </a:solidFill>
          </a:ln>
        </p:spPr>
        <p:txBody>
          <a:bodyPr wrap="square" lIns="95889" rIns="95889" rtlCol="0" anchor="ctr" anchorCtr="0">
            <a:noAutofit/>
          </a:bodyPr>
          <a:lstStyle>
            <a:defPPr>
              <a:defRPr lang="zh-CN"/>
            </a:defPPr>
            <a:lvl1pPr marL="213995" indent="-213995" defTabSz="784225" eaLnBrk="0" hangingPunct="0">
              <a:lnSpc>
                <a:spcPct val="110000"/>
              </a:lnSpc>
              <a:spcAft>
                <a:spcPts val="600"/>
              </a:spcAft>
              <a:defRPr sz="14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13909" marR="0" lvl="0" indent="-213909" algn="just" defTabSz="78391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关键里程碑</a:t>
            </a:r>
            <a:endParaRPr kumimoji="0" lang="en-US" altLang="zh-CN" sz="1599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9" name="矩形 458">
            <a:extLst>
              <a:ext uri="{FF2B5EF4-FFF2-40B4-BE49-F238E27FC236}">
                <a16:creationId xmlns:a16="http://schemas.microsoft.com/office/drawing/2014/main" id="{6709EB2A-3816-2DF1-D833-3915B4884966}"/>
              </a:ext>
            </a:extLst>
          </p:cNvPr>
          <p:cNvSpPr/>
          <p:nvPr/>
        </p:nvSpPr>
        <p:spPr bwMode="auto">
          <a:xfrm>
            <a:off x="45789" y="713604"/>
            <a:ext cx="962920" cy="760528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65000"/>
              </a:srgb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001" marR="0" lvl="0" indent="-285001" algn="ctr" defTabSz="1044157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4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kumimoji="0" lang="en-US" altLang="zh-CN" sz="1594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001" marR="0" lvl="0" indent="-285001" algn="ctr" defTabSz="1044157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4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en-US" altLang="zh-CN" sz="1594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" name="矩形 459">
            <a:extLst>
              <a:ext uri="{FF2B5EF4-FFF2-40B4-BE49-F238E27FC236}">
                <a16:creationId xmlns:a16="http://schemas.microsoft.com/office/drawing/2014/main" id="{5533D65B-EC20-F0DE-163A-35845BB0FEC6}"/>
              </a:ext>
            </a:extLst>
          </p:cNvPr>
          <p:cNvSpPr/>
          <p:nvPr/>
        </p:nvSpPr>
        <p:spPr bwMode="auto">
          <a:xfrm>
            <a:off x="1085314" y="724744"/>
            <a:ext cx="11044028" cy="749387"/>
          </a:xfrm>
          <a:prstGeom prst="rect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 marL="0" marR="0" lvl="0" indent="0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0"/>
              <a:ea typeface="微软雅黑" charset="0"/>
            </a:endParaRPr>
          </a:p>
        </p:txBody>
      </p:sp>
      <p:sp>
        <p:nvSpPr>
          <p:cNvPr id="461" name="文本框 460">
            <a:extLst>
              <a:ext uri="{FF2B5EF4-FFF2-40B4-BE49-F238E27FC236}">
                <a16:creationId xmlns:a16="http://schemas.microsoft.com/office/drawing/2014/main" id="{9B387BDB-CC1E-E301-DD9B-0EAB3A9092A5}"/>
              </a:ext>
            </a:extLst>
          </p:cNvPr>
          <p:cNvSpPr txBox="1"/>
          <p:nvPr/>
        </p:nvSpPr>
        <p:spPr>
          <a:xfrm>
            <a:off x="1080121" y="810444"/>
            <a:ext cx="10690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客户场景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</a:t>
            </a:r>
            <a:r>
              <a:rPr lang="zh-CN" altLang="en-US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蚂蚁中台部门，提供对外模型服务接口，实际使用为</a:t>
            </a:r>
            <a: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AI coding</a:t>
            </a:r>
            <a:r>
              <a:rPr lang="zh-CN" altLang="en-US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业务方</a:t>
            </a:r>
            <a:b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</a:rPr>
            </a:br>
            <a:endParaRPr lang="en-US" altLang="zh-CN" sz="1200" dirty="0">
              <a:solidFill>
                <a:srgbClr val="000000"/>
              </a:solidFill>
              <a:latin typeface="FrutigerNext LT Regular"/>
              <a:ea typeface="华文细黑"/>
            </a:endParaRPr>
          </a:p>
          <a:p>
            <a:pPr>
              <a:defRPr/>
            </a:pPr>
            <a:r>
              <a:rPr lang="zh-CN" altLang="en-US" sz="1200" b="1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交付目标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：满足</a:t>
            </a:r>
            <a: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SLO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约束（</a:t>
            </a:r>
            <a: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P50 TTFT&lt;2s  P90 TPOT&lt;70ms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）下吞吐</a:t>
            </a:r>
            <a: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QPS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持续摸高；目标在</a:t>
            </a:r>
            <a:r>
              <a:rPr lang="en-US" altLang="zh-CN" sz="1200" dirty="0">
                <a:solidFill>
                  <a:srgbClr val="1D1D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415</a:t>
            </a:r>
            <a:r>
              <a:rPr lang="zh-CN" altLang="en-US" sz="1200" dirty="0">
                <a:solidFill>
                  <a:srgbClr val="1D1D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迭代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达成</a:t>
            </a:r>
            <a:r>
              <a:rPr lang="en-US" altLang="zh-CN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0.8*H20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</a:t>
            </a:r>
            <a:r>
              <a:rPr lang="en-US" altLang="zh-CN" sz="1200" dirty="0">
                <a:solidFill>
                  <a:srgbClr val="1D1D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630</a:t>
            </a:r>
            <a:r>
              <a:rPr lang="zh-CN" altLang="en-US" sz="1200" dirty="0">
                <a:solidFill>
                  <a:srgbClr val="1D1D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迭代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达成</a:t>
            </a:r>
            <a:r>
              <a:rPr lang="en-US" altLang="zh-CN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1.0*H20</a:t>
            </a:r>
            <a:r>
              <a:rPr lang="en-US" altLang="zh-CN" sz="1200" dirty="0">
                <a:solidFill>
                  <a:srgbClr val="000000"/>
                </a:solidFill>
                <a:latin typeface="FrutigerNext LT Regular"/>
                <a:ea typeface="华文细黑"/>
              </a:rPr>
              <a:t> 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CN" sz="1200" dirty="0">
                <a:solidFill>
                  <a:srgbClr val="1D1D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930</a:t>
            </a:r>
            <a:r>
              <a:rPr lang="zh-CN" altLang="en-US" sz="1200" dirty="0">
                <a:solidFill>
                  <a:srgbClr val="1D1D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迭代</a:t>
            </a:r>
            <a:r>
              <a:rPr lang="zh-CN" altLang="en-US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达成</a:t>
            </a:r>
            <a:r>
              <a:rPr lang="en-US" altLang="zh-CN" sz="1200" dirty="0">
                <a:solidFill>
                  <a:srgbClr val="1D1D1A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1.15*H20</a:t>
            </a:r>
            <a:endParaRPr lang="en-US" altLang="zh-CN" sz="1200" dirty="0">
              <a:solidFill>
                <a:srgbClr val="000000"/>
              </a:solidFill>
              <a:latin typeface="FrutigerNext LT Regular"/>
              <a:ea typeface="华文细黑"/>
            </a:endParaRPr>
          </a:p>
        </p:txBody>
      </p:sp>
      <p:grpSp>
        <p:nvGrpSpPr>
          <p:cNvPr id="467" name="组合 466">
            <a:extLst>
              <a:ext uri="{FF2B5EF4-FFF2-40B4-BE49-F238E27FC236}">
                <a16:creationId xmlns:a16="http://schemas.microsoft.com/office/drawing/2014/main" id="{25D895F6-6D6D-8129-A4A8-D5BF191615C8}"/>
              </a:ext>
            </a:extLst>
          </p:cNvPr>
          <p:cNvGrpSpPr/>
          <p:nvPr/>
        </p:nvGrpSpPr>
        <p:grpSpPr>
          <a:xfrm>
            <a:off x="8295823" y="2103503"/>
            <a:ext cx="1381157" cy="731981"/>
            <a:chOff x="916581" y="3282350"/>
            <a:chExt cx="1381157" cy="731981"/>
          </a:xfrm>
        </p:grpSpPr>
        <p:grpSp>
          <p:nvGrpSpPr>
            <p:cNvPr id="468" name="组合 467">
              <a:extLst>
                <a:ext uri="{FF2B5EF4-FFF2-40B4-BE49-F238E27FC236}">
                  <a16:creationId xmlns:a16="http://schemas.microsoft.com/office/drawing/2014/main" id="{B379F73C-FC41-5566-E3F1-3EB3E7F5BCE0}"/>
                </a:ext>
              </a:extLst>
            </p:cNvPr>
            <p:cNvGrpSpPr/>
            <p:nvPr/>
          </p:nvGrpSpPr>
          <p:grpSpPr>
            <a:xfrm>
              <a:off x="1006576" y="3559340"/>
              <a:ext cx="850055" cy="454991"/>
              <a:chOff x="1006576" y="3559340"/>
              <a:chExt cx="850055" cy="454991"/>
            </a:xfrm>
          </p:grpSpPr>
          <p:sp>
            <p:nvSpPr>
              <p:cNvPr id="470" name="等腰三角形 469">
                <a:extLst>
                  <a:ext uri="{FF2B5EF4-FFF2-40B4-BE49-F238E27FC236}">
                    <a16:creationId xmlns:a16="http://schemas.microsoft.com/office/drawing/2014/main" id="{9A9B5409-38F7-4259-7DBE-80E30F7C8F2C}"/>
                  </a:ext>
                </a:extLst>
              </p:cNvPr>
              <p:cNvSpPr/>
              <p:nvPr/>
            </p:nvSpPr>
            <p:spPr>
              <a:xfrm>
                <a:off x="1349890" y="3559340"/>
                <a:ext cx="163429" cy="205970"/>
              </a:xfrm>
              <a:prstGeom prst="triangle">
                <a:avLst/>
              </a:prstGeom>
              <a:solidFill>
                <a:srgbClr val="FFCC66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604020202020204"/>
                  <a:ea typeface="微软雅黑"/>
                </a:endParaRPr>
              </a:p>
            </p:txBody>
          </p:sp>
          <p:sp>
            <p:nvSpPr>
              <p:cNvPr id="471" name="矩形 470">
                <a:extLst>
                  <a:ext uri="{FF2B5EF4-FFF2-40B4-BE49-F238E27FC236}">
                    <a16:creationId xmlns:a16="http://schemas.microsoft.com/office/drawing/2014/main" id="{7E699806-1702-6C72-5B00-8F5E079DB6CC}"/>
                  </a:ext>
                </a:extLst>
              </p:cNvPr>
              <p:cNvSpPr/>
              <p:nvPr/>
            </p:nvSpPr>
            <p:spPr>
              <a:xfrm>
                <a:off x="1006576" y="3768301"/>
                <a:ext cx="850055" cy="24603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91311" tIns="45655" rIns="91311" bIns="45655" anchor="ctr" anchorCtr="0" compatLnSpc="1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2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altLang="zh-CN" sz="1000" b="1" kern="0" dirty="0">
                    <a:solidFill>
                      <a:srgbClr val="1D1D1A"/>
                    </a:solidFill>
                    <a:latin typeface="微软雅黑"/>
                    <a:ea typeface="微软雅黑"/>
                    <a:sym typeface="FZLanTingHeiS-R-GB"/>
                  </a:rPr>
                  <a:t>6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ea typeface="微软雅黑"/>
                    <a:sym typeface="FZLanTingHeiS-R-GB"/>
                  </a:rPr>
                  <a:t>/</a:t>
                </a: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ea typeface="微软雅黑"/>
                    <a:sym typeface="FZLanTingHeiS-R-GB"/>
                  </a:rPr>
                  <a:t>30</a:t>
                </a:r>
                <a:endParaRPr kumimoji="0" 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endParaRPr>
              </a:p>
            </p:txBody>
          </p:sp>
        </p:grpSp>
        <p:sp>
          <p:nvSpPr>
            <p:cNvPr id="469" name="矩形 468">
              <a:extLst>
                <a:ext uri="{FF2B5EF4-FFF2-40B4-BE49-F238E27FC236}">
                  <a16:creationId xmlns:a16="http://schemas.microsoft.com/office/drawing/2014/main" id="{3EA4FA82-7D6E-B8AA-F888-5FDA91589757}"/>
                </a:ext>
              </a:extLst>
            </p:cNvPr>
            <p:cNvSpPr/>
            <p:nvPr/>
          </p:nvSpPr>
          <p:spPr>
            <a:xfrm>
              <a:off x="916581" y="3282350"/>
              <a:ext cx="1381157" cy="24609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1311" tIns="45655" rIns="91311" bIns="45655" anchor="ctr" anchorCtr="0" compatLnSpc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7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微软雅黑"/>
                  <a:ea typeface="微软雅黑"/>
                  <a:sym typeface="FZLanTingHeiS-R-GB"/>
                </a:rPr>
                <a:t>A3 PD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：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sym typeface="FZLanTingHeiS-R-GB"/>
                </a:rPr>
                <a:t>1.0*H20</a:t>
              </a: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sym typeface="FZLanTingHeiS-R-GB"/>
              </a:endParaRPr>
            </a:p>
          </p:txBody>
        </p:sp>
      </p:grpSp>
      <p:sp>
        <p:nvSpPr>
          <p:cNvPr id="534" name="矩形: 圆角 533">
            <a:extLst>
              <a:ext uri="{FF2B5EF4-FFF2-40B4-BE49-F238E27FC236}">
                <a16:creationId xmlns:a16="http://schemas.microsoft.com/office/drawing/2014/main" id="{B66CBA89-7E96-952C-F52B-2DE34A603896}"/>
              </a:ext>
            </a:extLst>
          </p:cNvPr>
          <p:cNvSpPr/>
          <p:nvPr/>
        </p:nvSpPr>
        <p:spPr>
          <a:xfrm>
            <a:off x="3883996" y="5667511"/>
            <a:ext cx="45719" cy="457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544" name="文本框 543">
            <a:extLst>
              <a:ext uri="{FF2B5EF4-FFF2-40B4-BE49-F238E27FC236}">
                <a16:creationId xmlns:a16="http://schemas.microsoft.com/office/drawing/2014/main" id="{399FA754-E285-99CE-3591-188C8A96C942}"/>
              </a:ext>
            </a:extLst>
          </p:cNvPr>
          <p:cNvSpPr txBox="1"/>
          <p:nvPr/>
        </p:nvSpPr>
        <p:spPr>
          <a:xfrm>
            <a:off x="1903355" y="3505733"/>
            <a:ext cx="1568722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FlashComm1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2" name="文本框 551">
            <a:extLst>
              <a:ext uri="{FF2B5EF4-FFF2-40B4-BE49-F238E27FC236}">
                <a16:creationId xmlns:a16="http://schemas.microsoft.com/office/drawing/2014/main" id="{8EF7F566-02A4-3D1D-51DB-8E3D682FFC30}"/>
              </a:ext>
            </a:extLst>
          </p:cNvPr>
          <p:cNvSpPr txBox="1"/>
          <p:nvPr/>
        </p:nvSpPr>
        <p:spPr>
          <a:xfrm>
            <a:off x="1897836" y="2553164"/>
            <a:ext cx="157976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PD</a:t>
            </a:r>
            <a:r>
              <a:rPr lang="zh-CN" altLang="en-US" dirty="0"/>
              <a:t>分离</a:t>
            </a:r>
          </a:p>
        </p:txBody>
      </p:sp>
      <p:sp>
        <p:nvSpPr>
          <p:cNvPr id="553" name="文本框 552">
            <a:extLst>
              <a:ext uri="{FF2B5EF4-FFF2-40B4-BE49-F238E27FC236}">
                <a16:creationId xmlns:a16="http://schemas.microsoft.com/office/drawing/2014/main" id="{678DF321-30EA-DA5B-3B89-2F213CF7D1DB}"/>
              </a:ext>
            </a:extLst>
          </p:cNvPr>
          <p:cNvSpPr txBox="1"/>
          <p:nvPr/>
        </p:nvSpPr>
        <p:spPr>
          <a:xfrm>
            <a:off x="1897836" y="2882338"/>
            <a:ext cx="157976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W4A8</a:t>
            </a:r>
            <a:r>
              <a:rPr lang="zh-CN" altLang="en-US" dirty="0"/>
              <a:t>量化</a:t>
            </a:r>
          </a:p>
        </p:txBody>
      </p:sp>
      <p:sp>
        <p:nvSpPr>
          <p:cNvPr id="555" name="文本框 554">
            <a:extLst>
              <a:ext uri="{FF2B5EF4-FFF2-40B4-BE49-F238E27FC236}">
                <a16:creationId xmlns:a16="http://schemas.microsoft.com/office/drawing/2014/main" id="{EB202E31-9305-9665-091E-186976F04804}"/>
              </a:ext>
            </a:extLst>
          </p:cNvPr>
          <p:cNvSpPr txBox="1"/>
          <p:nvPr/>
        </p:nvSpPr>
        <p:spPr>
          <a:xfrm>
            <a:off x="4720238" y="2860964"/>
            <a:ext cx="163001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MC2</a:t>
            </a:r>
            <a:endParaRPr lang="zh-CN" altLang="en-US" dirty="0"/>
          </a:p>
        </p:txBody>
      </p:sp>
      <p:sp>
        <p:nvSpPr>
          <p:cNvPr id="556" name="文本框 555">
            <a:extLst>
              <a:ext uri="{FF2B5EF4-FFF2-40B4-BE49-F238E27FC236}">
                <a16:creationId xmlns:a16="http://schemas.microsoft.com/office/drawing/2014/main" id="{9671ED20-01C8-E805-6032-912916B8A02D}"/>
              </a:ext>
            </a:extLst>
          </p:cNvPr>
          <p:cNvSpPr txBox="1"/>
          <p:nvPr/>
        </p:nvSpPr>
        <p:spPr>
          <a:xfrm>
            <a:off x="4720238" y="3169198"/>
            <a:ext cx="163001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MLAPO</a:t>
            </a:r>
            <a:endParaRPr lang="zh-CN" altLang="en-US" dirty="0"/>
          </a:p>
        </p:txBody>
      </p:sp>
      <p:sp>
        <p:nvSpPr>
          <p:cNvPr id="565" name="文本框 564">
            <a:extLst>
              <a:ext uri="{FF2B5EF4-FFF2-40B4-BE49-F238E27FC236}">
                <a16:creationId xmlns:a16="http://schemas.microsoft.com/office/drawing/2014/main" id="{FE2B8AD7-6CBE-F70F-5F4B-88827C8FBB42}"/>
              </a:ext>
            </a:extLst>
          </p:cNvPr>
          <p:cNvSpPr txBox="1"/>
          <p:nvPr/>
        </p:nvSpPr>
        <p:spPr>
          <a:xfrm>
            <a:off x="4709257" y="3540892"/>
            <a:ext cx="163001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线性层分片</a:t>
            </a:r>
            <a:endParaRPr lang="en-US" altLang="zh-CN" dirty="0"/>
          </a:p>
        </p:txBody>
      </p:sp>
      <p:sp>
        <p:nvSpPr>
          <p:cNvPr id="567" name="文本框 566">
            <a:extLst>
              <a:ext uri="{FF2B5EF4-FFF2-40B4-BE49-F238E27FC236}">
                <a16:creationId xmlns:a16="http://schemas.microsoft.com/office/drawing/2014/main" id="{003716B8-176E-CF44-12B1-EC6CC04C553A}"/>
              </a:ext>
            </a:extLst>
          </p:cNvPr>
          <p:cNvSpPr txBox="1"/>
          <p:nvPr/>
        </p:nvSpPr>
        <p:spPr>
          <a:xfrm>
            <a:off x="6473174" y="2528587"/>
            <a:ext cx="163001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b="0" dirty="0"/>
              <a:t>异步调度</a:t>
            </a:r>
          </a:p>
        </p:txBody>
      </p:sp>
      <p:sp>
        <p:nvSpPr>
          <p:cNvPr id="568" name="文本框 567">
            <a:extLst>
              <a:ext uri="{FF2B5EF4-FFF2-40B4-BE49-F238E27FC236}">
                <a16:creationId xmlns:a16="http://schemas.microsoft.com/office/drawing/2014/main" id="{E06AE6D0-6143-EECC-E30C-98D14DED945B}"/>
              </a:ext>
            </a:extLst>
          </p:cNvPr>
          <p:cNvSpPr txBox="1"/>
          <p:nvPr/>
        </p:nvSpPr>
        <p:spPr>
          <a:xfrm>
            <a:off x="4741205" y="2526858"/>
            <a:ext cx="1598062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W8A8</a:t>
            </a: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</a:t>
            </a:r>
          </a:p>
        </p:txBody>
      </p:sp>
      <p:sp>
        <p:nvSpPr>
          <p:cNvPr id="571" name="文本框 570">
            <a:extLst>
              <a:ext uri="{FF2B5EF4-FFF2-40B4-BE49-F238E27FC236}">
                <a16:creationId xmlns:a16="http://schemas.microsoft.com/office/drawing/2014/main" id="{E82B7EB7-E626-6CDD-DA8B-1FAA8734B2A9}"/>
              </a:ext>
            </a:extLst>
          </p:cNvPr>
          <p:cNvSpPr txBox="1"/>
          <p:nvPr/>
        </p:nvSpPr>
        <p:spPr>
          <a:xfrm>
            <a:off x="1860519" y="3176669"/>
            <a:ext cx="163001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PP</a:t>
            </a:r>
            <a:r>
              <a:rPr lang="zh-CN" altLang="en-US" dirty="0"/>
              <a:t>并行</a:t>
            </a:r>
          </a:p>
        </p:txBody>
      </p:sp>
      <p:sp>
        <p:nvSpPr>
          <p:cNvPr id="587" name="矩形 586">
            <a:extLst>
              <a:ext uri="{FF2B5EF4-FFF2-40B4-BE49-F238E27FC236}">
                <a16:creationId xmlns:a16="http://schemas.microsoft.com/office/drawing/2014/main" id="{2FC4110A-7D30-3CA4-990B-12D312ECDB90}"/>
              </a:ext>
            </a:extLst>
          </p:cNvPr>
          <p:cNvSpPr/>
          <p:nvPr/>
        </p:nvSpPr>
        <p:spPr bwMode="auto">
          <a:xfrm>
            <a:off x="71381" y="4388859"/>
            <a:ext cx="911733" cy="1860617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rgbClr val="FFFFFF">
                <a:lumMod val="65000"/>
              </a:srgbClr>
            </a:solidFill>
          </a:ln>
        </p:spPr>
        <p:txBody>
          <a:bodyPr wrap="square" lIns="95852" rIns="95852" rtlCol="0" anchor="ctr" anchorCtr="0">
            <a:noAutofit/>
          </a:bodyPr>
          <a:lstStyle/>
          <a:p>
            <a:pPr marL="285001" marR="0" lvl="0" indent="-285001" algn="ctr" defTabSz="1044157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4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endParaRPr kumimoji="0" lang="en-US" altLang="zh-CN" sz="1594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001" marR="0" lvl="0" indent="-285001" algn="ctr" defTabSz="1044157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4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达成</a:t>
            </a:r>
            <a:endParaRPr kumimoji="0" lang="en-US" altLang="zh-CN" sz="1594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8" name="矩形 587">
            <a:extLst>
              <a:ext uri="{FF2B5EF4-FFF2-40B4-BE49-F238E27FC236}">
                <a16:creationId xmlns:a16="http://schemas.microsoft.com/office/drawing/2014/main" id="{3DD55F2F-8F7C-DA33-F856-56958C5CE834}"/>
              </a:ext>
            </a:extLst>
          </p:cNvPr>
          <p:cNvSpPr/>
          <p:nvPr/>
        </p:nvSpPr>
        <p:spPr bwMode="auto">
          <a:xfrm>
            <a:off x="1058488" y="4388860"/>
            <a:ext cx="11070854" cy="1853223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 marL="0" marR="0" lvl="0" indent="0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0"/>
              <a:ea typeface="微软雅黑" charset="0"/>
            </a:endParaRPr>
          </a:p>
        </p:txBody>
      </p:sp>
      <p:sp>
        <p:nvSpPr>
          <p:cNvPr id="589" name="文本框 588">
            <a:extLst>
              <a:ext uri="{FF2B5EF4-FFF2-40B4-BE49-F238E27FC236}">
                <a16:creationId xmlns:a16="http://schemas.microsoft.com/office/drawing/2014/main" id="{AE583299-5F80-F99E-992F-D2FF31614697}"/>
              </a:ext>
            </a:extLst>
          </p:cNvPr>
          <p:cNvSpPr txBox="1"/>
          <p:nvPr/>
        </p:nvSpPr>
        <p:spPr>
          <a:xfrm>
            <a:off x="1095703" y="4520860"/>
            <a:ext cx="1080559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FrutigerNext LT Regular"/>
                <a:ea typeface="华文细黑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latin typeface="FrutigerNext LT Regular"/>
                <a:ea typeface="华文细黑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latin typeface="FrutigerNext LT Regular"/>
                <a:ea typeface="华文细黑"/>
              </a:rPr>
              <a:t>性能目标</a:t>
            </a:r>
            <a:r>
              <a:rPr lang="en-US" altLang="zh-CN" sz="1400" dirty="0">
                <a:solidFill>
                  <a:srgbClr val="000000"/>
                </a:solidFill>
                <a:latin typeface="FrutigerNext LT Regular"/>
                <a:ea typeface="华文细黑"/>
              </a:rPr>
              <a:t>】</a:t>
            </a:r>
          </a:p>
          <a:p>
            <a:pPr>
              <a:defRPr/>
            </a:pPr>
            <a:endParaRPr lang="en-US" altLang="zh-CN" sz="1400" dirty="0">
              <a:solidFill>
                <a:srgbClr val="000000"/>
              </a:solidFill>
              <a:latin typeface="FrutigerNext LT Regular"/>
              <a:ea typeface="华文细黑"/>
            </a:endParaRPr>
          </a:p>
          <a:p>
            <a:pPr>
              <a:defRPr/>
            </a:pPr>
            <a:endParaRPr lang="en-US" altLang="zh-CN" sz="1400" dirty="0">
              <a:solidFill>
                <a:srgbClr val="000000"/>
              </a:solidFill>
              <a:latin typeface="FrutigerNext LT Regular"/>
              <a:ea typeface="华文细黑"/>
            </a:endParaRPr>
          </a:p>
          <a:p>
            <a:pPr>
              <a:defRPr/>
            </a:pPr>
            <a:endParaRPr lang="en-US" altLang="zh-CN" sz="1400" dirty="0">
              <a:solidFill>
                <a:srgbClr val="000000"/>
              </a:solidFill>
              <a:latin typeface="FrutigerNext LT Regular"/>
              <a:ea typeface="华文细黑"/>
            </a:endParaRPr>
          </a:p>
          <a:p>
            <a:pPr>
              <a:defRPr/>
            </a:pPr>
            <a:endParaRPr lang="en-US" altLang="zh-CN" sz="1400" dirty="0">
              <a:solidFill>
                <a:srgbClr val="000000"/>
              </a:solidFill>
              <a:latin typeface="FrutigerNext LT Regular"/>
              <a:ea typeface="华文细黑"/>
            </a:endParaRPr>
          </a:p>
          <a:p>
            <a:pPr>
              <a:defRPr/>
            </a:pPr>
            <a:endParaRPr lang="en-US" altLang="zh-CN" sz="1400" dirty="0">
              <a:latin typeface="FrutigerNext LT Regular"/>
              <a:ea typeface="华文细黑"/>
            </a:endParaRPr>
          </a:p>
          <a:p>
            <a:pPr>
              <a:defRPr/>
            </a:pPr>
            <a:r>
              <a:rPr lang="en-US" altLang="zh-CN" sz="1400" dirty="0">
                <a:latin typeface="FrutigerNext LT Regular"/>
                <a:ea typeface="华文细黑"/>
              </a:rPr>
              <a:t>2</a:t>
            </a:r>
            <a:r>
              <a:rPr lang="zh-CN" altLang="en-US" sz="1400" dirty="0">
                <a:latin typeface="FrutigerNext LT Regular"/>
                <a:ea typeface="华文细黑"/>
              </a:rPr>
              <a:t>、</a:t>
            </a:r>
            <a:r>
              <a:rPr lang="en-US" altLang="zh-CN" sz="1400" dirty="0">
                <a:latin typeface="FrutigerNext LT Regular"/>
                <a:ea typeface="华文细黑"/>
              </a:rPr>
              <a:t>【</a:t>
            </a:r>
            <a:r>
              <a:rPr lang="zh-CN" altLang="en-US" sz="1400" dirty="0">
                <a:latin typeface="FrutigerNext LT Regular"/>
                <a:ea typeface="华文细黑"/>
              </a:rPr>
              <a:t>社区贡献</a:t>
            </a:r>
            <a:r>
              <a:rPr lang="en-US" altLang="zh-CN" sz="1400" dirty="0">
                <a:latin typeface="FrutigerNext LT Regular"/>
                <a:ea typeface="华文细黑"/>
              </a:rPr>
              <a:t>】</a:t>
            </a:r>
            <a:r>
              <a:rPr lang="zh-CN" altLang="en-US" sz="1400" dirty="0">
                <a:latin typeface="FrutigerNext LT Regular"/>
                <a:ea typeface="华文细黑"/>
              </a:rPr>
              <a:t>知识沉淀与社区共建，总计解决问题</a:t>
            </a:r>
            <a:r>
              <a:rPr lang="en-US" altLang="zh-CN" sz="1400" dirty="0">
                <a:latin typeface="FrutigerNext LT Regular"/>
                <a:ea typeface="华文细黑"/>
              </a:rPr>
              <a:t>10+</a:t>
            </a:r>
            <a:r>
              <a:rPr lang="zh-CN" altLang="en-US" sz="1400" dirty="0">
                <a:latin typeface="FrutigerNext LT Regular"/>
                <a:ea typeface="华文细黑"/>
              </a:rPr>
              <a:t>，向社区提出并跟进</a:t>
            </a:r>
            <a:r>
              <a:rPr lang="en-US" altLang="zh-CN" sz="1400" dirty="0">
                <a:latin typeface="FrutigerNext LT Regular"/>
                <a:ea typeface="华文细黑"/>
              </a:rPr>
              <a:t>issue 5+ </a:t>
            </a:r>
            <a:r>
              <a:rPr lang="zh-CN" altLang="en-US" sz="1400" dirty="0">
                <a:latin typeface="FrutigerNext LT Regular"/>
                <a:ea typeface="华文细黑"/>
              </a:rPr>
              <a:t>，反哺社区与生态；</a:t>
            </a:r>
          </a:p>
        </p:txBody>
      </p:sp>
      <p:sp>
        <p:nvSpPr>
          <p:cNvPr id="596" name="文本框 595">
            <a:extLst>
              <a:ext uri="{FF2B5EF4-FFF2-40B4-BE49-F238E27FC236}">
                <a16:creationId xmlns:a16="http://schemas.microsoft.com/office/drawing/2014/main" id="{A717CE41-FAB5-EB40-0E77-0EC10EFC8A2B}"/>
              </a:ext>
            </a:extLst>
          </p:cNvPr>
          <p:cNvSpPr txBox="1"/>
          <p:nvPr/>
        </p:nvSpPr>
        <p:spPr>
          <a:xfrm>
            <a:off x="8473786" y="1884616"/>
            <a:ext cx="9164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FrutigerNext LT Regular"/>
                <a:ea typeface="华文细黑"/>
                <a:cs typeface="+mn-cs"/>
              </a:rPr>
              <a:t>630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FrutigerNext LT Regular"/>
                <a:ea typeface="华文细黑"/>
                <a:cs typeface="+mn-cs"/>
              </a:rPr>
              <a:t>迭代</a:t>
            </a:r>
            <a:endParaRPr lang="zh-CN" altLang="en-US" sz="1200" dirty="0"/>
          </a:p>
        </p:txBody>
      </p:sp>
      <p:sp>
        <p:nvSpPr>
          <p:cNvPr id="605" name="文本框 604">
            <a:extLst>
              <a:ext uri="{FF2B5EF4-FFF2-40B4-BE49-F238E27FC236}">
                <a16:creationId xmlns:a16="http://schemas.microsoft.com/office/drawing/2014/main" id="{ADC0A3B4-FDF1-2917-DD73-78F3225A7A1D}"/>
              </a:ext>
            </a:extLst>
          </p:cNvPr>
          <p:cNvSpPr txBox="1"/>
          <p:nvPr/>
        </p:nvSpPr>
        <p:spPr>
          <a:xfrm>
            <a:off x="11181583" y="2010773"/>
            <a:ext cx="1758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C7000A"/>
                </a:solidFill>
              </a:rPr>
              <a:t>GLM5.0/5.1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17E4805-94D6-5D75-AD2B-B767757EA3CB}"/>
              </a:ext>
            </a:extLst>
          </p:cNvPr>
          <p:cNvGrpSpPr/>
          <p:nvPr/>
        </p:nvGrpSpPr>
        <p:grpSpPr>
          <a:xfrm>
            <a:off x="1318176" y="3966700"/>
            <a:ext cx="2744499" cy="199999"/>
            <a:chOff x="1878410" y="4131575"/>
            <a:chExt cx="3534685" cy="262953"/>
          </a:xfrm>
        </p:grpSpPr>
        <p:sp>
          <p:nvSpPr>
            <p:cNvPr id="610" name="文本框 609">
              <a:extLst>
                <a:ext uri="{FF2B5EF4-FFF2-40B4-BE49-F238E27FC236}">
                  <a16:creationId xmlns:a16="http://schemas.microsoft.com/office/drawing/2014/main" id="{5FD39830-CB4A-3402-BEBC-343D2FCCCBC9}"/>
                </a:ext>
              </a:extLst>
            </p:cNvPr>
            <p:cNvSpPr txBox="1"/>
            <p:nvPr/>
          </p:nvSpPr>
          <p:spPr>
            <a:xfrm>
              <a:off x="1878410" y="4131575"/>
              <a:ext cx="1579760" cy="26161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BFBFBF"/>
              </a:solidFill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已完成特性</a:t>
              </a:r>
            </a:p>
          </p:txBody>
        </p:sp>
        <p:sp>
          <p:nvSpPr>
            <p:cNvPr id="612" name="文本框 611">
              <a:extLst>
                <a:ext uri="{FF2B5EF4-FFF2-40B4-BE49-F238E27FC236}">
                  <a16:creationId xmlns:a16="http://schemas.microsoft.com/office/drawing/2014/main" id="{FCA60450-2F40-F32A-DE07-40089DE17D7F}"/>
                </a:ext>
              </a:extLst>
            </p:cNvPr>
            <p:cNvSpPr txBox="1"/>
            <p:nvPr/>
          </p:nvSpPr>
          <p:spPr>
            <a:xfrm>
              <a:off x="3783085" y="4132918"/>
              <a:ext cx="1630010" cy="261610"/>
            </a:xfrm>
            <a:prstGeom prst="rect">
              <a:avLst/>
            </a:prstGeom>
            <a:solidFill>
              <a:srgbClr val="D2ECFC"/>
            </a:solidFill>
            <a:ln w="12700">
              <a:solidFill>
                <a:srgbClr val="BFBFBF"/>
              </a:solidFill>
              <a:prstDash val="dash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后续规划特性</a:t>
              </a:r>
            </a:p>
          </p:txBody>
        </p:sp>
      </p:grp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B0CA67D-A584-0427-A5EB-C584BFA7D9D0}"/>
              </a:ext>
            </a:extLst>
          </p:cNvPr>
          <p:cNvSpPr/>
          <p:nvPr/>
        </p:nvSpPr>
        <p:spPr>
          <a:xfrm>
            <a:off x="1226322" y="3872717"/>
            <a:ext cx="2925028" cy="379415"/>
          </a:xfrm>
          <a:prstGeom prst="roundRect">
            <a:avLst/>
          </a:prstGeom>
          <a:noFill/>
          <a:ln>
            <a:solidFill>
              <a:srgbClr val="BFBFBF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4" name="矩形 613">
            <a:extLst>
              <a:ext uri="{FF2B5EF4-FFF2-40B4-BE49-F238E27FC236}">
                <a16:creationId xmlns:a16="http://schemas.microsoft.com/office/drawing/2014/main" id="{40B1FA08-731C-FCE4-3521-51454EADF97A}"/>
              </a:ext>
            </a:extLst>
          </p:cNvPr>
          <p:cNvSpPr/>
          <p:nvPr/>
        </p:nvSpPr>
        <p:spPr bwMode="auto">
          <a:xfrm>
            <a:off x="1085313" y="1557785"/>
            <a:ext cx="11065662" cy="2751429"/>
          </a:xfrm>
          <a:prstGeom prst="rect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vert="horz" wrap="square" lIns="121696" tIns="60848" rIns="121696" bIns="60848" numCol="1" rtlCol="0" anchor="ctr" anchorCtr="0" compatLnSpc="1"/>
          <a:lstStyle/>
          <a:p>
            <a:pPr marL="0" marR="0" lvl="0" indent="0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0"/>
              <a:ea typeface="微软雅黑" charset="0"/>
            </a:endParaRPr>
          </a:p>
        </p:txBody>
      </p:sp>
      <p:graphicFrame>
        <p:nvGraphicFramePr>
          <p:cNvPr id="85" name="表格 84">
            <a:extLst>
              <a:ext uri="{FF2B5EF4-FFF2-40B4-BE49-F238E27FC236}">
                <a16:creationId xmlns:a16="http://schemas.microsoft.com/office/drawing/2014/main" id="{6EC131DC-D811-6EB0-43D8-150F048D3330}"/>
              </a:ext>
            </a:extLst>
          </p:cNvPr>
          <p:cNvGraphicFramePr>
            <a:graphicFrameLocks noGrp="1"/>
          </p:cNvGraphicFramePr>
          <p:nvPr/>
        </p:nvGraphicFramePr>
        <p:xfrm>
          <a:off x="2547630" y="4496355"/>
          <a:ext cx="8633954" cy="1226893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726791">
                  <a:extLst>
                    <a:ext uri="{9D8B030D-6E8A-4147-A177-3AD203B41FA5}">
                      <a16:colId xmlns:a16="http://schemas.microsoft.com/office/drawing/2014/main" val="3272899931"/>
                    </a:ext>
                  </a:extLst>
                </a:gridCol>
                <a:gridCol w="1726791">
                  <a:extLst>
                    <a:ext uri="{9D8B030D-6E8A-4147-A177-3AD203B41FA5}">
                      <a16:colId xmlns:a16="http://schemas.microsoft.com/office/drawing/2014/main" val="2598287049"/>
                    </a:ext>
                  </a:extLst>
                </a:gridCol>
                <a:gridCol w="1726791">
                  <a:extLst>
                    <a:ext uri="{9D8B030D-6E8A-4147-A177-3AD203B41FA5}">
                      <a16:colId xmlns:a16="http://schemas.microsoft.com/office/drawing/2014/main" val="1289036612"/>
                    </a:ext>
                  </a:extLst>
                </a:gridCol>
                <a:gridCol w="1599588">
                  <a:extLst>
                    <a:ext uri="{9D8B030D-6E8A-4147-A177-3AD203B41FA5}">
                      <a16:colId xmlns:a16="http://schemas.microsoft.com/office/drawing/2014/main" val="2804184022"/>
                    </a:ext>
                  </a:extLst>
                </a:gridCol>
                <a:gridCol w="1853993">
                  <a:extLst>
                    <a:ext uri="{9D8B030D-6E8A-4147-A177-3AD203B41FA5}">
                      <a16:colId xmlns:a16="http://schemas.microsoft.com/office/drawing/2014/main" val="2313536503"/>
                    </a:ext>
                  </a:extLst>
                </a:gridCol>
              </a:tblGrid>
              <a:tr h="24222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长序列数据集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当前性能（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A3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P2D2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H20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性能（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P2D2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xH20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（单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die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状态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827653"/>
                  </a:ext>
                </a:extLst>
              </a:tr>
              <a:tr h="1965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0-10k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1.06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*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H20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达标 上线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531213"/>
                  </a:ext>
                </a:extLst>
              </a:tr>
              <a:tr h="21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10-20k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0.71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*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H20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达标 上线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26713"/>
                  </a:ext>
                </a:extLst>
              </a:tr>
              <a:tr h="185824">
                <a:tc>
                  <a:txBody>
                    <a:bodyPr/>
                    <a:lstStyle/>
                    <a:p>
                      <a:pPr marL="0" marR="0" lvl="0" indent="0" algn="ctr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20-30k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*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H20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达标 上线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478346"/>
                  </a:ext>
                </a:extLst>
              </a:tr>
              <a:tr h="185824">
                <a:tc>
                  <a:txBody>
                    <a:bodyPr/>
                    <a:lstStyle/>
                    <a:p>
                      <a:pPr marL="0" marR="0" lvl="0" indent="0" algn="ctr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30-40k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0.85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*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H20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达标 上线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3854"/>
                  </a:ext>
                </a:extLst>
              </a:tr>
              <a:tr h="196573">
                <a:tc>
                  <a:txBody>
                    <a:bodyPr/>
                    <a:lstStyle/>
                    <a:p>
                      <a:pPr marL="0" marR="0" lvl="0" indent="0" algn="ctr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cachehit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20-40k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1.44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*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H20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达标 上线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73492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861FC0D3-8041-1B87-D3B2-AF8A901E580B}"/>
              </a:ext>
            </a:extLst>
          </p:cNvPr>
          <p:cNvSpPr txBox="1"/>
          <p:nvPr/>
        </p:nvSpPr>
        <p:spPr>
          <a:xfrm>
            <a:off x="6517488" y="3559169"/>
            <a:ext cx="1568722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多流共享专家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EF4622-0BDA-145E-1A43-0FB053AE60D9}"/>
              </a:ext>
            </a:extLst>
          </p:cNvPr>
          <p:cNvSpPr txBox="1"/>
          <p:nvPr/>
        </p:nvSpPr>
        <p:spPr>
          <a:xfrm>
            <a:off x="6473174" y="3187475"/>
            <a:ext cx="163001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KV</a:t>
            </a:r>
            <a:r>
              <a:rPr lang="zh-CN" altLang="en-US" dirty="0"/>
              <a:t> </a:t>
            </a:r>
            <a:r>
              <a:rPr lang="en-US" altLang="zh-CN" dirty="0"/>
              <a:t>Pool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E1BCE1-E9EE-435C-0B4C-CC6FE6BEBC90}"/>
              </a:ext>
            </a:extLst>
          </p:cNvPr>
          <p:cNvSpPr txBox="1"/>
          <p:nvPr/>
        </p:nvSpPr>
        <p:spPr>
          <a:xfrm>
            <a:off x="6473174" y="2883366"/>
            <a:ext cx="1630010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MTP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04657E-A33F-8875-2A24-51558F34A3A6}"/>
              </a:ext>
            </a:extLst>
          </p:cNvPr>
          <p:cNvSpPr txBox="1"/>
          <p:nvPr/>
        </p:nvSpPr>
        <p:spPr>
          <a:xfrm>
            <a:off x="9334730" y="2544630"/>
            <a:ext cx="1630010" cy="261610"/>
          </a:xfrm>
          <a:prstGeom prst="rect">
            <a:avLst/>
          </a:prstGeom>
          <a:solidFill>
            <a:srgbClr val="D2ECFC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DSA-CP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540858-C164-2D4A-2E80-1F8ABB033974}"/>
              </a:ext>
            </a:extLst>
          </p:cNvPr>
          <p:cNvSpPr txBox="1"/>
          <p:nvPr/>
        </p:nvSpPr>
        <p:spPr>
          <a:xfrm>
            <a:off x="9345826" y="2907250"/>
            <a:ext cx="1630010" cy="261610"/>
          </a:xfrm>
          <a:prstGeom prst="rect">
            <a:avLst/>
          </a:prstGeom>
          <a:solidFill>
            <a:srgbClr val="D2ECFC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err="1"/>
              <a:t>DyCP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6CFAC4-A8CD-408D-61DD-4E24CA65671F}"/>
              </a:ext>
            </a:extLst>
          </p:cNvPr>
          <p:cNvSpPr txBox="1"/>
          <p:nvPr/>
        </p:nvSpPr>
        <p:spPr>
          <a:xfrm>
            <a:off x="9345826" y="3252514"/>
            <a:ext cx="1630010" cy="261610"/>
          </a:xfrm>
          <a:prstGeom prst="rect">
            <a:avLst/>
          </a:prstGeom>
          <a:solidFill>
            <a:srgbClr val="D2ECFC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EPLB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6CD45C-8487-969A-D36E-4FFECAE738E3}"/>
              </a:ext>
            </a:extLst>
          </p:cNvPr>
          <p:cNvSpPr txBox="1"/>
          <p:nvPr/>
        </p:nvSpPr>
        <p:spPr>
          <a:xfrm>
            <a:off x="9345826" y="3592875"/>
            <a:ext cx="1630010" cy="261610"/>
          </a:xfrm>
          <a:prstGeom prst="rect">
            <a:avLst/>
          </a:prstGeom>
          <a:solidFill>
            <a:srgbClr val="D2ECFC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无损投机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13016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1077-E66C-3389-E5F2-A84AC474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C3D6B228-0147-C2EE-FBFE-2C60F4400D69}"/>
              </a:ext>
            </a:extLst>
          </p:cNvPr>
          <p:cNvSpPr txBox="1"/>
          <p:nvPr/>
        </p:nvSpPr>
        <p:spPr bwMode="auto">
          <a:xfrm>
            <a:off x="48481" y="-69355"/>
            <a:ext cx="10752513" cy="6935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019" tIns="45523" rIns="91019" bIns="45523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197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44575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66545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088515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问题与改进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43AD795-4FA4-F5C7-5528-C2598A40B3A1}"/>
              </a:ext>
            </a:extLst>
          </p:cNvPr>
          <p:cNvGraphicFramePr>
            <a:graphicFrameLocks noGrp="1"/>
          </p:cNvGraphicFramePr>
          <p:nvPr/>
        </p:nvGraphicFramePr>
        <p:xfrm>
          <a:off x="297370" y="573528"/>
          <a:ext cx="11304028" cy="5731337"/>
        </p:xfrm>
        <a:graphic>
          <a:graphicData uri="http://schemas.openxmlformats.org/drawingml/2006/table">
            <a:tbl>
              <a:tblPr/>
              <a:tblGrid>
                <a:gridCol w="393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3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5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56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问题描述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定位过程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改进建议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8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681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PD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分离场景下，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curl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请求首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精度异常，后续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正常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、社区版本首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正常，单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curl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节点首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异常；社区连接器首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由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节点吐出，内仓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conductor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首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由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节点吐出；</a:t>
                      </a:r>
                      <a:b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开启flashcomm1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后不能开启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layer_sharding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”:[“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o_proj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”]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b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、关闭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flashcomm1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后首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正常，由于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开启flashcomm1默认开启dsa-cp，dsa-cp有精度问题，社区修复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hlinkClick r:id="rId3"/>
                        </a:rPr>
                        <a:t>https://github.com/vllm-project/vllm-ascend/pull/7843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； 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建立社区关键</a:t>
                      </a:r>
                      <a:r>
                        <a:rPr lang="en-US" altLang="zh-CN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</a:t>
                      </a:r>
                      <a:r>
                        <a:rPr lang="zh-CN" altLang="en-US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跟踪机制，对影响精度的修复及时同步集成</a:t>
                      </a:r>
                    </a:p>
                    <a:p>
                      <a:pPr algn="l" fontAlgn="ctr"/>
                      <a:endParaRPr lang="en-US" altLang="zh-CN" sz="1100" b="0" i="0" u="none" strike="noStrike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PD</a:t>
                      </a:r>
                      <a:r>
                        <a:rPr lang="zh-CN" altLang="en-US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分离场景下，首</a:t>
                      </a:r>
                      <a:r>
                        <a:rPr lang="en-US" altLang="zh-CN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token</a:t>
                      </a:r>
                      <a:r>
                        <a:rPr lang="zh-CN" altLang="en-US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重复吐出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P、D同时吐首token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造成，内仓修复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hlinkClick r:id="rId4"/>
                        </a:rPr>
                        <a:t>https://code.alipay.com/Theta/vllm/pull_requests/601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； 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注意社区和内仓的</a:t>
                      </a:r>
                      <a:r>
                        <a:rPr lang="en-US" altLang="zh-CN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</a:t>
                      </a:r>
                      <a:r>
                        <a:rPr lang="zh-CN" altLang="en-US" sz="1100" b="0" i="0" u="none" strike="noStrike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同步管理</a:t>
                      </a:r>
                      <a:endParaRPr lang="en-US" altLang="zh-CN" sz="1100" b="0" i="0" u="none" strike="noStrike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7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PD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分离服务启动后，性能压测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16+并发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场景下，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d节点挂死</a:t>
                      </a:r>
                      <a:endParaRPr lang="zh-CN" alt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使用了锦祺误删model_runner里enable_sp(self.vllm_config)代码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的镜像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导致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glm5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跑的镜像刚好带上了这个有问题的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，导致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DP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间的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pad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逻辑不一致，导致大并发场景下压测挂死；</a:t>
                      </a:r>
                      <a:b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、用最新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rebase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镜像后问题解决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及时同步已知问题，关键</a:t>
                      </a:r>
                      <a:r>
                        <a:rPr lang="en-US" altLang="zh-C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bug</a:t>
                      </a:r>
                      <a:r>
                        <a:rPr lang="zh-CN" alt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修复后扩大信息同步范围，避免团队成员误用问题镜像</a:t>
                      </a:r>
                    </a:p>
                    <a:p>
                      <a:pPr marL="0" marR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7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开启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KV pool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后压测卡死，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GPU KV cache usage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只升不降</a:t>
                      </a:r>
                      <a:endParaRPr lang="zh-CN" altLang="en-US" sz="1100" b="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Kv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pool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不put kvcache导致卡死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，社区修复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hlinkClick r:id="rId5"/>
                        </a:rPr>
                        <a:t>https://github.com/vllm-project/vllm-ascend/pull/7875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；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KV pool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功能对社区关键修复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PR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建立跟踪与及时合入机制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66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198K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上下文下，开启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KV pool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，服务启动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Prefill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节点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OOM</a:t>
                      </a:r>
                      <a:endParaRPr lang="zh-CN" altLang="en-US" sz="1100" b="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、尝试调小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gpu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利用率，因上下文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198k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限制，过多调整会造成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kvcache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分配不够，调整为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0.93-&gt;0.92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b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、开启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Prefill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线形层分片，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layer_sharding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”:[“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q_b_proj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”]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，优化显存使用；</a:t>
                      </a:r>
                      <a:b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、修复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rank0多占显存： 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hlinkClick r:id="rId6"/>
                        </a:rPr>
                        <a:t>https://github.com/vllm-project/vllm-ascend/pull/8041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b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</a:b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、成功开启中转版本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KV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Pool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endParaRPr lang="en-US" altLang="zh-CN" sz="1100" dirty="0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极限显存场景预留合理余量，避免显存使用过于极限导致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OOM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164636"/>
                  </a:ext>
                </a:extLst>
              </a:tr>
              <a:tr h="5860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GLM-5-w8a8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服务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压测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场景下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P节点挂死</a:t>
                      </a:r>
                      <a:endParaRPr lang="zh-CN" altLang="en-US" sz="1100" b="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、在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kvpool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的“中转模式”中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 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当出现传输超时的时候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对端会发起断链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 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但本地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server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未能感知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 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导致在后续使用传输链路时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 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出现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coredump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endParaRPr lang="en-US" altLang="zh-CN" sz="1100" b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HCCS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中转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版本kv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pool升级为RDMA版本kvpool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长期方案优先采用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RDMA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直连版本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717437"/>
                  </a:ext>
                </a:extLst>
              </a:tr>
              <a:tr h="629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线上流水线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mooncake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初始化失败，本地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itask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服务启动正常</a:t>
                      </a:r>
                      <a:endParaRPr lang="zh-CN" altLang="en-US" sz="1100" b="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策略中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yaml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文件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conductor </a:t>
                      </a:r>
                      <a:r>
                        <a:rPr lang="en-US" altLang="zh-CN" sz="11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kv</a:t>
                      </a:r>
                      <a:r>
                        <a:rPr lang="en-US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pool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处的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source bashrc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不能删除，需要</a:t>
                      </a:r>
                      <a:r>
                        <a:rPr lang="zh-CN" altLang="zh-CN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加回</a:t>
                      </a:r>
                      <a:r>
                        <a:rPr lang="zh-CN" altLang="en-US" sz="11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来</a:t>
                      </a:r>
                      <a:endParaRPr lang="zh-CN" altLang="zh-CN" sz="1100" b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100" b="0" kern="1200" dirty="0" err="1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Yaml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策略模板化，按场景（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A2/A3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、混布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/PD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、开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关</a:t>
                      </a:r>
                      <a:r>
                        <a:rPr lang="en-US" altLang="zh-CN" sz="1100" b="0" kern="1200" dirty="0" err="1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KVpool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）统一模板，减少人工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copy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导致的配置遗漏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624740"/>
                  </a:ext>
                </a:extLst>
              </a:tr>
              <a:tr h="4396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585" marR="6585" marT="65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KV pool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中转切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RDMA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后精度异常，答非所问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GLM5.0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中转版本</a:t>
                      </a:r>
                      <a:r>
                        <a:rPr lang="en-US" altLang="zh-CN" sz="1100" b="0" kern="1200" dirty="0" err="1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kv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pool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为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P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开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D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不开；</a:t>
                      </a:r>
                      <a:b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</a:b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D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节点不开</a:t>
                      </a:r>
                      <a:r>
                        <a:rPr lang="en-US" altLang="zh-CN" sz="1100" b="0" kern="1200" dirty="0" err="1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kvpool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也需要开启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ROCE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链路，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HCCL_INTRA_PCIE_ENABLE=0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HCCL_INTRA_ROCE_ENABLE=1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6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明确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D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节点即使未开启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KV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pool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也必须配置</a:t>
                      </a:r>
                      <a:r>
                        <a:rPr lang="en-US" altLang="zh-CN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ROCE</a:t>
                      </a:r>
                      <a:r>
                        <a:rPr lang="zh-CN" altLang="en-US" sz="1100" b="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链路等必选项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079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708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06715" y="537533"/>
            <a:ext cx="10525484" cy="64008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[1]DeepSeekV3.2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关键特性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497807-F626-435B-82A1-5B008A24B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15" y="1747163"/>
            <a:ext cx="7171075" cy="3772609"/>
          </a:xfrm>
          <a:prstGeom prst="rect">
            <a:avLst/>
          </a:prstGeom>
        </p:spPr>
      </p:pic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07E7C2B8-A899-4D72-AEE7-F5191889AC1A}"/>
              </a:ext>
            </a:extLst>
          </p:cNvPr>
          <p:cNvGraphicFramePr>
            <a:graphicFrameLocks noGrp="1"/>
          </p:cNvGraphicFramePr>
          <p:nvPr/>
        </p:nvGraphicFramePr>
        <p:xfrm>
          <a:off x="7875854" y="1397624"/>
          <a:ext cx="3957952" cy="475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84">
                  <a:extLst>
                    <a:ext uri="{9D8B030D-6E8A-4147-A177-3AD203B41FA5}">
                      <a16:colId xmlns:a16="http://schemas.microsoft.com/office/drawing/2014/main" val="3084227658"/>
                    </a:ext>
                  </a:extLst>
                </a:gridCol>
                <a:gridCol w="3597668">
                  <a:extLst>
                    <a:ext uri="{9D8B030D-6E8A-4147-A177-3AD203B41FA5}">
                      <a16:colId xmlns:a16="http://schemas.microsoft.com/office/drawing/2014/main" val="11174065"/>
                    </a:ext>
                  </a:extLst>
                </a:gridCol>
              </a:tblGrid>
              <a:tr h="797464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综述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该方案通过正交组合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（序列并行）与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（流水线并行）俩个维度，解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决超长上下文场景下的显存瓶颈与计算效率问题。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36913"/>
                  </a:ext>
                </a:extLst>
              </a:tr>
              <a:tr h="115761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关键优化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DSA-CP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在通用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基础上增加了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Layer 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Sharding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优化，对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DeepSeek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特有的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q_b_proj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o_proj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权重进行分片存储，进一步降低显存峰值。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810488"/>
                  </a:ext>
                </a:extLst>
              </a:tr>
              <a:tr h="115761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关键优化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pp=2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pp-layer-partition=33,28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，尽可能使得俩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stage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的端到端执行时间趋于一致，使流水线气泡最小化。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057188"/>
                  </a:ext>
                </a:extLst>
              </a:tr>
              <a:tr h="1069522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长上下文支持，显存优化，通信隐藏，流水优化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139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02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9BCCC0C-D5AF-4825-A1DD-E0CCBC9B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[2]DeepSeekV3.2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上线关键问题复盘</a:t>
            </a:r>
            <a:endParaRPr lang="zh-CN" altLang="en-US" dirty="0"/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246136E8-3287-44D6-B75C-F554EE1E5B05}"/>
              </a:ext>
            </a:extLst>
          </p:cNvPr>
          <p:cNvGraphicFramePr>
            <a:graphicFrameLocks noGrp="1"/>
          </p:cNvGraphicFramePr>
          <p:nvPr/>
        </p:nvGraphicFramePr>
        <p:xfrm>
          <a:off x="500584" y="1272372"/>
          <a:ext cx="11112964" cy="4364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872">
                  <a:extLst>
                    <a:ext uri="{9D8B030D-6E8A-4147-A177-3AD203B41FA5}">
                      <a16:colId xmlns:a16="http://schemas.microsoft.com/office/drawing/2014/main" val="3084227658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11174065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4059571779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4252213644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2545778106"/>
                    </a:ext>
                  </a:extLst>
                </a:gridCol>
              </a:tblGrid>
              <a:tr h="887704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时间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问题现象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问题根因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经验总结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36913"/>
                  </a:ext>
                </a:extLst>
              </a:tr>
              <a:tr h="1154015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badcase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中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truncate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用例全量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fail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VLLM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重构后导致前序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PR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失效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https://code.alipay.com/Theta/vllm/pull_requests/583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后续重构建议</a:t>
                      </a:r>
                      <a:r>
                        <a:rPr lang="zh-CN" altLang="en-US" sz="1100" dirty="0"/>
                        <a:t>加一个链路</a:t>
                      </a:r>
                      <a:r>
                        <a:rPr lang="en-US" altLang="zh-CN" sz="1100" dirty="0"/>
                        <a:t>PR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057188"/>
                  </a:ext>
                </a:extLst>
              </a:tr>
              <a:tr h="1154015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Badcase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所有返回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think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标签缺失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think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标签需要手动开启，并在策略中指定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think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开启状态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\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测试前想清楚测试目的，策略和参数提前对齐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662362"/>
                  </a:ext>
                </a:extLst>
              </a:tr>
              <a:tr h="1169136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灰度上线后，频繁触发实例重启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Triton-ascend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同时对同一文件读写，并行进程过多导致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compiled failed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\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其余节点已遇到过，此类问题应该拉通内部及时沟通闭环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139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12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9BCCC0C-D5AF-4825-A1DD-E0CCBC9B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[2]DeepSeekV3.2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rPr>
              <a:t>上线关键问题复盘</a:t>
            </a:r>
            <a:endParaRPr lang="zh-CN" altLang="en-US" dirty="0"/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246136E8-3287-44D6-B75C-F554EE1E5B05}"/>
              </a:ext>
            </a:extLst>
          </p:cNvPr>
          <p:cNvGraphicFramePr>
            <a:graphicFrameLocks noGrp="1"/>
          </p:cNvGraphicFramePr>
          <p:nvPr/>
        </p:nvGraphicFramePr>
        <p:xfrm>
          <a:off x="520607" y="1272372"/>
          <a:ext cx="11092941" cy="5163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849">
                  <a:extLst>
                    <a:ext uri="{9D8B030D-6E8A-4147-A177-3AD203B41FA5}">
                      <a16:colId xmlns:a16="http://schemas.microsoft.com/office/drawing/2014/main" val="3084227658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11174065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4059571779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4252213644"/>
                    </a:ext>
                  </a:extLst>
                </a:gridCol>
                <a:gridCol w="2587523">
                  <a:extLst>
                    <a:ext uri="{9D8B030D-6E8A-4147-A177-3AD203B41FA5}">
                      <a16:colId xmlns:a16="http://schemas.microsoft.com/office/drawing/2014/main" val="2545778106"/>
                    </a:ext>
                  </a:extLst>
                </a:gridCol>
              </a:tblGrid>
              <a:tr h="887704">
                <a:tc>
                  <a:txBody>
                    <a:bodyPr/>
                    <a:lstStyle/>
                    <a:p>
                      <a:pPr lvl="0"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时间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问题现象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问题根因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经验总结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36913"/>
                  </a:ext>
                </a:extLst>
              </a:tr>
              <a:tr h="976474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badcase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缺少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dsml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字段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skip_special_tokens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=true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时，特殊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token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对于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token id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直接就会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detokenizer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为空，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dsml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被跳过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\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后续确认需要由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conductor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传递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skip_special_tokens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参数。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810488"/>
                  </a:ext>
                </a:extLst>
              </a:tr>
              <a:tr h="976474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26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conductor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添加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—enable-prefill-master-ep-mode=false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prefill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关闭异步调度，性能大幅劣化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conductor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问题，双机单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p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负载不均；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conductor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修复后，问题解决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\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需要客户面协同定位的，需要及时将问题抛出来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873043"/>
                  </a:ext>
                </a:extLst>
              </a:tr>
              <a:tr h="1154015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0306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转测分支，关闭异步调度，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badcase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测试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logprobs</a:t>
                      </a: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全量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fail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RejectionSampler.parse_output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()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返回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(list[list[int]], 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LogprobsLists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 | None)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，但代码错误地将第二个值赋给了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cu_num_tokens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并将其传递</a:t>
                      </a:r>
                      <a:br>
                        <a:rPr lang="zh-CN" altLang="en-US" sz="1100" dirty="0">
                          <a:latin typeface="+mn-ea"/>
                          <a:ea typeface="+mn-ea"/>
                        </a:rPr>
                      </a:b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给</a:t>
                      </a:r>
                      <a:r>
                        <a:rPr lang="en-US" altLang="zh-CN" sz="1100" dirty="0" err="1">
                          <a:latin typeface="+mn-ea"/>
                          <a:ea typeface="+mn-ea"/>
                        </a:rPr>
                        <a:t>logprobs_tensors.tolists</a:t>
                      </a:r>
                      <a:r>
                        <a:rPr lang="en-US" altLang="zh-CN" sz="1100" dirty="0">
                          <a:latin typeface="+mn-ea"/>
                          <a:ea typeface="+mn-ea"/>
                        </a:rPr>
                        <a:t>()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，导致类型不匹配崩溃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latin typeface="+mn-ea"/>
                          <a:ea typeface="+mn-ea"/>
                          <a:hlinkClick r:id="rId3"/>
                        </a:rPr>
                        <a:t>https://code.alipay.com/Theta/vllm-ascend/pull_requests/964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latin typeface="+mn-ea"/>
                          <a:ea typeface="+mn-ea"/>
                        </a:rPr>
                        <a:t>特性开关要做好全量测试，保证服务健壮、鲁棒</a:t>
                      </a:r>
                      <a:endParaRPr lang="en-US" altLang="zh-CN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057188"/>
                  </a:ext>
                </a:extLst>
              </a:tr>
              <a:tr h="1169136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28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0306</a:t>
                      </a: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转测分支，</a:t>
                      </a:r>
                      <a:r>
                        <a:rPr lang="en-US" altLang="zh-CN" sz="1100" dirty="0" err="1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rr</a:t>
                      </a: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=inf</a:t>
                      </a: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，长稳压测服务崩溃</a:t>
                      </a:r>
                      <a:endParaRPr lang="en-US" altLang="zh-CN" sz="110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【</a:t>
                      </a:r>
                      <a:r>
                        <a:rPr lang="en-US" altLang="zh-CN" sz="1100" dirty="0" err="1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sample_recovered_tokens_kernel</a:t>
                      </a: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en-US" altLang="zh-CN" sz="1100" dirty="0" err="1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reject_random_sample_kernel</a:t>
                      </a: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】</a:t>
                      </a: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，此内核使用 </a:t>
                      </a:r>
                      <a:r>
                        <a:rPr lang="en-US" altLang="zh-CN" sz="1100" dirty="0" err="1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draft_token_id</a:t>
                      </a: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作为加载操作的地址偏移量。在 </a:t>
                      </a: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PD </a:t>
                      </a: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分离场景中，</a:t>
                      </a: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mask</a:t>
                      </a: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为 </a:t>
                      </a: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-1</a:t>
                      </a: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，发生非法内存读写操作。</a:t>
                      </a:r>
                      <a:endParaRPr lang="en-US" altLang="zh-CN" sz="110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  <a:hlinkClick r:id="rId4"/>
                        </a:rPr>
                        <a:t>https://code.alipay.com/Theta/vllm-ascend/pull_requests/996</a:t>
                      </a:r>
                      <a:endParaRPr lang="en-US" altLang="zh-CN" sz="110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endParaRPr lang="en-US" altLang="zh-CN" sz="110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endParaRPr lang="en-US" altLang="zh-CN" sz="110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100" dirty="0"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流水线通过前需经过压测</a:t>
                      </a:r>
                      <a:endParaRPr lang="en-US" altLang="zh-CN" sz="110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139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64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981" y="2194560"/>
            <a:ext cx="10972800" cy="10972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5040" b="1" kern="0" spc="30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DeepSeek V4 模型提测</a:t>
            </a:r>
            <a:endParaRPr lang="en-US" sz="50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1981" y="3291840"/>
            <a:ext cx="10972800" cy="76809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3120" kern="0" spc="180" dirty="0">
                <a:solidFill>
                  <a:srgbClr val="EBF8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项目进展与复盘总结</a:t>
            </a:r>
            <a:endParaRPr lang="en-US" sz="31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1981" y="4937760"/>
            <a:ext cx="1097280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680" dirty="0">
                <a:solidFill>
                  <a:srgbClr val="4299E1"/>
                </a:solidFill>
                <a:latin typeface="Calibri"/>
              </a:rPr>
              <a:t>2025年5月</a:t>
            </a:r>
            <a:endParaRPr lang="en-US" sz="168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029" y="329184"/>
            <a:ext cx="10204704" cy="65836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3360" b="1" kern="0" spc="360" dirty="0">
                <a:solidFill>
                  <a:srgbClr val="1A365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目  录</a:t>
            </a:r>
            <a:endParaRPr lang="en-US" sz="33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96029" y="1097280"/>
            <a:ext cx="603504" cy="60350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029" y="1097280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01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64125" y="1097280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65D"/>
                </a:solidFill>
                <a:latin typeface="Calibri"/>
              </a:rPr>
              <a:t>项目概况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64125" y="1426464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18096"/>
                </a:solidFill>
                <a:latin typeface="Calibri"/>
              </a:rPr>
              <a:t>项目背景 / 总体目标 / 阶段规划 / 团队组织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96029" y="2139696"/>
            <a:ext cx="603504" cy="60350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029" y="2139696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02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64125" y="2139696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65D"/>
                </a:solidFill>
                <a:latin typeface="Calibri"/>
              </a:rPr>
              <a:t>V4-Flash 提测进展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64125" y="2468880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18096"/>
                </a:solidFill>
                <a:latin typeface="Calibri"/>
              </a:rPr>
              <a:t>A2+A3 W8A8 适配 / 版本镜像 / 问题处理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96029" y="3182112"/>
            <a:ext cx="603504" cy="60350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029" y="3182112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03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64125" y="3182112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65D"/>
                </a:solidFill>
                <a:latin typeface="Calibri"/>
              </a:rPr>
              <a:t>V4-Pro 提测进展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64125" y="3511296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18096"/>
                </a:solidFill>
                <a:latin typeface="Calibri"/>
              </a:rPr>
              <a:t>A2+A3 W4A8 适配 / 复读问题定位 / 性能调测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6029" y="4224528"/>
            <a:ext cx="603504" cy="60350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029" y="4224528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04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64125" y="4224528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65D"/>
                </a:solidFill>
                <a:latin typeface="Calibri"/>
              </a:rPr>
              <a:t>反思与经验教训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64125" y="4553712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18096"/>
                </a:solidFill>
                <a:latin typeface="Calibri"/>
              </a:rPr>
              <a:t>做得好的 / 待改进的 / 经验沉淀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96029" y="5266944"/>
            <a:ext cx="603504" cy="60350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029" y="5266944"/>
            <a:ext cx="603504" cy="60350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920" b="1" dirty="0">
                <a:solidFill>
                  <a:srgbClr val="FFFFFF"/>
                </a:solidFill>
                <a:latin typeface="Calibri"/>
              </a:rPr>
              <a:t>05</a:t>
            </a:r>
            <a:endParaRPr lang="en-US" sz="19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64125" y="5266944"/>
            <a:ext cx="5486400" cy="329184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b="1" dirty="0">
                <a:solidFill>
                  <a:srgbClr val="1A365D"/>
                </a:solidFill>
                <a:latin typeface="Calibri"/>
              </a:rPr>
              <a:t>总结与下一步计划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64125" y="5596128"/>
            <a:ext cx="768096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200" dirty="0">
                <a:solidFill>
                  <a:srgbClr val="718096"/>
                </a:solidFill>
                <a:latin typeface="Calibri"/>
              </a:rPr>
              <a:t>核心结论 / 行动计划 / 资源诉求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一、项目概况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029" y="482803"/>
            <a:ext cx="1097280" cy="241402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1200" b="1" dirty="0">
                <a:solidFill>
                  <a:srgbClr val="4299E1"/>
                </a:solidFill>
                <a:latin typeface="Calibri"/>
              </a:rPr>
              <a:t>项目背景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93309" y="482803"/>
            <a:ext cx="658368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dirty="0">
                <a:solidFill>
                  <a:srgbClr val="1A365D"/>
                </a:solidFill>
                <a:latin typeface="Calibri"/>
              </a:rPr>
              <a:t>DeepSeek V4 (Flash + Pro) × (A2 + A3) × (W8A8 + W4A8) 准出上线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6029" y="746150"/>
            <a:ext cx="1097280" cy="241402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1200" b="1" dirty="0">
                <a:solidFill>
                  <a:srgbClr val="4299E1"/>
                </a:solidFill>
                <a:latin typeface="Calibri"/>
              </a:rPr>
              <a:t>总体目标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93309" y="746150"/>
            <a:ext cx="658368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dirty="0">
                <a:solidFill>
                  <a:srgbClr val="1A365D"/>
                </a:solidFill>
                <a:latin typeface="Calibri"/>
              </a:rPr>
              <a:t>性能目标达成 0.8×H20，530前完成提测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6029" y="1009497"/>
            <a:ext cx="1097280" cy="241402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1200" b="1" dirty="0">
                <a:solidFill>
                  <a:srgbClr val="4299E1"/>
                </a:solidFill>
                <a:latin typeface="Calibri"/>
              </a:rPr>
              <a:t>团队组织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93309" y="1009497"/>
            <a:ext cx="877824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dirty="0">
                <a:solidFill>
                  <a:srgbClr val="1A365D"/>
                </a:solidFill>
                <a:latin typeface="Calibri"/>
              </a:rPr>
              <a:t>HW: 郝坤 | MY: 凌旭、沧濯 | 现场: 李炜奕、方永富、王宽、王子恺、吴尚伦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96029" y="1294790"/>
            <a:ext cx="1097280" cy="241402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1200" b="1" dirty="0">
                <a:solidFill>
                  <a:srgbClr val="4299E1"/>
                </a:solidFill>
                <a:latin typeface="Calibri"/>
              </a:rPr>
              <a:t>阶段规划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93309" y="1294790"/>
            <a:ext cx="2852928" cy="548640"/>
          </a:xfrm>
          <a:prstGeom prst="rect">
            <a:avLst/>
          </a:prstGeom>
          <a:solidFill>
            <a:srgbClr val="EBF8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173" y="1316736"/>
            <a:ext cx="877824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阶段一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80861" y="1316736"/>
            <a:ext cx="877824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dirty="0">
                <a:solidFill>
                  <a:srgbClr val="718096"/>
                </a:solidFill>
                <a:latin typeface="Calibri"/>
              </a:rPr>
              <a:t>430前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48173" y="1558138"/>
            <a:ext cx="219456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65D"/>
                </a:solidFill>
                <a:latin typeface="Calibri"/>
              </a:rPr>
              <a:t>V4-Flash A2 A3 适配准出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97597" y="1316736"/>
            <a:ext cx="493776" cy="24140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7597" y="1316736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进行中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65693" y="1294790"/>
            <a:ext cx="2852928" cy="548640"/>
          </a:xfrm>
          <a:prstGeom prst="rect">
            <a:avLst/>
          </a:prstGeom>
          <a:solidFill>
            <a:srgbClr val="EBF8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0557" y="1316736"/>
            <a:ext cx="877824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阶段二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53245" y="1316736"/>
            <a:ext cx="877824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dirty="0">
                <a:solidFill>
                  <a:srgbClr val="718096"/>
                </a:solidFill>
                <a:latin typeface="Calibri"/>
              </a:rPr>
              <a:t>510前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20557" y="1558138"/>
            <a:ext cx="219456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65D"/>
                </a:solidFill>
                <a:latin typeface="Calibri"/>
              </a:rPr>
              <a:t>V4-Pro A2 A3 适配准出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69981" y="1316736"/>
            <a:ext cx="493776" cy="24140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9981" y="1316736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进行中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38077" y="1294790"/>
            <a:ext cx="2852928" cy="548640"/>
          </a:xfrm>
          <a:prstGeom prst="rect">
            <a:avLst/>
          </a:prstGeom>
          <a:solidFill>
            <a:srgbClr val="EBF8FF"/>
          </a:solidFill>
          <a:ln w="25400">
            <a:solidFill>
              <a:srgbClr val="7180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2941" y="1316736"/>
            <a:ext cx="877824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阶段三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5629" y="1316736"/>
            <a:ext cx="877824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dirty="0">
                <a:solidFill>
                  <a:srgbClr val="718096"/>
                </a:solidFill>
                <a:latin typeface="Calibri"/>
              </a:rPr>
              <a:t>530前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92941" y="1558138"/>
            <a:ext cx="219456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65D"/>
                </a:solidFill>
                <a:latin typeface="Calibri"/>
              </a:rPr>
              <a:t>性能目标 0.8×H20 提测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542365" y="1316736"/>
            <a:ext cx="493776" cy="24140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42365" y="1316736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10000"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规划中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96029" y="2029968"/>
            <a:ext cx="10204704" cy="35113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0" name="Text 28"/>
          <p:cNvSpPr/>
          <p:nvPr/>
        </p:nvSpPr>
        <p:spPr>
          <a:xfrm>
            <a:off x="996029" y="202996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最新进展 (截至5月14日)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96029" y="2414016"/>
            <a:ext cx="10204704" cy="384048"/>
          </a:xfrm>
          <a:prstGeom prst="rect">
            <a:avLst/>
          </a:prstGeom>
          <a:solidFill>
            <a:srgbClr val="E8F8F5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5757" y="2435962"/>
            <a:ext cx="10972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38A169"/>
                </a:solidFill>
                <a:latin typeface="Calibri"/>
              </a:rPr>
              <a:t>代码迁移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312765" y="2435962"/>
            <a:ext cx="76809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dirty="0">
                <a:solidFill>
                  <a:srgbClr val="1A365D"/>
                </a:solidFill>
                <a:latin typeface="Calibri"/>
              </a:rPr>
              <a:t>初步完成迁移v0.20.1，CANN9.0适配存在冲突正在解决中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6029" y="2852928"/>
            <a:ext cx="10204704" cy="384048"/>
          </a:xfrm>
          <a:prstGeom prst="rect">
            <a:avLst/>
          </a:prstGeom>
          <a:solidFill>
            <a:srgbClr val="FFF8E1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5757" y="2874874"/>
            <a:ext cx="109728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D69E2E"/>
                </a:solidFill>
                <a:latin typeface="Calibri"/>
              </a:rPr>
              <a:t>精度问题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312765" y="2874874"/>
            <a:ext cx="7680960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dirty="0">
                <a:solidFill>
                  <a:srgbClr val="1A365D"/>
                </a:solidFill>
                <a:latin typeface="Calibri"/>
              </a:rPr>
              <a:t>PRO模型精度问题正在攻关中，怀疑算子问题，HC_pre算子回退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6029" y="3346704"/>
            <a:ext cx="219456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4299E1"/>
                </a:solidFill>
                <a:latin typeface="Calibri"/>
              </a:rPr>
              <a:t>性能优化开发中 (9项)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96029" y="3621024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hc_pre算子接入，提升性能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33005" y="3621024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A2上gmm支持w4下tensorlist，eplb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69981" y="3621024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matmul尾轴支持65536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96029" y="3928262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mtp入图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233005" y="3928262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使能dcp/pcp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69981" y="3928262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三级池化功能支持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96029" y="4235501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MLAprolog CV并行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233005" y="4235501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Indexprolog CV并行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69981" y="4235501"/>
            <a:ext cx="3182112" cy="28529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KVCompressor CV并行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96029" y="4663440"/>
            <a:ext cx="1316736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4299E1"/>
                </a:solidFill>
                <a:latin typeface="Calibri"/>
              </a:rPr>
              <a:t>Coding场景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12765" y="4663440"/>
            <a:ext cx="768096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20" dirty="0">
                <a:solidFill>
                  <a:srgbClr val="1A365D"/>
                </a:solidFill>
                <a:latin typeface="Calibri"/>
              </a:rPr>
              <a:t>prefix_cache命中率实验 - 基于最终版本做性能分析与优化点识别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二、V4-Flash 提测进展 (A2+A3 W8A8)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029" y="482803"/>
            <a:ext cx="10204704" cy="49377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5757" y="504749"/>
            <a:ext cx="1316736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一句话进展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32221" y="504749"/>
            <a:ext cx="87782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65D"/>
                </a:solidFill>
                <a:latin typeface="Calibri"/>
              </a:rPr>
              <a:t>0.13.0版本测试待准出(暂不支持FC等关键特性，仅支持尝鲜)，当前阻塞在后处理参数issue；0.18.0版本新镜像流水线测试准出中，遇到部分数据集精度测试无分数显示，定位中。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96029" y="1042416"/>
          <a:ext cx="10204704" cy="175565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平台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版本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进展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关键问题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责任人/时间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A2 W8A8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0.13.0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</a:rPr>
                        <a:t>服务拉起✓ 精度正常✓ 流水线测试完成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后处理参数issue(已合入规避PR)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凌煦/李炜奕/王子恺 4.29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A2 W8A8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0.18.0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69E2E"/>
                          </a:solidFill>
                        </a:rPr>
                        <a:t>新镜像构建✓ 单机混部流水线✓ 8机PD分离性能调测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</a:rPr>
                        <a:t>部分数据集精度无分数显示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方永富/王宽 5.6 | 萧剑楠 5.8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A3 W8A8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0.13.0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</a:rPr>
                        <a:t>服务拉起✓ 精度正常✓ 流水线正常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后处理参数issue(规避方案)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凌煦/李炜奕/王子恺 4.29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A3 W8A8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0.18.0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69E2E"/>
                          </a:solidFill>
                        </a:rPr>
                        <a:t>单机流水线正常拉起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</a:rPr>
                        <a:t>部分数据集精度无结果(联合MY定位)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刘家旭 5.7 | 王宽/黑帕 定位中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96029" y="2852928"/>
            <a:ext cx="164592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版本镜像迭代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41949" y="2852928"/>
            <a:ext cx="2084832" cy="603504"/>
          </a:xfrm>
          <a:prstGeom prst="rect">
            <a:avLst/>
          </a:prstGeom>
          <a:solidFill>
            <a:srgbClr val="EBF8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6813" y="2874874"/>
            <a:ext cx="658368" cy="197510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20000"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0.20.1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10045" y="2874874"/>
            <a:ext cx="1207008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05/14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96813" y="3072384"/>
            <a:ext cx="1975104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1A365D"/>
                </a:solidFill>
                <a:latin typeface="Calibri"/>
              </a:rPr>
              <a:t>代码迁移完成，CANN9.0适配中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78141" y="2874873"/>
            <a:ext cx="493776" cy="24140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78141" y="2874873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开发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836509" y="2852928"/>
            <a:ext cx="2084832" cy="603504"/>
          </a:xfrm>
          <a:prstGeom prst="rect">
            <a:avLst/>
          </a:prstGeom>
          <a:solidFill>
            <a:srgbClr val="EBF8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1373" y="2874874"/>
            <a:ext cx="658368" cy="197510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20000"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0.18.0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604605" y="2874874"/>
            <a:ext cx="1207008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05/06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91373" y="3072384"/>
            <a:ext cx="1975104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1A365D"/>
                </a:solidFill>
                <a:latin typeface="Calibri"/>
              </a:rPr>
              <a:t>fix: handle PD placeholder tokens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372701" y="2874873"/>
            <a:ext cx="493776" cy="24140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2701" y="2874873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准出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31069" y="2852928"/>
            <a:ext cx="2084832" cy="603504"/>
          </a:xfrm>
          <a:prstGeom prst="rect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5933" y="2874874"/>
            <a:ext cx="658368" cy="197510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20000"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0.13.0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799165" y="2874874"/>
            <a:ext cx="1207008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04/25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085933" y="3072384"/>
            <a:ext cx="1975104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1A365D"/>
                </a:solidFill>
                <a:latin typeface="Calibri"/>
              </a:rPr>
              <a:t>监控相关PR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567261" y="2874873"/>
            <a:ext cx="493776" cy="24140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67261" y="2874873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稳定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9225629" y="2852928"/>
            <a:ext cx="2084832" cy="603504"/>
          </a:xfrm>
          <a:prstGeom prst="rect">
            <a:avLst/>
          </a:prstGeom>
          <a:solidFill>
            <a:srgbClr val="EBF8FF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80493" y="2874874"/>
            <a:ext cx="658368" cy="197510"/>
          </a:xfrm>
          <a:prstGeom prst="rect">
            <a:avLst/>
          </a:prstGeom>
          <a:noFill/>
        </p:spPr>
        <p:txBody>
          <a:bodyPr wrap="square" rtlCol="0" anchor="ctr">
            <a:normAutofit fontScale="85000" lnSpcReduction="20000"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0.13.0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9993725" y="2874874"/>
            <a:ext cx="1207008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04/24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280493" y="3072384"/>
            <a:ext cx="1975104" cy="197510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20000"/>
          </a:bodyPr>
          <a:lstStyle/>
          <a:p>
            <a:pPr defTabSz="1097280"/>
            <a:r>
              <a:rPr lang="en-US" sz="840" dirty="0">
                <a:solidFill>
                  <a:srgbClr val="1A365D"/>
                </a:solidFill>
                <a:latin typeface="Calibri"/>
              </a:rPr>
              <a:t>修复缺少__init__.py问题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761821" y="2874873"/>
            <a:ext cx="493776" cy="241402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61821" y="2874873"/>
            <a:ext cx="4937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960" dirty="0">
                <a:solidFill>
                  <a:srgbClr val="FFFFFF"/>
                </a:solidFill>
                <a:latin typeface="Calibri"/>
              </a:rPr>
              <a:t>基础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96029" y="3566160"/>
            <a:ext cx="1645920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关键问题处理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050893" y="3873398"/>
            <a:ext cx="164592" cy="16459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70349" y="3818535"/>
            <a:ext cx="274320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后处理参数temperature 0-1报错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068413" y="3818535"/>
            <a:ext cx="493776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718096"/>
                </a:solidFill>
                <a:latin typeface="Calibri"/>
              </a:rPr>
              <a:t>Issue#8724 已合入规避PR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115901" y="3818535"/>
            <a:ext cx="164592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陈伟通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050893" y="4180637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270349" y="4125773"/>
            <a:ext cx="274320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stream=false报错 / thinking=true不生效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068413" y="4125773"/>
            <a:ext cx="493776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718096"/>
                </a:solidFill>
                <a:latin typeface="Calibri"/>
              </a:rPr>
              <a:t>替换模型镜像解决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9115901" y="4125773"/>
            <a:ext cx="164592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李炜奕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1050893" y="4487875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270349" y="4433011"/>
            <a:ext cx="274320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社区镜像环境变量/编译问题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068413" y="4433011"/>
            <a:ext cx="493776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718096"/>
                </a:solidFill>
                <a:latin typeface="Calibri"/>
              </a:rPr>
              <a:t>unset CPLUS_INCLUDE_PATH / 修复__init__.py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9115901" y="4433011"/>
            <a:ext cx="1645920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方永富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三、V4-Pro 提测进展 (A2+A3 W4A8)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029" y="482803"/>
            <a:ext cx="10204704" cy="49377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5757" y="504749"/>
            <a:ext cx="1316736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一句话进展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32221" y="504749"/>
            <a:ext cx="8778240" cy="43891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dirty="0">
                <a:solidFill>
                  <a:srgbClr val="1A365D"/>
                </a:solidFill>
                <a:latin typeface="Calibri"/>
              </a:rPr>
              <a:t>A2: 基于0.18.0版本2机混部(32die)流水线测试完成，遇到复读精度问题定位调试中；A3: 2机混部流水线测试中，存在部分数据集精度问题。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96029" y="1009498"/>
          <a:ext cx="10204704" cy="208483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平台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进展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关键问题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责任人/时间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A2 W4A8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2机混部(32die)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8A169"/>
                          </a:solidFill>
                        </a:rPr>
                        <a:t>流水线测试完成✓ 功能打通✓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</a:rPr>
                        <a:t>复读精度问题(定位调试中)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李炜奕 5.8 | 沧濯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A2 W4A8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4机混部(X86 2机 EP32)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69E2E"/>
                          </a:solidFill>
                        </a:rPr>
                        <a:t>功能验证中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李炜奕 5.5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A2 W4A8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PD分离(1×4p,1×4d,8台)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69E2E"/>
                          </a:solidFill>
                        </a:rPr>
                        <a:t>流程打通 性能调测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李炜奕 5.15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A3 W4A8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2机混部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69E2E"/>
                          </a:solidFill>
                        </a:rPr>
                        <a:t>流水线测试中 功能打通✓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</a:rPr>
                        <a:t>部分数据集精度问题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刘家旭 5.8 | 沧濯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A3 W4A8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PD分离(1×2p,1×2d,4台)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69E2E"/>
                          </a:solidFill>
                        </a:rPr>
                        <a:t>功能测试/流水线测试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刘家旭 5.14</a:t>
                      </a:r>
                      <a:endParaRPr lang="en-US" sz="10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96029" y="3160166"/>
            <a:ext cx="10204704" cy="987552"/>
          </a:xfrm>
          <a:prstGeom prst="rect">
            <a:avLst/>
          </a:prstGeom>
          <a:solidFill>
            <a:srgbClr val="FDEDE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05757" y="3182112"/>
            <a:ext cx="32918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E53E3E"/>
                </a:solidFill>
                <a:latin typeface="Calibri"/>
              </a:rPr>
              <a:t>⚠ 复读问题详情 (Issue#8994)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05757" y="3456432"/>
            <a:ext cx="9875520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dirty="0">
                <a:solidFill>
                  <a:srgbClr val="1A365D"/>
                </a:solidFill>
                <a:latin typeface="Calibri"/>
              </a:rPr>
              <a:t>现象：v0.18.0社区镜像运行DeepSeek-V4-Pro/Flash时出现复读，temperature和top_p偏离默认值时越明显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05757" y="3675888"/>
            <a:ext cx="9875520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dirty="0">
                <a:solidFill>
                  <a:srgbClr val="718096"/>
                </a:solidFill>
                <a:latin typeface="Calibri"/>
              </a:rPr>
              <a:t>进展：对比0.13.0与0.18.0版本代码，验证家里方案三代码，问题仍在定位中 | 责任人：李炜奕/沧濯 | 预计闭环：5.12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05757" y="3895344"/>
            <a:ext cx="9875520" cy="219456"/>
          </a:xfrm>
          <a:prstGeom prst="rect">
            <a:avLst/>
          </a:prstGeom>
          <a:noFill/>
        </p:spPr>
        <p:txBody>
          <a:bodyPr wrap="square" rtlCol="0" anchor="ctr">
            <a:normAutofit fontScale="92500" lnSpcReduction="10000"/>
          </a:bodyPr>
          <a:lstStyle/>
          <a:p>
            <a:pPr defTabSz="1097280"/>
            <a:r>
              <a:rPr lang="en-US" sz="960" dirty="0">
                <a:solidFill>
                  <a:srgbClr val="E53E3E"/>
                </a:solidFill>
                <a:latin typeface="Calibri"/>
              </a:rPr>
              <a:t>影响：导致流水线精度测试部分数据集无分数结果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96029" y="4224528"/>
            <a:ext cx="10204704" cy="35113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4" name="Text 11"/>
          <p:cNvSpPr/>
          <p:nvPr/>
        </p:nvSpPr>
        <p:spPr>
          <a:xfrm>
            <a:off x="996029" y="42245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提测问题记录汇总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996029" y="4586630"/>
          <a:ext cx="9875520" cy="1975104"/>
        </p:xfrm>
        <a:graphic>
          <a:graphicData uri="http://schemas.openxmlformats.org/drawingml/2006/table">
            <a:tbl>
              <a:tblPr/>
              <a:tblGrid>
                <a:gridCol w="3072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问题描述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状态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解决方案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Issue/PR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CPLUS_INCLUDE_PATH环境变量冲突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配置类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8A169"/>
                          </a:solidFill>
                        </a:rPr>
                        <a:t>已解决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unset环境变量，清除CANN GCC 7.3.0头文件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vllm-ascend自定义算子外网依赖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依赖类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8A169"/>
                          </a:solidFill>
                        </a:rPr>
                        <a:t>已解决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so提前构建放入容器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#8788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缺少__init__.py导致生产者模式编译失败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编译类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8A169"/>
                          </a:solidFill>
                        </a:rPr>
                        <a:t>已解决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补充__init__.py文件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#8686 / #8729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triton-ascend与triton不能共存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依赖类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9E2E"/>
                          </a:solidFill>
                        </a:rPr>
                        <a:t>已知问题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卸载triton重新安装triton-ascend 3.2.1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FAQ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torchvision A2需带CPU版本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依赖类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8A169"/>
                          </a:solidFill>
                        </a:rPr>
                        <a:t>已解决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指定torchvision cpu版本，避免CUDA动态库链接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temperature=0.0时推理结果不确定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精度类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9E2E"/>
                          </a:solidFill>
                        </a:rPr>
                        <a:t>已记录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待家里定位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#8930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MTP speculative decoding KeyError (temp 0-1)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功能类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69E2E"/>
                          </a:solidFill>
                        </a:rPr>
                        <a:t>已规避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合入规避方案PR，0.18.0彻底解决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#8724</a:t>
                      </a:r>
                      <a:endParaRPr lang="en-US" sz="900" dirty="0"/>
                    </a:p>
                  </a:txBody>
                  <a:tcPr marL="109728" marR="109728" marT="54864" marB="54864" anchor="ctr">
                    <a:lnL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9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四、反思与经验教训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029" y="526694"/>
            <a:ext cx="4992624" cy="32918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029" y="526694"/>
            <a:ext cx="499262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✓ 做得好的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96029" y="92171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5757" y="95463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38A169"/>
                </a:solidFill>
                <a:latin typeface="Calibri"/>
              </a:rPr>
              <a:t>多平台并行推进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5757" y="120700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A2/A3双平台、W8A8/W4A8双精度同步开发，避免单点依赖，提高整体交付效率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96029" y="174467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5757" y="177759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38A169"/>
                </a:solidFill>
                <a:latin typeface="Calibri"/>
              </a:rPr>
              <a:t>问题快速响应机制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05757" y="202996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后处理参数、环境变量等问题快速定位并给出规避方案，减少阻塞时间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96029" y="256763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5757" y="260055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38A169"/>
                </a:solidFill>
                <a:latin typeface="Calibri"/>
              </a:rPr>
              <a:t>社区协作有效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05757" y="285292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Issue#8724、#8686等关键问题及时提交社区，获得快速响应和修复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6029" y="3390595"/>
            <a:ext cx="4992624" cy="746150"/>
          </a:xfrm>
          <a:prstGeom prst="rect">
            <a:avLst/>
          </a:prstGeom>
          <a:solidFill>
            <a:srgbClr val="E8F8F5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5757" y="342351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38A169"/>
                </a:solidFill>
                <a:latin typeface="Calibri"/>
              </a:rPr>
              <a:t>版本迭代节奏清晰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05757" y="367588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0.13.0→0.18.0→0.20.1版本递进，每个版本有明确目标和验收标准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08109" y="526694"/>
            <a:ext cx="4992624" cy="32918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109" y="526694"/>
            <a:ext cx="499262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⚠ 待改进的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8109" y="92171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7837" y="95463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E53E3E"/>
                </a:solidFill>
                <a:latin typeface="Calibri"/>
              </a:rPr>
              <a:t>精度问题暴露较晚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17837" y="120700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复读问题在提测阶段才发现，前置的精度验证覆盖不足，缺乏系统性的精度基线测试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08109" y="174467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7837" y="177759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E53E3E"/>
                </a:solidFill>
                <a:latin typeface="Calibri"/>
              </a:rPr>
              <a:t>版本碎片化严重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17837" y="202996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0.13.0/0.18.0/0.20.1多版本并存，每次版本升级都引入新问题，缺乏统一的CI验证流程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08109" y="256763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7837" y="260055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E53E3E"/>
                </a:solidFill>
                <a:latin typeface="Calibri"/>
              </a:rPr>
              <a:t>算子问题定位能力弱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17837" y="285292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PRO模型精度问题怀疑是算子问题，但现场缺乏独立定位和修复能力，依赖MY支持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08109" y="3390595"/>
            <a:ext cx="4992624" cy="746150"/>
          </a:xfrm>
          <a:prstGeom prst="rect">
            <a:avLst/>
          </a:prstGeom>
          <a:solidFill>
            <a:srgbClr val="FDEDE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7837" y="3423513"/>
            <a:ext cx="4773168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E53E3E"/>
                </a:solidFill>
                <a:latin typeface="Calibri"/>
              </a:rPr>
              <a:t>性能优化进度滞后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17837" y="3675888"/>
            <a:ext cx="4773168" cy="41696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hc_pre、gmm、mtp等9项性能优化项并行开发，但缺乏优先级排序和里程碑管理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96029" y="4279392"/>
            <a:ext cx="10204704" cy="32918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029" y="4279392"/>
            <a:ext cx="1020470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💡 经验沉淀与机制改进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96029" y="4674413"/>
            <a:ext cx="2496312" cy="186537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3812" y="4762195"/>
            <a:ext cx="307238" cy="307238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381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45688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65D"/>
                </a:solidFill>
                <a:latin typeface="Calibri"/>
              </a:rPr>
              <a:t>建立版本CI流水线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8381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每次版本更新自动跑基础功能+精度冒烟测试，避免手动构建引入低级问题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602069" y="4674413"/>
            <a:ext cx="2496312" cy="186537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89852" y="4762195"/>
            <a:ext cx="307238" cy="307238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8985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06292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65D"/>
                </a:solidFill>
                <a:latin typeface="Calibri"/>
              </a:rPr>
              <a:t>前置精度验证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8985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特性开发完成后立即跑精度基线，不等到提测阶段；扩充精度测试集覆盖更多场景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08109" y="4674413"/>
            <a:ext cx="2496312" cy="186537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5892" y="4762195"/>
            <a:ext cx="307238" cy="307238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589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66896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65D"/>
                </a:solidFill>
                <a:latin typeface="Calibri"/>
              </a:rPr>
              <a:t>增强算子问题定位能力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29589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建立算子问题分类与快速排查SOP，关键路径问题准备B方案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814149" y="4674413"/>
            <a:ext cx="2496312" cy="186537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01932" y="4762195"/>
            <a:ext cx="307238" cy="307238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01932" y="4762195"/>
            <a:ext cx="307238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75007" y="4762195"/>
            <a:ext cx="1947672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20" b="1" dirty="0">
                <a:solidFill>
                  <a:srgbClr val="1A365D"/>
                </a:solidFill>
                <a:latin typeface="Calibri"/>
              </a:rPr>
              <a:t>性能优化项目管理</a:t>
            </a:r>
            <a:endParaRPr lang="en-US" sz="10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901932" y="5113325"/>
            <a:ext cx="2320747" cy="131673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9项优化项按收益和难度排序，分阶段交付，每阶段设置明确的性能提升目标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996029" y="109728"/>
            <a:ext cx="10204704" cy="35113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32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五、总结与下一步计划</a:t>
            </a:r>
            <a:endParaRPr lang="en-US" sz="132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6029" y="526694"/>
            <a:ext cx="10204704" cy="329184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029" y="526694"/>
            <a:ext cx="1020470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核心结论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96029" y="921715"/>
            <a:ext cx="4992624" cy="104241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811" y="1009497"/>
            <a:ext cx="241402" cy="241402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3811" y="1009497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91050" y="987552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适配进展符合预期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3812" y="1294790"/>
            <a:ext cx="4817059" cy="6144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V4-Flash A2/A3 W8A8已基本完成，V4-Pro A2/A3 W4A8功能已打通，整体进度可控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08109" y="921715"/>
            <a:ext cx="4992624" cy="104241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5891" y="1009497"/>
            <a:ext cx="241402" cy="241402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5891" y="1009497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03130" y="987552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精度问题是当前最大风险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95892" y="1294790"/>
            <a:ext cx="4817059" cy="6144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复读问题(Issue#8994)和PRO模型精度问题尚未闭环，影响530准出目标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96029" y="2073859"/>
            <a:ext cx="4992624" cy="104241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811" y="2161641"/>
            <a:ext cx="241402" cy="241402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3811" y="2161641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91050" y="2139696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性能优化空间充足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83812" y="2446934"/>
            <a:ext cx="4817059" cy="6144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hc_pre、mtp、dcp/pcp等9项优化项预计可带来显著性能提升，但需加快落地节奏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08109" y="2073859"/>
            <a:ext cx="4992624" cy="1042416"/>
          </a:xfrm>
          <a:prstGeom prst="rect">
            <a:avLst/>
          </a:prstGeom>
          <a:solidFill>
            <a:srgbClr val="EBF8FF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5891" y="2161641"/>
            <a:ext cx="241402" cy="241402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891" y="2161641"/>
            <a:ext cx="241402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03130" y="2139696"/>
            <a:ext cx="4509821" cy="26334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1080" b="1" dirty="0">
                <a:solidFill>
                  <a:srgbClr val="1A365D"/>
                </a:solidFill>
                <a:latin typeface="Calibri"/>
              </a:rPr>
              <a:t>版本管理需要改进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95892" y="2446934"/>
            <a:ext cx="4817059" cy="6144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多版本并行导致维护成本高，建议尽快收敛到稳定版本(v0.20.1)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96029" y="3291840"/>
            <a:ext cx="10204704" cy="32918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029" y="3291840"/>
            <a:ext cx="10204704" cy="32918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200" b="1" dirty="0">
                <a:solidFill>
                  <a:srgbClr val="FFFFFF"/>
                </a:solidFill>
                <a:latin typeface="Calibri"/>
              </a:rPr>
              <a:t>下一步行动计划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96029" y="3686861"/>
            <a:ext cx="3346704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029" y="3686861"/>
            <a:ext cx="33467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短期 (5月)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96029" y="4005072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0893" y="4037990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解决复读精度问题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50893" y="4301338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Issue#8994 5.12前闭环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96029" y="4718304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0893" y="4751222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完成PRO模型精度攻关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50893" y="5014570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HC_pre算子问题定位修复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96029" y="5431536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0893" y="5464454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完成CANN9.0适配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50893" y="5727802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v0.20.1版本冲突解决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452461" y="3686861"/>
            <a:ext cx="3346704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52461" y="3686861"/>
            <a:ext cx="33467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中期 (5-6月)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452461" y="4005072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7325" y="4037990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性能优化项落地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07325" y="4301338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hc_pre、mtp、dcp/pcp优先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452461" y="4718304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7325" y="4751222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完成PD分离性能调测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07325" y="5014570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A2/A3 8机/4机配置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452461" y="5431536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7325" y="5464454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建立CI流水线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07325" y="5727802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自动化功能+精度测试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908893" y="3686861"/>
            <a:ext cx="3346704" cy="2743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8893" y="3686861"/>
            <a:ext cx="3346704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 defTabSz="1097280"/>
            <a:r>
              <a:rPr lang="en-US" sz="1080" b="1" dirty="0">
                <a:solidFill>
                  <a:srgbClr val="FFFFFF"/>
                </a:solidFill>
                <a:latin typeface="Calibri"/>
              </a:rPr>
              <a:t>长期 (6-7月)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908893" y="4005072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63757" y="4037990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达成0.8×H20性能目标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963757" y="4301338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所有优化项合入验证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908893" y="4718304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63757" y="4751222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版本收敛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963757" y="5014570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统一升级到v0.20.1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908893" y="5431536"/>
            <a:ext cx="3346704" cy="636422"/>
          </a:xfrm>
          <a:prstGeom prst="rect">
            <a:avLst/>
          </a:prstGeom>
          <a:solidFill>
            <a:srgbClr val="FFFFFF"/>
          </a:solidFill>
          <a:ln w="6350">
            <a:solidFill>
              <a:srgbClr val="4299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63757" y="5464454"/>
            <a:ext cx="3236976" cy="24140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60" b="1" dirty="0">
                <a:solidFill>
                  <a:srgbClr val="1A365D"/>
                </a:solidFill>
                <a:latin typeface="Calibri"/>
              </a:rPr>
              <a:t>→ 最佳实践沉淀</a:t>
            </a:r>
            <a:endParaRPr lang="en-US" sz="9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963757" y="5727802"/>
            <a:ext cx="3236976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840" dirty="0">
                <a:solidFill>
                  <a:srgbClr val="718096"/>
                </a:solidFill>
                <a:latin typeface="Calibri"/>
              </a:rPr>
              <a:t>DeepSeek适配方案文档化</a:t>
            </a:r>
            <a:endParaRPr lang="en-US" sz="84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96029" y="6199632"/>
            <a:ext cx="10204704" cy="603504"/>
          </a:xfrm>
          <a:prstGeom prst="rect">
            <a:avLst/>
          </a:prstGeom>
          <a:solidFill>
            <a:srgbClr val="FFF8E1"/>
          </a:solidFill>
          <a:ln w="19050">
            <a:solidFill>
              <a:srgbClr val="D69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5757" y="6232550"/>
            <a:ext cx="1316736" cy="241402"/>
          </a:xfrm>
          <a:prstGeom prst="rect">
            <a:avLst/>
          </a:prstGeom>
          <a:noFill/>
        </p:spPr>
        <p:txBody>
          <a:bodyPr wrap="square" rtlCol="0" anchor="ctr">
            <a:normAutofit lnSpcReduction="10000"/>
          </a:bodyPr>
          <a:lstStyle/>
          <a:p>
            <a:pPr defTabSz="1097280"/>
            <a:r>
              <a:rPr lang="en-US" sz="1080" b="1" dirty="0">
                <a:solidFill>
                  <a:srgbClr val="D69E2E"/>
                </a:solidFill>
                <a:latin typeface="Calibri"/>
              </a:rPr>
              <a:t>资源诉求</a:t>
            </a:r>
            <a:endParaRPr lang="en-US" sz="108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105757" y="6473952"/>
            <a:ext cx="9656064" cy="30723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defTabSz="1097280"/>
            <a:r>
              <a:rPr lang="en-US" sz="900" dirty="0">
                <a:solidFill>
                  <a:srgbClr val="1A365D"/>
                </a:solidFill>
                <a:latin typeface="Calibri"/>
              </a:rPr>
              <a:t>• MY算子团队支持：PRO模型精度问题需要算子专家联合攻关  • 性能优化人力：9项优化项需要专项人力投入，建议协调HW/MY资源  • 测试资源：需要补充精度测试集和性能基线测试环境</a:t>
            </a:r>
            <a:endParaRPr lang="en-US" sz="9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/>
        <a:ea typeface="微软雅黑"/>
        <a:cs typeface=""/>
      </a:majorFont>
      <a:minorFont>
        <a:latin typeface="Huawei San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FF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3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正文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noFill/>
        <a:ln w="9525" cap="flat" cmpd="sng" algn="ctr">
          <a:solidFill>
            <a:srgbClr val="000000">
              <a:shade val="95000"/>
              <a:satMod val="105000"/>
            </a:srgbClr>
          </a:solidFill>
          <a:prstDash val="solid"/>
          <a:tailEnd type="triangle"/>
        </a:ln>
      </a:spPr>
      <a:bodyPr/>
      <a:lstStyle/>
    </a:lnDef>
    <a:txDef>
      <a:spPr>
        <a:noFill/>
      </a:spPr>
      <a:bodyPr wrap="none" rtlCol="0">
        <a:spAutoFit/>
      </a:bodyPr>
      <a:lstStyle>
        <a:defPPr algn="r">
          <a:lnSpc>
            <a:spcPct val="100000"/>
          </a:lnSpc>
          <a:defRPr sz="20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10209</TotalTime>
  <Words>3761</Words>
  <Application>Microsoft Office PowerPoint</Application>
  <PresentationFormat>自定义</PresentationFormat>
  <Paragraphs>799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53" baseType="lpstr">
      <vt:lpstr>FrutigerNext LT Regular</vt:lpstr>
      <vt:lpstr>Huawei Sans</vt:lpstr>
      <vt:lpstr>Microsoft YaHei UI</vt:lpstr>
      <vt:lpstr>等线</vt:lpstr>
      <vt:lpstr>华文细黑</vt:lpstr>
      <vt:lpstr>Microsoft YaHei</vt:lpstr>
      <vt:lpstr>Microsoft YaHei</vt:lpstr>
      <vt:lpstr>字魂105号-简雅黑</vt:lpstr>
      <vt:lpstr>Arial</vt:lpstr>
      <vt:lpstr>Calibri</vt:lpstr>
      <vt:lpstr>Georgia</vt:lpstr>
      <vt:lpstr>Lucida Console</vt:lpstr>
      <vt:lpstr>封面页_图片版 </vt:lpstr>
      <vt:lpstr>目录页</vt:lpstr>
      <vt:lpstr>章节页</vt:lpstr>
      <vt:lpstr>结束页</vt:lpstr>
      <vt:lpstr>1_目录页</vt:lpstr>
      <vt:lpstr>1_封面页_图片版 </vt:lpstr>
      <vt:lpstr>9_章节页</vt:lpstr>
      <vt:lpstr>2_封面页_图片版 </vt:lpstr>
      <vt:lpstr>5_章节页</vt:lpstr>
      <vt:lpstr>14_章节页</vt:lpstr>
      <vt:lpstr>23_Chart page</vt:lpstr>
      <vt:lpstr>3_章节页</vt:lpstr>
      <vt:lpstr>自定义设计方案</vt:lpstr>
      <vt:lpstr>4_章节页</vt:lpstr>
      <vt:lpstr>3_封面页_图片版 </vt:lpstr>
      <vt:lpstr>10_章节页</vt:lpstr>
      <vt:lpstr>1_章节页</vt:lpstr>
      <vt:lpstr>Office Theme</vt:lpstr>
      <vt:lpstr>正文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[1]DeepSeekV3.2 关键特性</vt:lpstr>
      <vt:lpstr>[2]DeepSeekV3.2 上线关键问题复盘</vt:lpstr>
      <vt:lpstr>[2]DeepSeekV3.2 上线关键问题复盘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lifeng (S)</dc:creator>
  <cp:lastModifiedBy>cwt02436992</cp:lastModifiedBy>
  <cp:revision>106</cp:revision>
  <dcterms:created xsi:type="dcterms:W3CDTF">2025-12-12T03:58:04Z</dcterms:created>
  <dcterms:modified xsi:type="dcterms:W3CDTF">2026-05-15T02:49:24Z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(3)hJc+TisFZJKAt1U5G8L17dMgTfw0wvNPjLBKhwPVl2m97NfDhCq1l4nEiv7yWq+mgv94yYY8
g1oi4YjdaWPnaTXcW/WJLVavmc1tyi87xqqZW4kg2lwNgWzYoo+dAZmb3lHmF2zAqXJ/yL62
pYtGyeMHx0M+7eNwshHyjHFRc7MCUfnecLwQOHFzWancuqAwvK67IKv70LtWokmu7swhOXQH
u5IRWSWWTF8Q9Lu5iU</vt:lpwstr>
  </property>
  <property fmtid="{D5CDD505-2E9C-101B-9397-08002B2CF9AE}" pid="3" name="_2015_ms_pID_7253431">
    <vt:lpwstr>C8/dEwwgPoXQHda7pCSxLyHg6XfOqLyv2PxCrPFcbG4wVcp4JGRS6E
ligcuPsb+qV8yuGlyjmQ3RIbsw61Iu6yj8XuUlt9Vuz00Ugn3qVFwwS8MKGgiBPB4mDABAS5
WRtnE6Wjf8J1lC4L4YkEVOFyj0BQsZrPJq5qAU7ynymTbzGCQ7qisPpjRo6mgZ9waTt2vIEL
x72pMhMn33jEnvlb0PLfsHI+1R4EKdfMe5df</vt:lpwstr>
  </property>
  <property fmtid="{D5CDD505-2E9C-101B-9397-08002B2CF9AE}" pid="4" name="_2015_ms_pID_7253432">
    <vt:lpwstr>UQ==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ICV">
    <vt:lpwstr/>
  </property>
  <property fmtid="{D5CDD505-2E9C-101B-9397-08002B2CF9AE}" pid="10" name="KSOProductBuildVer">
    <vt:lpwstr>2052-0.0.0.0</vt:lpwstr>
  </property>
</Properties>
</file>